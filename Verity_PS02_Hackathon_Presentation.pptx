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Good morning. Our project is Verity, an evidence-first autonomous talent-acquisition screening agent. Most screening systems ask whether a resume contains a keyword. Verity asks a harder and more useful question: has the applicant provided enough evidence for the recruiter to trust that claim? This distinction drives every part of our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if faculty asks for the entire project in one answer. The recruiter gives a requisition and applications. LangChain coordinates the steps, but deterministic rules evaluate the evidence. The output is a criterion-by-criterion assessment, contradiction flags, a shortlist with visible trade-offs, pool gaps, and an Excel report. Verity supports the recruiter; it does not automatically hire or reject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screening can reward the person who writes the most keywords. It can also reject a genuine candidate who uses another valid term. Our problem statement requires us to distinguish a claim from evidence, recognize equivalent wording, explain trade-offs, and admit when the requisition itself is unrealistic.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pipeline begins with the requisition, not the resume. We first define what good evidence looks like. We then extract each application, map terminology, assess evidence quality, run contradiction checks, compare candidate facts and finally report a shortlist. This order prevents the model from inventing reasons after it has already chosen a favourite candidate.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innovation is not simply that an LLM is present. The innovation is how its authority is limited. The model may propose terminology or summarize grounded results. It cannot silently change hard constraints, invent candidate evidence, or directly hire. Deterministic rules remain responsible for scoring evidence and producing policy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recruiter can change the role, generate a new requirement map, approve or reject individual suggestions, upload applications, and review the resulting evidence. The system automates repetitive analysis, but the recruiter controls the requisition configuration and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top, React presents the workflow. Express exposes stateless APIs. LangChain coordinates named agent steps. The deterministic policy layer performs evidence and contradiction analysis. Data and external services sit at the bottom. This separation lets us explain exactly which component is responsible for each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and Vite build the interface. Express provides the backend. LangChain coordinates the agent workflows. OpenAI is optional for grounded summaries and required for generating new terminology. Zod validates model input and output. JavaScript rules remain the evidence authority. PDF.js and Mammoth read resumes. ExcelJS creates the report. GitHub and LinkedIn are optional evidence sources with strict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agent solves the unknown-role problem. It receives only the role title, job description, and existing criteria. It never receives resumes or candidate data. LangChain validates the input, asks the model for a strict structured proposal, removes unsafe generic terms and returns a review screen. Equivalent and named technology terms can be selected. Related technologies remain separate and unselected. The proposal affects screening only after Apply and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first checks whether a criterion or alias appears. It then looks at the whole passage. An action verb shows hands-on work. A measurable outcome strengthens it. Production or ownership context strengthens it further. Caveats such as classroom, simulated, toy, or assisted work reduce the level. Missing evidence receives zero evidence confidence. Confidence describes the support we can cite, not whether the person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Surprise Challenge 1, we preserve exact source positions so every flag can quote the original text. We compare skill claims with action evidence, duration claims with dated work blocks, titles with described responsibility, and resume claims with cover-note limitations. A missing passage is not automatically called a contradiction. It is marked unsupported. A contradiction requires two incompatible statements. Both reduce confidence, but the explanation remains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Surprise Challenge 2, we analyze both the job and the pool. We calculate coverage for every required criterion and for experience, salary, and seniority constraints. We detect combinations such as a junior role requiring five years. If nobody meets everything, Verity says that directly. It still identifies the closest candidates, but shows what each person gives up: salary, experience, Kubernetes, AI depth, or another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gives us public repository metadata. It can corroborate a skill but cannot prove who wrote the code or where they worked. LinkedIn is more restricted. We do not scrape a profile URL. Standard OpenID Connect provides basic consented identity information, not complete employment and skills. For richer data, a production system would need approved LinkedIn partner access or candidate-authorized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Verity may order candidates to help the recruiter navigate, but it never hides the dimensions. The recruiter sees required areas met, evidence level, salary difference, documented experience, strengths, missing requirements and claim checks. The correct answer may be different depending on whether salary, experience, Kubernetes or learning potential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reference slide. The React client calls the Express endpoints. The screening endpoint runs the LangChain screening graph. The requisition-intelligence endpoint accepts only minimized job data. GitHub and LinkedIn have separate verification routes. The file list on the right shows faculty exactly where to look for each major behavior. The current hackathon version stores demo state in localStorage; a production version would use authenticated database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narration: Start on the dashboard and explain the three metrics. Open the requisition editor, choose Generate New Map, and show that the agent creates role-specific terms. Point out that related terms are not selected. Upload two resumes. Open the candidate details and read the cited evidence. Show Surprise Challenge 1 in claim checks. Show Surprise Challenge 2 in pool insights and the closest-fit shortlist. Finish by exporting the Excel workbook and stating that the recruiter makes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Verity is suitable for campus hiring, startups, agencies and larger recruiting teams. The practical value is faster organization of evidence, consistent application of criteria, and clearer human review. We do not claim that it predicts employee success or removes all bias. Its value is traceability: recruiters can see why a result exists and challenge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problems were not visual. They were trust boundaries. We had to distinguish missing evidence from contradiction, equivalent from merely related terminology, public activity from employment, and a useful recommendation from an automated decision. We turned each boundary into code, validation, confidence caps, or an explicit warning in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Verity can grow through semantic retrieval, approved skill taxonomies, OCR, multilingual processing, authenticated storage, ATS connections and fairness evaluation. But the core principle remains unchanged. The system must cite what it trusts, expose what it does not know, and leave the employment decision to a human. Thank you. We are ready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8F3"/>
        </a:solidFill>
      </p:bgPr>
    </p:bg>
    <p:spTree>
      <p:nvGrpSpPr>
        <p:cNvPr id="1" name=""/>
        <p:cNvGrpSpPr/>
        <p:nvPr/>
      </p:nvGrpSpPr>
      <p:grpSpPr>
        <a:xfrm>
          <a:off x="0" y="0"/>
          <a:ext cx="0" cy="0"/>
          <a:chOff x="0" y="0"/>
          <a:chExt cx="0" cy="0"/>
        </a:xfrm>
      </p:grpSpPr>
      <p:sp>
        <p:nvSpPr>
          <p:cNvPr id="2" name="Shape 0"/>
          <p:cNvSpPr/>
          <p:nvPr/>
        </p:nvSpPr>
        <p:spPr>
          <a:xfrm rot="720000">
            <a:off x="7909560" y="-1097280"/>
            <a:ext cx="5303520" cy="5303520"/>
          </a:xfrm>
          <a:prstGeom prst="arc">
            <a:avLst/>
          </a:prstGeom>
          <a:solidFill>
            <a:srgbClr val="DDEDE2"/>
          </a:solidFill>
          <a:ln w="12700">
            <a:solidFill>
              <a:srgbClr val="DDEDE2"/>
            </a:solidFill>
            <a:prstDash val="solid"/>
          </a:ln>
        </p:spPr>
      </p:sp>
      <p:sp>
        <p:nvSpPr>
          <p:cNvPr id="3" name="Shape 1"/>
          <p:cNvSpPr/>
          <p:nvPr/>
        </p:nvSpPr>
        <p:spPr>
          <a:xfrm>
            <a:off x="9381744" y="2926080"/>
            <a:ext cx="2011680" cy="2011680"/>
          </a:xfrm>
          <a:prstGeom prst="ellipse">
            <a:avLst/>
          </a:prstGeom>
          <a:solidFill>
            <a:srgbClr val="F8E7ED"/>
          </a:solidFill>
          <a:ln w="12700">
            <a:solidFill>
              <a:srgbClr val="F8E7ED"/>
            </a:solidFill>
            <a:prstDash val="solid"/>
          </a:ln>
        </p:spPr>
      </p:sp>
      <p:sp>
        <p:nvSpPr>
          <p:cNvPr id="4" name="Shape 2"/>
          <p:cNvSpPr/>
          <p:nvPr/>
        </p:nvSpPr>
        <p:spPr>
          <a:xfrm>
            <a:off x="10488168" y="4005072"/>
            <a:ext cx="640080" cy="640080"/>
          </a:xfrm>
          <a:prstGeom prst="ellipse">
            <a:avLst/>
          </a:prstGeom>
          <a:solidFill>
            <a:srgbClr val="CDEB8B"/>
          </a:solidFill>
          <a:ln w="12700">
            <a:solidFill>
              <a:srgbClr val="CDEB8B"/>
            </a:solidFill>
            <a:prstDash val="solid"/>
          </a:ln>
        </p:spPr>
      </p:sp>
      <p:sp>
        <p:nvSpPr>
          <p:cNvPr id="5" name="Shape 3"/>
          <p:cNvSpPr/>
          <p:nvPr/>
        </p:nvSpPr>
        <p:spPr>
          <a:xfrm>
            <a:off x="621792" y="566928"/>
            <a:ext cx="1874520" cy="310896"/>
          </a:xfrm>
          <a:prstGeom prst="roundRect">
            <a:avLst>
              <a:gd name="adj" fmla="val 50000"/>
            </a:avLst>
          </a:prstGeom>
          <a:solidFill>
            <a:srgbClr val="EEF6F0"/>
          </a:solidFill>
          <a:ln w="12700">
            <a:solidFill>
              <a:srgbClr val="EEF6F0"/>
            </a:solidFill>
            <a:prstDash val="solid"/>
          </a:ln>
        </p:spPr>
      </p:sp>
      <p:sp>
        <p:nvSpPr>
          <p:cNvPr id="6" name="Text 4"/>
          <p:cNvSpPr/>
          <p:nvPr/>
        </p:nvSpPr>
        <p:spPr>
          <a:xfrm>
            <a:off x="621792" y="566928"/>
            <a:ext cx="1874520" cy="310896"/>
          </a:xfrm>
          <a:prstGeom prst="rect">
            <a:avLst/>
          </a:prstGeom>
          <a:noFill/>
          <a:ln/>
        </p:spPr>
        <p:txBody>
          <a:bodyPr wrap="square" lIns="0" tIns="0" rIns="0" bIns="0" rtlCol="0" anchor="ctr">
            <a:normAutofit/>
          </a:bodyPr>
          <a:lstStyle/>
          <a:p>
            <a:pPr algn="ctr" indent="0" marL="0">
              <a:buNone/>
            </a:pPr>
            <a:r>
              <a:rPr lang="en-US" sz="900" b="1" spc="120" kern="0" dirty="0">
                <a:solidFill>
                  <a:srgbClr val="2E6B4A"/>
                </a:solidFill>
                <a:latin typeface="Aptos" pitchFamily="34" charset="0"/>
                <a:ea typeface="Aptos" pitchFamily="34" charset="-122"/>
                <a:cs typeface="Aptos" pitchFamily="34" charset="-120"/>
              </a:rPr>
              <a:t>PS02 • AGENTIC AI</a:t>
            </a:r>
            <a:endParaRPr lang="en-US" sz="900" dirty="0"/>
          </a:p>
        </p:txBody>
      </p:sp>
      <p:sp>
        <p:nvSpPr>
          <p:cNvPr id="7" name="Text 5"/>
          <p:cNvSpPr/>
          <p:nvPr/>
        </p:nvSpPr>
        <p:spPr>
          <a:xfrm>
            <a:off x="621792" y="1298448"/>
            <a:ext cx="6583680" cy="777240"/>
          </a:xfrm>
          <a:prstGeom prst="rect">
            <a:avLst/>
          </a:prstGeom>
          <a:noFill/>
          <a:ln/>
        </p:spPr>
        <p:txBody>
          <a:bodyPr wrap="square" lIns="0" tIns="0" rIns="0" bIns="0" rtlCol="0" anchor="ctr">
            <a:normAutofit/>
          </a:bodyPr>
          <a:lstStyle/>
          <a:p>
            <a:pPr algn="l" indent="0" marL="0">
              <a:buNone/>
            </a:pPr>
            <a:r>
              <a:rPr lang="en-US" sz="5200" b="1" spc="100" kern="0" dirty="0">
                <a:solidFill>
                  <a:srgbClr val="18221C"/>
                </a:solidFill>
                <a:latin typeface="Aptos Display" pitchFamily="34" charset="0"/>
                <a:ea typeface="Aptos Display" pitchFamily="34" charset="-122"/>
                <a:cs typeface="Aptos Display" pitchFamily="34" charset="-120"/>
              </a:rPr>
              <a:t>VERITY</a:t>
            </a:r>
            <a:endParaRPr lang="en-US" sz="5200" dirty="0"/>
          </a:p>
        </p:txBody>
      </p:sp>
      <p:sp>
        <p:nvSpPr>
          <p:cNvPr id="8" name="Text 6"/>
          <p:cNvSpPr/>
          <p:nvPr/>
        </p:nvSpPr>
        <p:spPr>
          <a:xfrm>
            <a:off x="640080" y="2103120"/>
            <a:ext cx="6583680" cy="585216"/>
          </a:xfrm>
          <a:prstGeom prst="rect">
            <a:avLst/>
          </a:prstGeom>
          <a:noFill/>
          <a:ln/>
        </p:spPr>
        <p:txBody>
          <a:bodyPr wrap="square" lIns="0" tIns="0" rIns="0" bIns="0" rtlCol="0" anchor="ctr">
            <a:normAutofit/>
          </a:bodyPr>
          <a:lstStyle/>
          <a:p>
            <a:pPr algn="l" indent="0" marL="0">
              <a:buNone/>
            </a:pPr>
            <a:r>
              <a:rPr lang="en-US" sz="3000" b="1" dirty="0">
                <a:solidFill>
                  <a:srgbClr val="C12E60"/>
                </a:solidFill>
                <a:latin typeface="Aptos Display" pitchFamily="34" charset="0"/>
                <a:ea typeface="Aptos Display" pitchFamily="34" charset="-122"/>
                <a:cs typeface="Aptos Display" pitchFamily="34" charset="-120"/>
              </a:rPr>
              <a:t>Evidence before keywords.</a:t>
            </a:r>
            <a:endParaRPr lang="en-US" sz="3000" dirty="0"/>
          </a:p>
        </p:txBody>
      </p:sp>
      <p:sp>
        <p:nvSpPr>
          <p:cNvPr id="9" name="Text 7"/>
          <p:cNvSpPr/>
          <p:nvPr/>
        </p:nvSpPr>
        <p:spPr>
          <a:xfrm>
            <a:off x="658368" y="2852928"/>
            <a:ext cx="6126480" cy="1005840"/>
          </a:xfrm>
          <a:prstGeom prst="rect">
            <a:avLst/>
          </a:prstGeom>
          <a:noFill/>
          <a:ln/>
        </p:spPr>
        <p:txBody>
          <a:bodyPr wrap="square" lIns="0" tIns="0" rIns="0" bIns="0" rtlCol="0" anchor="t">
            <a:normAutofit/>
          </a:bodyPr>
          <a:lstStyle/>
          <a:p>
            <a:pPr algn="l" indent="0" marL="0">
              <a:buNone/>
            </a:pPr>
            <a:r>
              <a:rPr lang="en-US" sz="1600" dirty="0">
                <a:solidFill>
                  <a:srgbClr val="5D6A62"/>
                </a:solidFill>
                <a:latin typeface="Aptos" pitchFamily="34" charset="0"/>
                <a:ea typeface="Aptos" pitchFamily="34" charset="-122"/>
                <a:cs typeface="Aptos" pitchFamily="34" charset="-120"/>
              </a:rPr>
              <a:t>An autonomous talent-acquisition screening agent that verifies claims, detects contradictions, understands equivalent skills, and explains candidate trade-offs.</a:t>
            </a:r>
            <a:endParaRPr lang="en-US" sz="1600" dirty="0"/>
          </a:p>
        </p:txBody>
      </p:sp>
      <p:sp>
        <p:nvSpPr>
          <p:cNvPr id="10" name="Shape 8"/>
          <p:cNvSpPr/>
          <p:nvPr/>
        </p:nvSpPr>
        <p:spPr>
          <a:xfrm>
            <a:off x="640080" y="4892040"/>
            <a:ext cx="5897880" cy="658368"/>
          </a:xfrm>
          <a:prstGeom prst="roundRect">
            <a:avLst>
              <a:gd name="adj" fmla="val 16667"/>
            </a:avLst>
          </a:prstGeom>
          <a:solidFill>
            <a:srgbClr val="FFFFFF"/>
          </a:solidFill>
          <a:ln w="12700">
            <a:solidFill>
              <a:srgbClr val="DDE3DD"/>
            </a:solidFill>
            <a:prstDash val="solid"/>
          </a:ln>
        </p:spPr>
      </p:sp>
      <p:sp>
        <p:nvSpPr>
          <p:cNvPr id="11" name="Shape 9"/>
          <p:cNvSpPr/>
          <p:nvPr/>
        </p:nvSpPr>
        <p:spPr>
          <a:xfrm>
            <a:off x="896112" y="5102352"/>
            <a:ext cx="219456" cy="219456"/>
          </a:xfrm>
          <a:prstGeom prst="ellipse">
            <a:avLst/>
          </a:prstGeom>
          <a:solidFill>
            <a:srgbClr val="2E6B4A"/>
          </a:solidFill>
          <a:ln w="12700">
            <a:solidFill>
              <a:srgbClr val="2E6B4A"/>
            </a:solidFill>
            <a:prstDash val="solid"/>
          </a:ln>
        </p:spPr>
      </p:sp>
      <p:sp>
        <p:nvSpPr>
          <p:cNvPr id="12" name="Text 10"/>
          <p:cNvSpPr/>
          <p:nvPr/>
        </p:nvSpPr>
        <p:spPr>
          <a:xfrm>
            <a:off x="1243584" y="5001768"/>
            <a:ext cx="2377440" cy="219456"/>
          </a:xfrm>
          <a:prstGeom prst="rect">
            <a:avLst/>
          </a:prstGeom>
          <a:noFill/>
          <a:ln/>
        </p:spPr>
        <p:txBody>
          <a:bodyPr wrap="square" lIns="0" tIns="0" rIns="0" bIns="0" rtlCol="0" anchor="ctr">
            <a:normAutofit/>
          </a:bodyPr>
          <a:lstStyle/>
          <a:p>
            <a:pPr algn="l" indent="0" marL="0">
              <a:buNone/>
            </a:pPr>
            <a:r>
              <a:rPr lang="en-US" sz="1000" b="1" spc="120" kern="0" dirty="0">
                <a:solidFill>
                  <a:srgbClr val="2E6B4A"/>
                </a:solidFill>
                <a:latin typeface="Aptos" pitchFamily="34" charset="0"/>
                <a:ea typeface="Aptos" pitchFamily="34" charset="-122"/>
                <a:cs typeface="Aptos" pitchFamily="34" charset="-120"/>
              </a:rPr>
              <a:t>TEAM XO09_AG02</a:t>
            </a:r>
            <a:endParaRPr lang="en-US" sz="1000" dirty="0"/>
          </a:p>
        </p:txBody>
      </p:sp>
      <p:sp>
        <p:nvSpPr>
          <p:cNvPr id="13" name="Text 11"/>
          <p:cNvSpPr/>
          <p:nvPr/>
        </p:nvSpPr>
        <p:spPr>
          <a:xfrm>
            <a:off x="1243584" y="5221224"/>
            <a:ext cx="4480560" cy="182880"/>
          </a:xfrm>
          <a:prstGeom prst="rect">
            <a:avLst/>
          </a:prstGeom>
          <a:noFill/>
          <a:ln/>
        </p:spPr>
        <p:txBody>
          <a:bodyPr wrap="square" lIns="0" tIns="0" rIns="0" bIns="0" rtlCol="0" anchor="ctr">
            <a:normAutofit/>
          </a:bodyPr>
          <a:lstStyle/>
          <a:p>
            <a:pPr algn="l" indent="0" marL="0">
              <a:buNone/>
            </a:pPr>
            <a:r>
              <a:rPr lang="en-US" sz="920" dirty="0">
                <a:solidFill>
                  <a:srgbClr val="87928B"/>
                </a:solidFill>
                <a:latin typeface="Aptos" pitchFamily="34" charset="0"/>
                <a:ea typeface="Aptos" pitchFamily="34" charset="-122"/>
                <a:cs typeface="Aptos" pitchFamily="34" charset="-120"/>
              </a:rPr>
              <a:t>Autonomous Talent-Acquisition Screening Agent</a:t>
            </a:r>
            <a:endParaRPr lang="en-US" sz="920" dirty="0"/>
          </a:p>
        </p:txBody>
      </p:sp>
      <p:sp>
        <p:nvSpPr>
          <p:cNvPr id="14" name="Text 12"/>
          <p:cNvSpPr/>
          <p:nvPr/>
        </p:nvSpPr>
        <p:spPr>
          <a:xfrm>
            <a:off x="10945368" y="6135624"/>
            <a:ext cx="502920" cy="274320"/>
          </a:xfrm>
          <a:prstGeom prst="rect">
            <a:avLst/>
          </a:prstGeom>
          <a:noFill/>
          <a:ln/>
        </p:spPr>
        <p:txBody>
          <a:bodyPr wrap="square" lIns="0" tIns="0" rIns="0" bIns="0" rtlCol="0" anchor="ctr">
            <a:normAutofit/>
          </a:bodyPr>
          <a:lstStyle/>
          <a:p>
            <a:pPr algn="ctr" indent="0" marL="0">
              <a:buNone/>
            </a:pPr>
            <a:r>
              <a:rPr lang="en-US" sz="1000" b="1" dirty="0">
                <a:solidFill>
                  <a:srgbClr val="87928B"/>
                </a:solidFill>
                <a:latin typeface="Aptos" pitchFamily="34" charset="0"/>
                <a:ea typeface="Aptos" pitchFamily="34" charset="-122"/>
                <a:cs typeface="Aptos"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THE PITCH</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02</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Verity in one minute</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The shortest complete explanation of the project.</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48640" y="1783080"/>
            <a:ext cx="6903720" cy="3822192"/>
          </a:xfrm>
          <a:prstGeom prst="roundRect">
            <a:avLst>
              <a:gd name="adj" fmla="val 2871"/>
            </a:avLst>
          </a:prstGeom>
          <a:solidFill>
            <a:srgbClr val="FFFFFF"/>
          </a:solidFill>
          <a:ln w="12700">
            <a:solidFill>
              <a:srgbClr val="DDE3DD"/>
            </a:solidFill>
            <a:prstDash val="solid"/>
          </a:ln>
        </p:spPr>
      </p:sp>
      <p:sp>
        <p:nvSpPr>
          <p:cNvPr id="13" name="Text 11"/>
          <p:cNvSpPr/>
          <p:nvPr/>
        </p:nvSpPr>
        <p:spPr>
          <a:xfrm>
            <a:off x="822960" y="2011680"/>
            <a:ext cx="2011680" cy="274320"/>
          </a:xfrm>
          <a:prstGeom prst="rect">
            <a:avLst/>
          </a:prstGeom>
          <a:noFill/>
          <a:ln/>
        </p:spPr>
        <p:txBody>
          <a:bodyPr wrap="square" lIns="0" tIns="0" rIns="0" bIns="0" rtlCol="0" anchor="ctr">
            <a:normAutofit/>
          </a:bodyPr>
          <a:lstStyle/>
          <a:p>
            <a:pPr algn="l" indent="0" marL="0">
              <a:buNone/>
            </a:pPr>
            <a:r>
              <a:rPr lang="en-US" sz="1100" b="1" dirty="0">
                <a:solidFill>
                  <a:srgbClr val="87928B"/>
                </a:solidFill>
                <a:latin typeface="Aptos" pitchFamily="34" charset="0"/>
                <a:ea typeface="Aptos" pitchFamily="34" charset="-122"/>
                <a:cs typeface="Aptos" pitchFamily="34" charset="-120"/>
              </a:rPr>
              <a:t>What enters the system</a:t>
            </a:r>
            <a:endParaRPr lang="en-US" sz="1100" dirty="0"/>
          </a:p>
        </p:txBody>
      </p:sp>
      <p:sp>
        <p:nvSpPr>
          <p:cNvPr id="14" name="Shape 12"/>
          <p:cNvSpPr/>
          <p:nvPr/>
        </p:nvSpPr>
        <p:spPr>
          <a:xfrm>
            <a:off x="822960" y="2432304"/>
            <a:ext cx="1508760" cy="310896"/>
          </a:xfrm>
          <a:prstGeom prst="roundRect">
            <a:avLst>
              <a:gd name="adj" fmla="val 50000"/>
            </a:avLst>
          </a:prstGeom>
          <a:solidFill>
            <a:srgbClr val="EAF2F7"/>
          </a:solidFill>
          <a:ln w="12700">
            <a:solidFill>
              <a:srgbClr val="EAF2F7"/>
            </a:solidFill>
            <a:prstDash val="solid"/>
          </a:ln>
        </p:spPr>
      </p:sp>
      <p:sp>
        <p:nvSpPr>
          <p:cNvPr id="15" name="Text 13"/>
          <p:cNvSpPr/>
          <p:nvPr/>
        </p:nvSpPr>
        <p:spPr>
          <a:xfrm>
            <a:off x="822960" y="2432304"/>
            <a:ext cx="1508760" cy="310896"/>
          </a:xfrm>
          <a:prstGeom prst="rect">
            <a:avLst/>
          </a:prstGeom>
          <a:noFill/>
          <a:ln/>
        </p:spPr>
        <p:txBody>
          <a:bodyPr wrap="square" lIns="0" tIns="0" rIns="0" bIns="0" rtlCol="0" anchor="ctr">
            <a:normAutofit/>
          </a:bodyPr>
          <a:lstStyle/>
          <a:p>
            <a:pPr algn="ctr" indent="0" marL="0">
              <a:buNone/>
            </a:pPr>
            <a:r>
              <a:rPr lang="en-US" sz="800" b="1" spc="120" kern="0" dirty="0">
                <a:solidFill>
                  <a:srgbClr val="426B87"/>
                </a:solidFill>
                <a:latin typeface="Aptos" pitchFamily="34" charset="0"/>
                <a:ea typeface="Aptos" pitchFamily="34" charset="-122"/>
                <a:cs typeface="Aptos" pitchFamily="34" charset="-120"/>
              </a:rPr>
              <a:t>JOB REQUISITION</a:t>
            </a:r>
            <a:endParaRPr lang="en-US" sz="800" dirty="0"/>
          </a:p>
        </p:txBody>
      </p:sp>
      <p:sp>
        <p:nvSpPr>
          <p:cNvPr id="16" name="Shape 14"/>
          <p:cNvSpPr/>
          <p:nvPr/>
        </p:nvSpPr>
        <p:spPr>
          <a:xfrm>
            <a:off x="2487168" y="2432304"/>
            <a:ext cx="1508760" cy="310896"/>
          </a:xfrm>
          <a:prstGeom prst="roundRect">
            <a:avLst>
              <a:gd name="adj" fmla="val 50000"/>
            </a:avLst>
          </a:prstGeom>
          <a:solidFill>
            <a:srgbClr val="F8E7ED"/>
          </a:solidFill>
          <a:ln w="12700">
            <a:solidFill>
              <a:srgbClr val="F8E7ED"/>
            </a:solidFill>
            <a:prstDash val="solid"/>
          </a:ln>
        </p:spPr>
      </p:sp>
      <p:sp>
        <p:nvSpPr>
          <p:cNvPr id="17" name="Text 15"/>
          <p:cNvSpPr/>
          <p:nvPr/>
        </p:nvSpPr>
        <p:spPr>
          <a:xfrm>
            <a:off x="2487168" y="2432304"/>
            <a:ext cx="1508760" cy="310896"/>
          </a:xfrm>
          <a:prstGeom prst="rect">
            <a:avLst/>
          </a:prstGeom>
          <a:noFill/>
          <a:ln/>
        </p:spPr>
        <p:txBody>
          <a:bodyPr wrap="square" lIns="0" tIns="0" rIns="0" bIns="0" rtlCol="0" anchor="ctr">
            <a:normAutofit/>
          </a:bodyPr>
          <a:lstStyle/>
          <a:p>
            <a:pPr algn="ctr" indent="0" marL="0">
              <a:buNone/>
            </a:pPr>
            <a:r>
              <a:rPr lang="en-US" sz="800" b="1" spc="120" kern="0" dirty="0">
                <a:solidFill>
                  <a:srgbClr val="C12E60"/>
                </a:solidFill>
                <a:latin typeface="Aptos" pitchFamily="34" charset="0"/>
                <a:ea typeface="Aptos" pitchFamily="34" charset="-122"/>
                <a:cs typeface="Aptos" pitchFamily="34" charset="-120"/>
              </a:rPr>
              <a:t>RESUME + NOTE</a:t>
            </a:r>
            <a:endParaRPr lang="en-US" sz="800" dirty="0"/>
          </a:p>
        </p:txBody>
      </p:sp>
      <p:sp>
        <p:nvSpPr>
          <p:cNvPr id="18" name="Shape 16"/>
          <p:cNvSpPr/>
          <p:nvPr/>
        </p:nvSpPr>
        <p:spPr>
          <a:xfrm>
            <a:off x="4151376" y="2432304"/>
            <a:ext cx="1737360" cy="310896"/>
          </a:xfrm>
          <a:prstGeom prst="roundRect">
            <a:avLst>
              <a:gd name="adj" fmla="val 50000"/>
            </a:avLst>
          </a:prstGeom>
          <a:solidFill>
            <a:srgbClr val="FBF0D9"/>
          </a:solidFill>
          <a:ln w="12700">
            <a:solidFill>
              <a:srgbClr val="FBF0D9"/>
            </a:solidFill>
            <a:prstDash val="solid"/>
          </a:ln>
        </p:spPr>
      </p:sp>
      <p:sp>
        <p:nvSpPr>
          <p:cNvPr id="19" name="Text 17"/>
          <p:cNvSpPr/>
          <p:nvPr/>
        </p:nvSpPr>
        <p:spPr>
          <a:xfrm>
            <a:off x="4151376" y="2432304"/>
            <a:ext cx="1737360" cy="310896"/>
          </a:xfrm>
          <a:prstGeom prst="rect">
            <a:avLst/>
          </a:prstGeom>
          <a:noFill/>
          <a:ln/>
        </p:spPr>
        <p:txBody>
          <a:bodyPr wrap="square" lIns="0" tIns="0" rIns="0" bIns="0" rtlCol="0" anchor="ctr">
            <a:normAutofit/>
          </a:bodyPr>
          <a:lstStyle/>
          <a:p>
            <a:pPr algn="ctr" indent="0" marL="0">
              <a:buNone/>
            </a:pPr>
            <a:r>
              <a:rPr lang="en-US" sz="800" b="1" spc="120" kern="0" dirty="0">
                <a:solidFill>
                  <a:srgbClr val="B07B25"/>
                </a:solidFill>
                <a:latin typeface="Aptos" pitchFamily="34" charset="0"/>
                <a:ea typeface="Aptos" pitchFamily="34" charset="-122"/>
                <a:cs typeface="Aptos" pitchFamily="34" charset="-120"/>
              </a:rPr>
              <a:t>OPTIONAL EVIDENCE</a:t>
            </a:r>
            <a:endParaRPr lang="en-US" sz="800" dirty="0"/>
          </a:p>
        </p:txBody>
      </p:sp>
      <p:sp>
        <p:nvSpPr>
          <p:cNvPr id="20" name="Shape 18"/>
          <p:cNvSpPr/>
          <p:nvPr/>
        </p:nvSpPr>
        <p:spPr>
          <a:xfrm>
            <a:off x="3401568" y="2999232"/>
            <a:ext cx="0" cy="493776"/>
          </a:xfrm>
          <a:prstGeom prst="line">
            <a:avLst/>
          </a:prstGeom>
          <a:noFill/>
          <a:ln w="19050">
            <a:solidFill>
              <a:srgbClr val="2E6B4A"/>
            </a:solidFill>
            <a:prstDash val="solid"/>
            <a:tailEnd type="triangle"/>
          </a:ln>
        </p:spPr>
      </p:sp>
      <p:sp>
        <p:nvSpPr>
          <p:cNvPr id="21" name="Shape 19"/>
          <p:cNvSpPr/>
          <p:nvPr/>
        </p:nvSpPr>
        <p:spPr>
          <a:xfrm>
            <a:off x="1051560" y="3493008"/>
            <a:ext cx="4718304" cy="987552"/>
          </a:xfrm>
          <a:prstGeom prst="roundRect">
            <a:avLst>
              <a:gd name="adj" fmla="val 11111"/>
            </a:avLst>
          </a:prstGeom>
          <a:solidFill>
            <a:srgbClr val="EEF6F0"/>
          </a:solidFill>
          <a:ln w="12700">
            <a:solidFill>
              <a:srgbClr val="DDEDE2"/>
            </a:solidFill>
            <a:prstDash val="solid"/>
          </a:ln>
        </p:spPr>
      </p:sp>
      <p:sp>
        <p:nvSpPr>
          <p:cNvPr id="22" name="Text 20"/>
          <p:cNvSpPr/>
          <p:nvPr/>
        </p:nvSpPr>
        <p:spPr>
          <a:xfrm>
            <a:off x="1325880" y="3685032"/>
            <a:ext cx="4160520" cy="201168"/>
          </a:xfrm>
          <a:prstGeom prst="rect">
            <a:avLst/>
          </a:prstGeom>
          <a:noFill/>
          <a:ln/>
        </p:spPr>
        <p:txBody>
          <a:bodyPr wrap="square" lIns="0" tIns="0" rIns="0" bIns="0" rtlCol="0" anchor="ctr">
            <a:normAutofit/>
          </a:bodyPr>
          <a:lstStyle/>
          <a:p>
            <a:pPr algn="ctr" indent="0" marL="0">
              <a:buNone/>
            </a:pPr>
            <a:r>
              <a:rPr lang="en-US" sz="850" b="1" spc="120" kern="0" dirty="0">
                <a:solidFill>
                  <a:srgbClr val="2E6B4A"/>
                </a:solidFill>
                <a:latin typeface="Aptos" pitchFamily="34" charset="0"/>
                <a:ea typeface="Aptos" pitchFamily="34" charset="-122"/>
                <a:cs typeface="Aptos" pitchFamily="34" charset="-120"/>
              </a:rPr>
              <a:t>LANGCHAIN ORCHESTRATION</a:t>
            </a:r>
            <a:endParaRPr lang="en-US" sz="850" dirty="0"/>
          </a:p>
        </p:txBody>
      </p:sp>
      <p:sp>
        <p:nvSpPr>
          <p:cNvPr id="23" name="Text 21"/>
          <p:cNvSpPr/>
          <p:nvPr/>
        </p:nvSpPr>
        <p:spPr>
          <a:xfrm>
            <a:off x="1325880" y="3922776"/>
            <a:ext cx="4160520" cy="310896"/>
          </a:xfrm>
          <a:prstGeom prst="rect">
            <a:avLst/>
          </a:prstGeom>
          <a:noFill/>
          <a:ln/>
        </p:spPr>
        <p:txBody>
          <a:bodyPr wrap="square" lIns="0" tIns="0" rIns="0" bIns="0" rtlCol="0" anchor="ctr">
            <a:normAutofit/>
          </a:bodyPr>
          <a:lstStyle/>
          <a:p>
            <a:pPr algn="ctr" indent="0" marL="0">
              <a:buNone/>
            </a:pPr>
            <a:r>
              <a:rPr lang="en-US" sz="1300" b="1" dirty="0">
                <a:solidFill>
                  <a:srgbClr val="18221C"/>
                </a:solidFill>
                <a:latin typeface="Aptos" pitchFamily="34" charset="0"/>
                <a:ea typeface="Aptos" pitchFamily="34" charset="-122"/>
                <a:cs typeface="Aptos" pitchFamily="34" charset="-120"/>
              </a:rPr>
              <a:t>Understand requirements → verify evidence → apply policy</a:t>
            </a:r>
            <a:endParaRPr lang="en-US" sz="1300" dirty="0"/>
          </a:p>
        </p:txBody>
      </p:sp>
      <p:sp>
        <p:nvSpPr>
          <p:cNvPr id="24" name="Shape 22"/>
          <p:cNvSpPr/>
          <p:nvPr/>
        </p:nvSpPr>
        <p:spPr>
          <a:xfrm>
            <a:off x="3401568" y="4489704"/>
            <a:ext cx="0" cy="420624"/>
          </a:xfrm>
          <a:prstGeom prst="line">
            <a:avLst/>
          </a:prstGeom>
          <a:noFill/>
          <a:ln w="19050">
            <a:solidFill>
              <a:srgbClr val="2E6B4A"/>
            </a:solidFill>
            <a:prstDash val="solid"/>
            <a:tailEnd type="triangle"/>
          </a:ln>
        </p:spPr>
      </p:sp>
      <p:sp>
        <p:nvSpPr>
          <p:cNvPr id="25" name="Text 23"/>
          <p:cNvSpPr/>
          <p:nvPr/>
        </p:nvSpPr>
        <p:spPr>
          <a:xfrm>
            <a:off x="1207008" y="5001768"/>
            <a:ext cx="4407408" cy="320040"/>
          </a:xfrm>
          <a:prstGeom prst="rect">
            <a:avLst/>
          </a:prstGeom>
          <a:noFill/>
          <a:ln/>
        </p:spPr>
        <p:txBody>
          <a:bodyPr wrap="square" lIns="0" tIns="0" rIns="0" bIns="0" rtlCol="0" anchor="ctr">
            <a:normAutofit/>
          </a:bodyPr>
          <a:lstStyle/>
          <a:p>
            <a:pPr algn="ctr" indent="0" marL="0">
              <a:buNone/>
            </a:pPr>
            <a:r>
              <a:rPr lang="en-US" sz="1200" b="1" dirty="0">
                <a:solidFill>
                  <a:srgbClr val="1D5036"/>
                </a:solidFill>
                <a:latin typeface="Aptos" pitchFamily="34" charset="0"/>
                <a:ea typeface="Aptos" pitchFamily="34" charset="-122"/>
                <a:cs typeface="Aptos" pitchFamily="34" charset="-120"/>
              </a:rPr>
              <a:t>Explainable shortlist + pool gaps + Excel report</a:t>
            </a:r>
            <a:endParaRPr lang="en-US" sz="1200" dirty="0"/>
          </a:p>
        </p:txBody>
      </p:sp>
      <p:sp>
        <p:nvSpPr>
          <p:cNvPr id="26" name="Shape 24"/>
          <p:cNvSpPr/>
          <p:nvPr/>
        </p:nvSpPr>
        <p:spPr>
          <a:xfrm>
            <a:off x="7726680" y="1783080"/>
            <a:ext cx="3886200" cy="1078992"/>
          </a:xfrm>
          <a:prstGeom prst="roundRect">
            <a:avLst>
              <a:gd name="adj" fmla="val 10169"/>
            </a:avLst>
          </a:prstGeom>
          <a:solidFill>
            <a:srgbClr val="EEF6F0"/>
          </a:solidFill>
          <a:ln w="12700">
            <a:solidFill>
              <a:srgbClr val="DDE3DD"/>
            </a:solidFill>
            <a:prstDash val="solid"/>
          </a:ln>
        </p:spPr>
      </p:sp>
      <p:sp>
        <p:nvSpPr>
          <p:cNvPr id="27" name="Shape 25"/>
          <p:cNvSpPr/>
          <p:nvPr/>
        </p:nvSpPr>
        <p:spPr>
          <a:xfrm>
            <a:off x="7726680" y="1783080"/>
            <a:ext cx="64008" cy="1078992"/>
          </a:xfrm>
          <a:prstGeom prst="rect">
            <a:avLst/>
          </a:prstGeom>
          <a:solidFill>
            <a:srgbClr val="2E6B4A"/>
          </a:solidFill>
          <a:ln w="12700">
            <a:solidFill>
              <a:srgbClr val="2E6B4A"/>
            </a:solidFill>
            <a:prstDash val="solid"/>
          </a:ln>
        </p:spPr>
      </p:sp>
      <p:sp>
        <p:nvSpPr>
          <p:cNvPr id="28" name="Shape 26"/>
          <p:cNvSpPr/>
          <p:nvPr/>
        </p:nvSpPr>
        <p:spPr>
          <a:xfrm>
            <a:off x="7946136" y="1993392"/>
            <a:ext cx="384048" cy="384048"/>
          </a:xfrm>
          <a:prstGeom prst="ellipse">
            <a:avLst/>
          </a:prstGeom>
          <a:solidFill>
            <a:srgbClr val="2E6B4A"/>
          </a:solidFill>
          <a:ln w="12700">
            <a:solidFill>
              <a:srgbClr val="2E6B4A"/>
            </a:solidFill>
            <a:prstDash val="solid"/>
          </a:ln>
        </p:spPr>
      </p:sp>
      <p:sp>
        <p:nvSpPr>
          <p:cNvPr id="29" name="Text 27"/>
          <p:cNvSpPr/>
          <p:nvPr/>
        </p:nvSpPr>
        <p:spPr>
          <a:xfrm>
            <a:off x="7946136" y="199339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30" name="Text 28"/>
          <p:cNvSpPr/>
          <p:nvPr/>
        </p:nvSpPr>
        <p:spPr>
          <a:xfrm>
            <a:off x="8458200" y="1947672"/>
            <a:ext cx="2971800" cy="201168"/>
          </a:xfrm>
          <a:prstGeom prst="rect">
            <a:avLst/>
          </a:prstGeom>
          <a:noFill/>
          <a:ln/>
        </p:spPr>
        <p:txBody>
          <a:bodyPr wrap="square" lIns="0" tIns="0" rIns="0" bIns="0" rtlCol="0" anchor="ctr">
            <a:normAutofit/>
          </a:bodyPr>
          <a:lstStyle/>
          <a:p>
            <a:pPr algn="l" indent="0" marL="0">
              <a:buNone/>
            </a:pPr>
            <a:r>
              <a:rPr lang="en-US" sz="750" b="1" spc="90" kern="0" dirty="0">
                <a:solidFill>
                  <a:srgbClr val="2E6B4A"/>
                </a:solidFill>
                <a:latin typeface="Aptos" pitchFamily="34" charset="0"/>
                <a:ea typeface="Aptos" pitchFamily="34" charset="-122"/>
                <a:cs typeface="Aptos" pitchFamily="34" charset="-120"/>
              </a:rPr>
              <a:t>CORE PROMISE</a:t>
            </a:r>
            <a:endParaRPr lang="en-US" sz="750" dirty="0"/>
          </a:p>
        </p:txBody>
      </p:sp>
      <p:sp>
        <p:nvSpPr>
          <p:cNvPr id="31" name="Text 29"/>
          <p:cNvSpPr/>
          <p:nvPr/>
        </p:nvSpPr>
        <p:spPr>
          <a:xfrm>
            <a:off x="8458200" y="2176272"/>
            <a:ext cx="2953512"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No evidence, no confidence</a:t>
            </a:r>
            <a:endParaRPr lang="en-US" sz="1500" dirty="0"/>
          </a:p>
        </p:txBody>
      </p:sp>
      <p:sp>
        <p:nvSpPr>
          <p:cNvPr id="32" name="Text 30"/>
          <p:cNvSpPr/>
          <p:nvPr/>
        </p:nvSpPr>
        <p:spPr>
          <a:xfrm>
            <a:off x="8458200" y="2606040"/>
            <a:ext cx="2935224" cy="9144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A skill list is weaker than a project or work example.</a:t>
            </a:r>
            <a:endParaRPr lang="en-US" sz="1050" dirty="0"/>
          </a:p>
        </p:txBody>
      </p:sp>
      <p:sp>
        <p:nvSpPr>
          <p:cNvPr id="33" name="Shape 31"/>
          <p:cNvSpPr/>
          <p:nvPr/>
        </p:nvSpPr>
        <p:spPr>
          <a:xfrm>
            <a:off x="7726680" y="3017520"/>
            <a:ext cx="3886200" cy="1078992"/>
          </a:xfrm>
          <a:prstGeom prst="roundRect">
            <a:avLst>
              <a:gd name="adj" fmla="val 10169"/>
            </a:avLst>
          </a:prstGeom>
          <a:solidFill>
            <a:srgbClr val="EAF2F7"/>
          </a:solidFill>
          <a:ln w="12700">
            <a:solidFill>
              <a:srgbClr val="DDE3DD"/>
            </a:solidFill>
            <a:prstDash val="solid"/>
          </a:ln>
        </p:spPr>
      </p:sp>
      <p:sp>
        <p:nvSpPr>
          <p:cNvPr id="34" name="Shape 32"/>
          <p:cNvSpPr/>
          <p:nvPr/>
        </p:nvSpPr>
        <p:spPr>
          <a:xfrm>
            <a:off x="7726680" y="3017520"/>
            <a:ext cx="64008" cy="1078992"/>
          </a:xfrm>
          <a:prstGeom prst="rect">
            <a:avLst/>
          </a:prstGeom>
          <a:solidFill>
            <a:srgbClr val="426B87"/>
          </a:solidFill>
          <a:ln w="12700">
            <a:solidFill>
              <a:srgbClr val="426B87"/>
            </a:solidFill>
            <a:prstDash val="solid"/>
          </a:ln>
        </p:spPr>
      </p:sp>
      <p:sp>
        <p:nvSpPr>
          <p:cNvPr id="35" name="Shape 33"/>
          <p:cNvSpPr/>
          <p:nvPr/>
        </p:nvSpPr>
        <p:spPr>
          <a:xfrm>
            <a:off x="7946136" y="3227832"/>
            <a:ext cx="384048" cy="384048"/>
          </a:xfrm>
          <a:prstGeom prst="ellipse">
            <a:avLst/>
          </a:prstGeom>
          <a:solidFill>
            <a:srgbClr val="426B87"/>
          </a:solidFill>
          <a:ln w="12700">
            <a:solidFill>
              <a:srgbClr val="426B87"/>
            </a:solidFill>
            <a:prstDash val="solid"/>
          </a:ln>
        </p:spPr>
      </p:sp>
      <p:sp>
        <p:nvSpPr>
          <p:cNvPr id="36" name="Text 34"/>
          <p:cNvSpPr/>
          <p:nvPr/>
        </p:nvSpPr>
        <p:spPr>
          <a:xfrm>
            <a:off x="7946136" y="322783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37" name="Text 35"/>
          <p:cNvSpPr/>
          <p:nvPr/>
        </p:nvSpPr>
        <p:spPr>
          <a:xfrm>
            <a:off x="8458200" y="3182112"/>
            <a:ext cx="2971800" cy="201168"/>
          </a:xfrm>
          <a:prstGeom prst="rect">
            <a:avLst/>
          </a:prstGeom>
          <a:noFill/>
          <a:ln/>
        </p:spPr>
        <p:txBody>
          <a:bodyPr wrap="square" lIns="0" tIns="0" rIns="0" bIns="0" rtlCol="0" anchor="ctr">
            <a:normAutofit/>
          </a:bodyPr>
          <a:lstStyle/>
          <a:p>
            <a:pPr algn="l" indent="0" marL="0">
              <a:buNone/>
            </a:pPr>
            <a:r>
              <a:rPr lang="en-US" sz="750" b="1" spc="90" kern="0" dirty="0">
                <a:solidFill>
                  <a:srgbClr val="426B87"/>
                </a:solidFill>
                <a:latin typeface="Aptos" pitchFamily="34" charset="0"/>
                <a:ea typeface="Aptos" pitchFamily="34" charset="-122"/>
                <a:cs typeface="Aptos" pitchFamily="34" charset="-120"/>
              </a:rPr>
              <a:t>FAIR MATCHING</a:t>
            </a:r>
            <a:endParaRPr lang="en-US" sz="750" dirty="0"/>
          </a:p>
        </p:txBody>
      </p:sp>
      <p:sp>
        <p:nvSpPr>
          <p:cNvPr id="38" name="Text 36"/>
          <p:cNvSpPr/>
          <p:nvPr/>
        </p:nvSpPr>
        <p:spPr>
          <a:xfrm>
            <a:off x="8458200" y="3410712"/>
            <a:ext cx="2953512"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Meaning, not exact wording</a:t>
            </a:r>
            <a:endParaRPr lang="en-US" sz="1500" dirty="0"/>
          </a:p>
        </p:txBody>
      </p:sp>
      <p:sp>
        <p:nvSpPr>
          <p:cNvPr id="39" name="Text 37"/>
          <p:cNvSpPr/>
          <p:nvPr/>
        </p:nvSpPr>
        <p:spPr>
          <a:xfrm>
            <a:off x="8458200" y="3840480"/>
            <a:ext cx="2935224" cy="9144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Approved aliases recognize equivalent tools and terminology.</a:t>
            </a:r>
            <a:endParaRPr lang="en-US" sz="1050" dirty="0"/>
          </a:p>
        </p:txBody>
      </p:sp>
      <p:sp>
        <p:nvSpPr>
          <p:cNvPr id="40" name="Shape 38"/>
          <p:cNvSpPr/>
          <p:nvPr/>
        </p:nvSpPr>
        <p:spPr>
          <a:xfrm>
            <a:off x="7726680" y="4251960"/>
            <a:ext cx="3886200" cy="1078992"/>
          </a:xfrm>
          <a:prstGeom prst="roundRect">
            <a:avLst>
              <a:gd name="adj" fmla="val 10169"/>
            </a:avLst>
          </a:prstGeom>
          <a:solidFill>
            <a:srgbClr val="F8E7ED"/>
          </a:solidFill>
          <a:ln w="12700">
            <a:solidFill>
              <a:srgbClr val="DDE3DD"/>
            </a:solidFill>
            <a:prstDash val="solid"/>
          </a:ln>
        </p:spPr>
      </p:sp>
      <p:sp>
        <p:nvSpPr>
          <p:cNvPr id="41" name="Shape 39"/>
          <p:cNvSpPr/>
          <p:nvPr/>
        </p:nvSpPr>
        <p:spPr>
          <a:xfrm>
            <a:off x="7726680" y="4251960"/>
            <a:ext cx="64008" cy="1078992"/>
          </a:xfrm>
          <a:prstGeom prst="rect">
            <a:avLst/>
          </a:prstGeom>
          <a:solidFill>
            <a:srgbClr val="C12E60"/>
          </a:solidFill>
          <a:ln w="12700">
            <a:solidFill>
              <a:srgbClr val="C12E60"/>
            </a:solidFill>
            <a:prstDash val="solid"/>
          </a:ln>
        </p:spPr>
      </p:sp>
      <p:sp>
        <p:nvSpPr>
          <p:cNvPr id="42" name="Shape 40"/>
          <p:cNvSpPr/>
          <p:nvPr/>
        </p:nvSpPr>
        <p:spPr>
          <a:xfrm>
            <a:off x="7946136" y="4462272"/>
            <a:ext cx="384048" cy="384048"/>
          </a:xfrm>
          <a:prstGeom prst="ellipse">
            <a:avLst/>
          </a:prstGeom>
          <a:solidFill>
            <a:srgbClr val="C12E60"/>
          </a:solidFill>
          <a:ln w="12700">
            <a:solidFill>
              <a:srgbClr val="C12E60"/>
            </a:solidFill>
            <a:prstDash val="solid"/>
          </a:ln>
        </p:spPr>
      </p:sp>
      <p:sp>
        <p:nvSpPr>
          <p:cNvPr id="43" name="Text 41"/>
          <p:cNvSpPr/>
          <p:nvPr/>
        </p:nvSpPr>
        <p:spPr>
          <a:xfrm>
            <a:off x="7946136" y="4462272"/>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44" name="Text 42"/>
          <p:cNvSpPr/>
          <p:nvPr/>
        </p:nvSpPr>
        <p:spPr>
          <a:xfrm>
            <a:off x="8458200" y="4416552"/>
            <a:ext cx="2971800" cy="201168"/>
          </a:xfrm>
          <a:prstGeom prst="rect">
            <a:avLst/>
          </a:prstGeom>
          <a:noFill/>
          <a:ln/>
        </p:spPr>
        <p:txBody>
          <a:bodyPr wrap="square" lIns="0" tIns="0" rIns="0" bIns="0" rtlCol="0" anchor="ctr">
            <a:normAutofit/>
          </a:bodyPr>
          <a:lstStyle/>
          <a:p>
            <a:pPr algn="l" indent="0" marL="0">
              <a:buNone/>
            </a:pPr>
            <a:r>
              <a:rPr lang="en-US" sz="750" b="1" spc="90" kern="0" dirty="0">
                <a:solidFill>
                  <a:srgbClr val="C12E60"/>
                </a:solidFill>
                <a:latin typeface="Aptos" pitchFamily="34" charset="0"/>
                <a:ea typeface="Aptos" pitchFamily="34" charset="-122"/>
                <a:cs typeface="Aptos" pitchFamily="34" charset="-120"/>
              </a:rPr>
              <a:t>HONEST OUTPUT</a:t>
            </a:r>
            <a:endParaRPr lang="en-US" sz="750" dirty="0"/>
          </a:p>
        </p:txBody>
      </p:sp>
      <p:sp>
        <p:nvSpPr>
          <p:cNvPr id="45" name="Text 43"/>
          <p:cNvSpPr/>
          <p:nvPr/>
        </p:nvSpPr>
        <p:spPr>
          <a:xfrm>
            <a:off x="8458200" y="4645152"/>
            <a:ext cx="2953512"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Trade-offs stay visible</a:t>
            </a:r>
            <a:endParaRPr lang="en-US" sz="1500" dirty="0"/>
          </a:p>
        </p:txBody>
      </p:sp>
      <p:sp>
        <p:nvSpPr>
          <p:cNvPr id="46" name="Text 44"/>
          <p:cNvSpPr/>
          <p:nvPr/>
        </p:nvSpPr>
        <p:spPr>
          <a:xfrm>
            <a:off x="8458200" y="5074920"/>
            <a:ext cx="2935224" cy="9144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The system never hides weaknesses behind one percentage.</a:t>
            </a:r>
            <a:endParaRPr lang="en-US" sz="1050" dirty="0"/>
          </a:p>
        </p:txBody>
      </p:sp>
      <p:sp>
        <p:nvSpPr>
          <p:cNvPr id="47" name="Shape 45"/>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48" name="Shape 46"/>
          <p:cNvSpPr/>
          <p:nvPr/>
        </p:nvSpPr>
        <p:spPr>
          <a:xfrm>
            <a:off x="685800" y="6044184"/>
            <a:ext cx="164592" cy="164592"/>
          </a:xfrm>
          <a:prstGeom prst="ellipse">
            <a:avLst/>
          </a:prstGeom>
          <a:solidFill>
            <a:srgbClr val="CDEB8B"/>
          </a:solidFill>
          <a:ln w="12700">
            <a:solidFill>
              <a:srgbClr val="CDEB8B"/>
            </a:solidFill>
            <a:prstDash val="solid"/>
          </a:ln>
        </p:spPr>
      </p:sp>
      <p:sp>
        <p:nvSpPr>
          <p:cNvPr id="49" name="Text 47"/>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0" name="Text 48"/>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“Verity automates evidence organization, not the final hiring decision.”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PROBLEM</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03</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Why keyword matching fails</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The word may be present while the evidence is missing.</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92224"/>
            <a:ext cx="5340096" cy="1481328"/>
          </a:xfrm>
          <a:prstGeom prst="roundRect">
            <a:avLst>
              <a:gd name="adj" fmla="val 7407"/>
            </a:avLst>
          </a:prstGeom>
          <a:solidFill>
            <a:srgbClr val="F8E7ED"/>
          </a:solidFill>
          <a:ln w="12700">
            <a:solidFill>
              <a:srgbClr val="F8E7ED"/>
            </a:solidFill>
            <a:prstDash val="solid"/>
          </a:ln>
        </p:spPr>
      </p:sp>
      <p:sp>
        <p:nvSpPr>
          <p:cNvPr id="13" name="Text 11"/>
          <p:cNvSpPr/>
          <p:nvPr/>
        </p:nvSpPr>
        <p:spPr>
          <a:xfrm>
            <a:off x="786384" y="2020824"/>
            <a:ext cx="475488" cy="347472"/>
          </a:xfrm>
          <a:prstGeom prst="rect">
            <a:avLst/>
          </a:prstGeom>
          <a:noFill/>
          <a:ln/>
        </p:spPr>
        <p:txBody>
          <a:bodyPr wrap="square" lIns="0" tIns="0" rIns="0" bIns="0" rtlCol="0" anchor="ctr">
            <a:normAutofit/>
          </a:bodyPr>
          <a:lstStyle/>
          <a:p>
            <a:pPr algn="l" indent="0" marL="0">
              <a:buNone/>
            </a:pPr>
            <a:r>
              <a:rPr lang="en-US" sz="2000" b="1" dirty="0">
                <a:solidFill>
                  <a:srgbClr val="C12E60"/>
                </a:solidFill>
                <a:latin typeface="Aptos Display" pitchFamily="34" charset="0"/>
                <a:ea typeface="Aptos Display" pitchFamily="34" charset="-122"/>
                <a:cs typeface="Aptos Display" pitchFamily="34" charset="-120"/>
              </a:rPr>
              <a:t>01</a:t>
            </a:r>
            <a:endParaRPr lang="en-US" sz="2000" dirty="0"/>
          </a:p>
        </p:txBody>
      </p:sp>
      <p:sp>
        <p:nvSpPr>
          <p:cNvPr id="14" name="Text 12"/>
          <p:cNvSpPr/>
          <p:nvPr/>
        </p:nvSpPr>
        <p:spPr>
          <a:xfrm>
            <a:off x="1435608" y="2011680"/>
            <a:ext cx="4160520" cy="310896"/>
          </a:xfrm>
          <a:prstGeom prst="rect">
            <a:avLst/>
          </a:prstGeom>
          <a:noFill/>
          <a:ln/>
        </p:spPr>
        <p:txBody>
          <a:bodyPr wrap="square" lIns="0" tIns="0" rIns="0" bIns="0" rtlCol="0" anchor="ctr">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Resume padding</a:t>
            </a:r>
            <a:endParaRPr lang="en-US" sz="1500" dirty="0"/>
          </a:p>
        </p:txBody>
      </p:sp>
      <p:sp>
        <p:nvSpPr>
          <p:cNvPr id="15" name="Text 13"/>
          <p:cNvSpPr/>
          <p:nvPr/>
        </p:nvSpPr>
        <p:spPr>
          <a:xfrm>
            <a:off x="1435608" y="2423160"/>
            <a:ext cx="4078224" cy="603504"/>
          </a:xfrm>
          <a:prstGeom prst="rect">
            <a:avLst/>
          </a:prstGeom>
          <a:noFill/>
          <a:ln/>
        </p:spPr>
        <p:txBody>
          <a:bodyPr wrap="square" lIns="0" tIns="0" rIns="0" bIns="0" rtlCol="0" anchor="t">
            <a:normAutofit/>
          </a:bodyPr>
          <a:lstStyle/>
          <a:p>
            <a:pPr algn="l" indent="0" marL="0">
              <a:buNone/>
            </a:pPr>
            <a:r>
              <a:rPr lang="en-US" sz="1120" dirty="0">
                <a:solidFill>
                  <a:srgbClr val="5D6A62"/>
                </a:solidFill>
                <a:latin typeface="Aptos" pitchFamily="34" charset="0"/>
                <a:ea typeface="Aptos" pitchFamily="34" charset="-122"/>
                <a:cs typeface="Aptos" pitchFamily="34" charset="-120"/>
              </a:rPr>
              <a:t>A candidate can list Kubernetes without showing where or how it was used.</a:t>
            </a:r>
            <a:endParaRPr lang="en-US" sz="1120" dirty="0"/>
          </a:p>
        </p:txBody>
      </p:sp>
      <p:sp>
        <p:nvSpPr>
          <p:cNvPr id="16" name="Shape 14"/>
          <p:cNvSpPr/>
          <p:nvPr/>
        </p:nvSpPr>
        <p:spPr>
          <a:xfrm>
            <a:off x="6163056" y="1792224"/>
            <a:ext cx="5340096" cy="1481328"/>
          </a:xfrm>
          <a:prstGeom prst="roundRect">
            <a:avLst>
              <a:gd name="adj" fmla="val 7407"/>
            </a:avLst>
          </a:prstGeom>
          <a:solidFill>
            <a:srgbClr val="EAF2F7"/>
          </a:solidFill>
          <a:ln w="12700">
            <a:solidFill>
              <a:srgbClr val="EAF2F7"/>
            </a:solidFill>
            <a:prstDash val="solid"/>
          </a:ln>
        </p:spPr>
      </p:sp>
      <p:sp>
        <p:nvSpPr>
          <p:cNvPr id="17" name="Text 15"/>
          <p:cNvSpPr/>
          <p:nvPr/>
        </p:nvSpPr>
        <p:spPr>
          <a:xfrm>
            <a:off x="6382512" y="2020824"/>
            <a:ext cx="475488" cy="347472"/>
          </a:xfrm>
          <a:prstGeom prst="rect">
            <a:avLst/>
          </a:prstGeom>
          <a:noFill/>
          <a:ln/>
        </p:spPr>
        <p:txBody>
          <a:bodyPr wrap="square" lIns="0" tIns="0" rIns="0" bIns="0" rtlCol="0" anchor="ctr">
            <a:normAutofit/>
          </a:bodyPr>
          <a:lstStyle/>
          <a:p>
            <a:pPr algn="l" indent="0" marL="0">
              <a:buNone/>
            </a:pPr>
            <a:r>
              <a:rPr lang="en-US" sz="2000" b="1" dirty="0">
                <a:solidFill>
                  <a:srgbClr val="426B87"/>
                </a:solidFill>
                <a:latin typeface="Aptos Display" pitchFamily="34" charset="0"/>
                <a:ea typeface="Aptos Display" pitchFamily="34" charset="-122"/>
                <a:cs typeface="Aptos Display" pitchFamily="34" charset="-120"/>
              </a:rPr>
              <a:t>02</a:t>
            </a:r>
            <a:endParaRPr lang="en-US" sz="2000" dirty="0"/>
          </a:p>
        </p:txBody>
      </p:sp>
      <p:sp>
        <p:nvSpPr>
          <p:cNvPr id="18" name="Text 16"/>
          <p:cNvSpPr/>
          <p:nvPr/>
        </p:nvSpPr>
        <p:spPr>
          <a:xfrm>
            <a:off x="7031736" y="2011680"/>
            <a:ext cx="4160520" cy="310896"/>
          </a:xfrm>
          <a:prstGeom prst="rect">
            <a:avLst/>
          </a:prstGeom>
          <a:noFill/>
          <a:ln/>
        </p:spPr>
        <p:txBody>
          <a:bodyPr wrap="square" lIns="0" tIns="0" rIns="0" bIns="0" rtlCol="0" anchor="ctr">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Vocabulary mismatch</a:t>
            </a:r>
            <a:endParaRPr lang="en-US" sz="1500" dirty="0"/>
          </a:p>
        </p:txBody>
      </p:sp>
      <p:sp>
        <p:nvSpPr>
          <p:cNvPr id="19" name="Text 17"/>
          <p:cNvSpPr/>
          <p:nvPr/>
        </p:nvSpPr>
        <p:spPr>
          <a:xfrm>
            <a:off x="7031736" y="2423160"/>
            <a:ext cx="4078224" cy="603504"/>
          </a:xfrm>
          <a:prstGeom prst="rect">
            <a:avLst/>
          </a:prstGeom>
          <a:noFill/>
          <a:ln/>
        </p:spPr>
        <p:txBody>
          <a:bodyPr wrap="square" lIns="0" tIns="0" rIns="0" bIns="0" rtlCol="0" anchor="t">
            <a:normAutofit/>
          </a:bodyPr>
          <a:lstStyle/>
          <a:p>
            <a:pPr algn="l" indent="0" marL="0">
              <a:buNone/>
            </a:pPr>
            <a:r>
              <a:rPr lang="en-US" sz="1120" dirty="0">
                <a:solidFill>
                  <a:srgbClr val="5D6A62"/>
                </a:solidFill>
                <a:latin typeface="Aptos" pitchFamily="34" charset="0"/>
                <a:ea typeface="Aptos" pitchFamily="34" charset="-122"/>
                <a:cs typeface="Aptos" pitchFamily="34" charset="-120"/>
              </a:rPr>
              <a:t>SQL and MySQL may describe relevant knowledge using different wording.</a:t>
            </a:r>
            <a:endParaRPr lang="en-US" sz="1120" dirty="0"/>
          </a:p>
        </p:txBody>
      </p:sp>
      <p:sp>
        <p:nvSpPr>
          <p:cNvPr id="20" name="Shape 18"/>
          <p:cNvSpPr/>
          <p:nvPr/>
        </p:nvSpPr>
        <p:spPr>
          <a:xfrm>
            <a:off x="566928" y="3557016"/>
            <a:ext cx="5340096" cy="1481328"/>
          </a:xfrm>
          <a:prstGeom prst="roundRect">
            <a:avLst>
              <a:gd name="adj" fmla="val 7407"/>
            </a:avLst>
          </a:prstGeom>
          <a:solidFill>
            <a:srgbClr val="F9EAE8"/>
          </a:solidFill>
          <a:ln w="12700">
            <a:solidFill>
              <a:srgbClr val="F9EAE8"/>
            </a:solidFill>
            <a:prstDash val="solid"/>
          </a:ln>
        </p:spPr>
      </p:sp>
      <p:sp>
        <p:nvSpPr>
          <p:cNvPr id="21" name="Text 19"/>
          <p:cNvSpPr/>
          <p:nvPr/>
        </p:nvSpPr>
        <p:spPr>
          <a:xfrm>
            <a:off x="786384" y="3785616"/>
            <a:ext cx="475488" cy="347472"/>
          </a:xfrm>
          <a:prstGeom prst="rect">
            <a:avLst/>
          </a:prstGeom>
          <a:noFill/>
          <a:ln/>
        </p:spPr>
        <p:txBody>
          <a:bodyPr wrap="square" lIns="0" tIns="0" rIns="0" bIns="0" rtlCol="0" anchor="ctr">
            <a:normAutofit/>
          </a:bodyPr>
          <a:lstStyle/>
          <a:p>
            <a:pPr algn="l" indent="0" marL="0">
              <a:buNone/>
            </a:pPr>
            <a:r>
              <a:rPr lang="en-US" sz="2000" b="1" dirty="0">
                <a:solidFill>
                  <a:srgbClr val="B4443B"/>
                </a:solidFill>
                <a:latin typeface="Aptos Display" pitchFamily="34" charset="0"/>
                <a:ea typeface="Aptos Display" pitchFamily="34" charset="-122"/>
                <a:cs typeface="Aptos Display" pitchFamily="34" charset="-120"/>
              </a:rPr>
              <a:t>03</a:t>
            </a:r>
            <a:endParaRPr lang="en-US" sz="2000" dirty="0"/>
          </a:p>
        </p:txBody>
      </p:sp>
      <p:sp>
        <p:nvSpPr>
          <p:cNvPr id="22" name="Text 20"/>
          <p:cNvSpPr/>
          <p:nvPr/>
        </p:nvSpPr>
        <p:spPr>
          <a:xfrm>
            <a:off x="1435608" y="3776472"/>
            <a:ext cx="4160520" cy="310896"/>
          </a:xfrm>
          <a:prstGeom prst="rect">
            <a:avLst/>
          </a:prstGeom>
          <a:noFill/>
          <a:ln/>
        </p:spPr>
        <p:txBody>
          <a:bodyPr wrap="square" lIns="0" tIns="0" rIns="0" bIns="0" rtlCol="0" anchor="ctr">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Conflicting claims</a:t>
            </a:r>
            <a:endParaRPr lang="en-US" sz="1500" dirty="0"/>
          </a:p>
        </p:txBody>
      </p:sp>
      <p:sp>
        <p:nvSpPr>
          <p:cNvPr id="23" name="Text 21"/>
          <p:cNvSpPr/>
          <p:nvPr/>
        </p:nvSpPr>
        <p:spPr>
          <a:xfrm>
            <a:off x="1435608" y="4187952"/>
            <a:ext cx="4078224" cy="603504"/>
          </a:xfrm>
          <a:prstGeom prst="rect">
            <a:avLst/>
          </a:prstGeom>
          <a:noFill/>
          <a:ln/>
        </p:spPr>
        <p:txBody>
          <a:bodyPr wrap="square" lIns="0" tIns="0" rIns="0" bIns="0" rtlCol="0" anchor="t">
            <a:normAutofit/>
          </a:bodyPr>
          <a:lstStyle/>
          <a:p>
            <a:pPr algn="l" indent="0" marL="0">
              <a:buNone/>
            </a:pPr>
            <a:r>
              <a:rPr lang="en-US" sz="1120" dirty="0">
                <a:solidFill>
                  <a:srgbClr val="5D6A62"/>
                </a:solidFill>
                <a:latin typeface="Aptos" pitchFamily="34" charset="0"/>
                <a:ea typeface="Aptos" pitchFamily="34" charset="-122"/>
                <a:cs typeface="Aptos" pitchFamily="34" charset="-120"/>
              </a:rPr>
              <a:t>“Five years of Python” can conflict with a one-year documented timeline.</a:t>
            </a:r>
            <a:endParaRPr lang="en-US" sz="1120" dirty="0"/>
          </a:p>
        </p:txBody>
      </p:sp>
      <p:sp>
        <p:nvSpPr>
          <p:cNvPr id="24" name="Shape 22"/>
          <p:cNvSpPr/>
          <p:nvPr/>
        </p:nvSpPr>
        <p:spPr>
          <a:xfrm>
            <a:off x="6163056" y="3557016"/>
            <a:ext cx="5340096" cy="1481328"/>
          </a:xfrm>
          <a:prstGeom prst="roundRect">
            <a:avLst>
              <a:gd name="adj" fmla="val 7407"/>
            </a:avLst>
          </a:prstGeom>
          <a:solidFill>
            <a:srgbClr val="FBF0D9"/>
          </a:solidFill>
          <a:ln w="12700">
            <a:solidFill>
              <a:srgbClr val="FBF0D9"/>
            </a:solidFill>
            <a:prstDash val="solid"/>
          </a:ln>
        </p:spPr>
      </p:sp>
      <p:sp>
        <p:nvSpPr>
          <p:cNvPr id="25" name="Text 23"/>
          <p:cNvSpPr/>
          <p:nvPr/>
        </p:nvSpPr>
        <p:spPr>
          <a:xfrm>
            <a:off x="6382512" y="3785616"/>
            <a:ext cx="475488" cy="347472"/>
          </a:xfrm>
          <a:prstGeom prst="rect">
            <a:avLst/>
          </a:prstGeom>
          <a:noFill/>
          <a:ln/>
        </p:spPr>
        <p:txBody>
          <a:bodyPr wrap="square" lIns="0" tIns="0" rIns="0" bIns="0" rtlCol="0" anchor="ctr">
            <a:normAutofit/>
          </a:bodyPr>
          <a:lstStyle/>
          <a:p>
            <a:pPr algn="l" indent="0" marL="0">
              <a:buNone/>
            </a:pPr>
            <a:r>
              <a:rPr lang="en-US" sz="2000" b="1" dirty="0">
                <a:solidFill>
                  <a:srgbClr val="B07B25"/>
                </a:solidFill>
                <a:latin typeface="Aptos Display" pitchFamily="34" charset="0"/>
                <a:ea typeface="Aptos Display" pitchFamily="34" charset="-122"/>
                <a:cs typeface="Aptos Display" pitchFamily="34" charset="-120"/>
              </a:rPr>
              <a:t>04</a:t>
            </a:r>
            <a:endParaRPr lang="en-US" sz="2000" dirty="0"/>
          </a:p>
        </p:txBody>
      </p:sp>
      <p:sp>
        <p:nvSpPr>
          <p:cNvPr id="26" name="Text 24"/>
          <p:cNvSpPr/>
          <p:nvPr/>
        </p:nvSpPr>
        <p:spPr>
          <a:xfrm>
            <a:off x="7031736" y="3776472"/>
            <a:ext cx="4160520" cy="310896"/>
          </a:xfrm>
          <a:prstGeom prst="rect">
            <a:avLst/>
          </a:prstGeom>
          <a:noFill/>
          <a:ln/>
        </p:spPr>
        <p:txBody>
          <a:bodyPr wrap="square" lIns="0" tIns="0" rIns="0" bIns="0" rtlCol="0" anchor="ctr">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Impossible requisitions</a:t>
            </a:r>
            <a:endParaRPr lang="en-US" sz="1500" dirty="0"/>
          </a:p>
        </p:txBody>
      </p:sp>
      <p:sp>
        <p:nvSpPr>
          <p:cNvPr id="27" name="Text 25"/>
          <p:cNvSpPr/>
          <p:nvPr/>
        </p:nvSpPr>
        <p:spPr>
          <a:xfrm>
            <a:off x="7031736" y="4187952"/>
            <a:ext cx="4078224" cy="603504"/>
          </a:xfrm>
          <a:prstGeom prst="rect">
            <a:avLst/>
          </a:prstGeom>
          <a:noFill/>
          <a:ln/>
        </p:spPr>
        <p:txBody>
          <a:bodyPr wrap="square" lIns="0" tIns="0" rIns="0" bIns="0" rtlCol="0" anchor="t">
            <a:normAutofit/>
          </a:bodyPr>
          <a:lstStyle/>
          <a:p>
            <a:pPr algn="l" indent="0" marL="0">
              <a:buNone/>
            </a:pPr>
            <a:r>
              <a:rPr lang="en-US" sz="1120" dirty="0">
                <a:solidFill>
                  <a:srgbClr val="5D6A62"/>
                </a:solidFill>
                <a:latin typeface="Aptos" pitchFamily="34" charset="0"/>
                <a:ea typeface="Aptos" pitchFamily="34" charset="-122"/>
                <a:cs typeface="Aptos" pitchFamily="34" charset="-120"/>
              </a:rPr>
              <a:t>Junior level, five years of experience, rare skills, and low salary may not coexist.</a:t>
            </a:r>
            <a:endParaRPr lang="en-US" sz="1120" dirty="0"/>
          </a:p>
        </p:txBody>
      </p:sp>
      <p:sp>
        <p:nvSpPr>
          <p:cNvPr id="28" name="Shape 26"/>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29" name="Shape 27"/>
          <p:cNvSpPr/>
          <p:nvPr/>
        </p:nvSpPr>
        <p:spPr>
          <a:xfrm>
            <a:off x="685800" y="6044184"/>
            <a:ext cx="164592" cy="164592"/>
          </a:xfrm>
          <a:prstGeom prst="ellipse">
            <a:avLst/>
          </a:prstGeom>
          <a:solidFill>
            <a:srgbClr val="CDEB8B"/>
          </a:solidFill>
          <a:ln w="12700">
            <a:solidFill>
              <a:srgbClr val="CDEB8B"/>
            </a:solidFill>
            <a:prstDash val="solid"/>
          </a:ln>
        </p:spPr>
      </p:sp>
      <p:sp>
        <p:nvSpPr>
          <p:cNvPr id="30" name="Text 28"/>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31" name="Text 29"/>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“The core challenge is not finding a word. It is deciding whether the claim deserves trust.”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PROPOSED SOLUTION</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04</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An evidence-first screening pipeline</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Each stage produces an auditable output for the next stage.</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30352" y="1874520"/>
            <a:ext cx="1627632" cy="1133856"/>
          </a:xfrm>
          <a:prstGeom prst="roundRect">
            <a:avLst>
              <a:gd name="adj" fmla="val 9677"/>
            </a:avLst>
          </a:prstGeom>
          <a:solidFill>
            <a:srgbClr val="FFFFFF"/>
          </a:solidFill>
          <a:ln w="12700">
            <a:solidFill>
              <a:srgbClr val="DDE3DD"/>
            </a:solidFill>
            <a:prstDash val="solid"/>
          </a:ln>
        </p:spPr>
      </p:sp>
      <p:sp>
        <p:nvSpPr>
          <p:cNvPr id="13" name="Shape 11"/>
          <p:cNvSpPr/>
          <p:nvPr/>
        </p:nvSpPr>
        <p:spPr>
          <a:xfrm>
            <a:off x="658368" y="2002536"/>
            <a:ext cx="402336" cy="310896"/>
          </a:xfrm>
          <a:prstGeom prst="roundRect">
            <a:avLst>
              <a:gd name="adj" fmla="val 50000"/>
            </a:avLst>
          </a:prstGeom>
          <a:solidFill>
            <a:srgbClr val="EEF6F0"/>
          </a:solidFill>
          <a:ln w="12700">
            <a:solidFill>
              <a:srgbClr val="EEF6F0"/>
            </a:solidFill>
            <a:prstDash val="solid"/>
          </a:ln>
        </p:spPr>
      </p:sp>
      <p:sp>
        <p:nvSpPr>
          <p:cNvPr id="14" name="Text 12"/>
          <p:cNvSpPr/>
          <p:nvPr/>
        </p:nvSpPr>
        <p:spPr>
          <a:xfrm>
            <a:off x="658368" y="2002536"/>
            <a:ext cx="40233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2E6B4A"/>
                </a:solidFill>
                <a:latin typeface="Aptos" pitchFamily="34" charset="0"/>
                <a:ea typeface="Aptos" pitchFamily="34" charset="-122"/>
                <a:cs typeface="Aptos" pitchFamily="34" charset="-120"/>
              </a:rPr>
              <a:t>01</a:t>
            </a:r>
            <a:endParaRPr lang="en-US" sz="720" dirty="0"/>
          </a:p>
        </p:txBody>
      </p:sp>
      <p:sp>
        <p:nvSpPr>
          <p:cNvPr id="15" name="Text 13"/>
          <p:cNvSpPr/>
          <p:nvPr/>
        </p:nvSpPr>
        <p:spPr>
          <a:xfrm>
            <a:off x="667512" y="2359152"/>
            <a:ext cx="1353312" cy="228600"/>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Understand</a:t>
            </a:r>
            <a:endParaRPr lang="en-US" sz="1250" dirty="0"/>
          </a:p>
        </p:txBody>
      </p:sp>
      <p:sp>
        <p:nvSpPr>
          <p:cNvPr id="16" name="Text 14"/>
          <p:cNvSpPr/>
          <p:nvPr/>
        </p:nvSpPr>
        <p:spPr>
          <a:xfrm>
            <a:off x="667512" y="2615184"/>
            <a:ext cx="1344168" cy="283464"/>
          </a:xfrm>
          <a:prstGeom prst="rect">
            <a:avLst/>
          </a:prstGeom>
          <a:noFill/>
          <a:ln/>
        </p:spPr>
        <p:txBody>
          <a:bodyPr wrap="square" lIns="0" tIns="0" rIns="0" bIns="0" rtlCol="0" anchor="t">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Build an approved requirement map</a:t>
            </a:r>
            <a:endParaRPr lang="en-US" sz="880" dirty="0"/>
          </a:p>
        </p:txBody>
      </p:sp>
      <p:sp>
        <p:nvSpPr>
          <p:cNvPr id="17" name="Shape 15"/>
          <p:cNvSpPr/>
          <p:nvPr/>
        </p:nvSpPr>
        <p:spPr>
          <a:xfrm>
            <a:off x="2157984" y="2441448"/>
            <a:ext cx="219456" cy="1344168"/>
          </a:xfrm>
          <a:prstGeom prst="line">
            <a:avLst/>
          </a:prstGeom>
          <a:noFill/>
          <a:ln w="19050">
            <a:solidFill>
              <a:srgbClr val="C9D2CA"/>
            </a:solidFill>
            <a:prstDash val="solid"/>
            <a:tailEnd type="triangle"/>
          </a:ln>
        </p:spPr>
      </p:sp>
      <p:sp>
        <p:nvSpPr>
          <p:cNvPr id="18" name="Shape 16"/>
          <p:cNvSpPr/>
          <p:nvPr/>
        </p:nvSpPr>
        <p:spPr>
          <a:xfrm>
            <a:off x="2432304" y="3218688"/>
            <a:ext cx="1627632" cy="1133856"/>
          </a:xfrm>
          <a:prstGeom prst="roundRect">
            <a:avLst>
              <a:gd name="adj" fmla="val 9677"/>
            </a:avLst>
          </a:prstGeom>
          <a:solidFill>
            <a:srgbClr val="FFFFFF"/>
          </a:solidFill>
          <a:ln w="12700">
            <a:solidFill>
              <a:srgbClr val="DDE3DD"/>
            </a:solidFill>
            <a:prstDash val="solid"/>
          </a:ln>
        </p:spPr>
      </p:sp>
      <p:sp>
        <p:nvSpPr>
          <p:cNvPr id="19" name="Shape 17"/>
          <p:cNvSpPr/>
          <p:nvPr/>
        </p:nvSpPr>
        <p:spPr>
          <a:xfrm>
            <a:off x="2560320" y="3346704"/>
            <a:ext cx="402336" cy="310896"/>
          </a:xfrm>
          <a:prstGeom prst="roundRect">
            <a:avLst>
              <a:gd name="adj" fmla="val 50000"/>
            </a:avLst>
          </a:prstGeom>
          <a:solidFill>
            <a:srgbClr val="EAF2F7"/>
          </a:solidFill>
          <a:ln w="12700">
            <a:solidFill>
              <a:srgbClr val="EAF2F7"/>
            </a:solidFill>
            <a:prstDash val="solid"/>
          </a:ln>
        </p:spPr>
      </p:sp>
      <p:sp>
        <p:nvSpPr>
          <p:cNvPr id="20" name="Text 18"/>
          <p:cNvSpPr/>
          <p:nvPr/>
        </p:nvSpPr>
        <p:spPr>
          <a:xfrm>
            <a:off x="2560320" y="3346704"/>
            <a:ext cx="40233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426B87"/>
                </a:solidFill>
                <a:latin typeface="Aptos" pitchFamily="34" charset="0"/>
                <a:ea typeface="Aptos" pitchFamily="34" charset="-122"/>
                <a:cs typeface="Aptos" pitchFamily="34" charset="-120"/>
              </a:rPr>
              <a:t>02</a:t>
            </a:r>
            <a:endParaRPr lang="en-US" sz="720" dirty="0"/>
          </a:p>
        </p:txBody>
      </p:sp>
      <p:sp>
        <p:nvSpPr>
          <p:cNvPr id="21" name="Text 19"/>
          <p:cNvSpPr/>
          <p:nvPr/>
        </p:nvSpPr>
        <p:spPr>
          <a:xfrm>
            <a:off x="2569464" y="3703320"/>
            <a:ext cx="1353312" cy="228600"/>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Extract</a:t>
            </a:r>
            <a:endParaRPr lang="en-US" sz="1250" dirty="0"/>
          </a:p>
        </p:txBody>
      </p:sp>
      <p:sp>
        <p:nvSpPr>
          <p:cNvPr id="22" name="Text 20"/>
          <p:cNvSpPr/>
          <p:nvPr/>
        </p:nvSpPr>
        <p:spPr>
          <a:xfrm>
            <a:off x="2569464" y="3959352"/>
            <a:ext cx="1344168" cy="283464"/>
          </a:xfrm>
          <a:prstGeom prst="rect">
            <a:avLst/>
          </a:prstGeom>
          <a:noFill/>
          <a:ln/>
        </p:spPr>
        <p:txBody>
          <a:bodyPr wrap="square" lIns="0" tIns="0" rIns="0" bIns="0" rtlCol="0" anchor="t">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Read PDF, DOCX, TXT, MD and cover notes</a:t>
            </a:r>
            <a:endParaRPr lang="en-US" sz="880" dirty="0"/>
          </a:p>
        </p:txBody>
      </p:sp>
      <p:sp>
        <p:nvSpPr>
          <p:cNvPr id="23" name="Shape 21"/>
          <p:cNvSpPr/>
          <p:nvPr/>
        </p:nvSpPr>
        <p:spPr>
          <a:xfrm>
            <a:off x="4059936" y="3785616"/>
            <a:ext cx="219456" cy="-1344168"/>
          </a:xfrm>
          <a:prstGeom prst="line">
            <a:avLst/>
          </a:prstGeom>
          <a:noFill/>
          <a:ln w="19050">
            <a:solidFill>
              <a:srgbClr val="C9D2CA"/>
            </a:solidFill>
            <a:prstDash val="solid"/>
            <a:tailEnd type="triangle"/>
          </a:ln>
        </p:spPr>
      </p:sp>
      <p:sp>
        <p:nvSpPr>
          <p:cNvPr id="24" name="Shape 22"/>
          <p:cNvSpPr/>
          <p:nvPr/>
        </p:nvSpPr>
        <p:spPr>
          <a:xfrm>
            <a:off x="4334256" y="1874520"/>
            <a:ext cx="1627632" cy="1133856"/>
          </a:xfrm>
          <a:prstGeom prst="roundRect">
            <a:avLst>
              <a:gd name="adj" fmla="val 9677"/>
            </a:avLst>
          </a:prstGeom>
          <a:solidFill>
            <a:srgbClr val="FFFFFF"/>
          </a:solidFill>
          <a:ln w="12700">
            <a:solidFill>
              <a:srgbClr val="DDE3DD"/>
            </a:solidFill>
            <a:prstDash val="solid"/>
          </a:ln>
        </p:spPr>
      </p:sp>
      <p:sp>
        <p:nvSpPr>
          <p:cNvPr id="25" name="Shape 23"/>
          <p:cNvSpPr/>
          <p:nvPr/>
        </p:nvSpPr>
        <p:spPr>
          <a:xfrm>
            <a:off x="4462272" y="2002536"/>
            <a:ext cx="402336" cy="310896"/>
          </a:xfrm>
          <a:prstGeom prst="roundRect">
            <a:avLst>
              <a:gd name="adj" fmla="val 50000"/>
            </a:avLst>
          </a:prstGeom>
          <a:solidFill>
            <a:srgbClr val="F8E7ED"/>
          </a:solidFill>
          <a:ln w="12700">
            <a:solidFill>
              <a:srgbClr val="F8E7ED"/>
            </a:solidFill>
            <a:prstDash val="solid"/>
          </a:ln>
        </p:spPr>
      </p:sp>
      <p:sp>
        <p:nvSpPr>
          <p:cNvPr id="26" name="Text 24"/>
          <p:cNvSpPr/>
          <p:nvPr/>
        </p:nvSpPr>
        <p:spPr>
          <a:xfrm>
            <a:off x="4462272" y="2002536"/>
            <a:ext cx="40233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C12E60"/>
                </a:solidFill>
                <a:latin typeface="Aptos" pitchFamily="34" charset="0"/>
                <a:ea typeface="Aptos" pitchFamily="34" charset="-122"/>
                <a:cs typeface="Aptos" pitchFamily="34" charset="-120"/>
              </a:rPr>
              <a:t>03</a:t>
            </a:r>
            <a:endParaRPr lang="en-US" sz="720" dirty="0"/>
          </a:p>
        </p:txBody>
      </p:sp>
      <p:sp>
        <p:nvSpPr>
          <p:cNvPr id="27" name="Text 25"/>
          <p:cNvSpPr/>
          <p:nvPr/>
        </p:nvSpPr>
        <p:spPr>
          <a:xfrm>
            <a:off x="4471416" y="2359152"/>
            <a:ext cx="1353312" cy="228600"/>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Verify</a:t>
            </a:r>
            <a:endParaRPr lang="en-US" sz="1250" dirty="0"/>
          </a:p>
        </p:txBody>
      </p:sp>
      <p:sp>
        <p:nvSpPr>
          <p:cNvPr id="28" name="Text 26"/>
          <p:cNvSpPr/>
          <p:nvPr/>
        </p:nvSpPr>
        <p:spPr>
          <a:xfrm>
            <a:off x="4471416" y="2615184"/>
            <a:ext cx="1344168" cy="283464"/>
          </a:xfrm>
          <a:prstGeom prst="rect">
            <a:avLst/>
          </a:prstGeom>
          <a:noFill/>
          <a:ln/>
        </p:spPr>
        <p:txBody>
          <a:bodyPr wrap="square" lIns="0" tIns="0" rIns="0" bIns="0" rtlCol="0" anchor="t">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Find claims, actions, context and outcomes</a:t>
            </a:r>
            <a:endParaRPr lang="en-US" sz="880" dirty="0"/>
          </a:p>
        </p:txBody>
      </p:sp>
      <p:sp>
        <p:nvSpPr>
          <p:cNvPr id="29" name="Shape 27"/>
          <p:cNvSpPr/>
          <p:nvPr/>
        </p:nvSpPr>
        <p:spPr>
          <a:xfrm>
            <a:off x="5961888" y="2441448"/>
            <a:ext cx="219456" cy="1344168"/>
          </a:xfrm>
          <a:prstGeom prst="line">
            <a:avLst/>
          </a:prstGeom>
          <a:noFill/>
          <a:ln w="19050">
            <a:solidFill>
              <a:srgbClr val="C9D2CA"/>
            </a:solidFill>
            <a:prstDash val="solid"/>
            <a:tailEnd type="triangle"/>
          </a:ln>
        </p:spPr>
      </p:sp>
      <p:sp>
        <p:nvSpPr>
          <p:cNvPr id="30" name="Shape 28"/>
          <p:cNvSpPr/>
          <p:nvPr/>
        </p:nvSpPr>
        <p:spPr>
          <a:xfrm>
            <a:off x="6236208" y="3218688"/>
            <a:ext cx="1627632" cy="1133856"/>
          </a:xfrm>
          <a:prstGeom prst="roundRect">
            <a:avLst>
              <a:gd name="adj" fmla="val 9677"/>
            </a:avLst>
          </a:prstGeom>
          <a:solidFill>
            <a:srgbClr val="FFFFFF"/>
          </a:solidFill>
          <a:ln w="12700">
            <a:solidFill>
              <a:srgbClr val="DDE3DD"/>
            </a:solidFill>
            <a:prstDash val="solid"/>
          </a:ln>
        </p:spPr>
      </p:sp>
      <p:sp>
        <p:nvSpPr>
          <p:cNvPr id="31" name="Shape 29"/>
          <p:cNvSpPr/>
          <p:nvPr/>
        </p:nvSpPr>
        <p:spPr>
          <a:xfrm>
            <a:off x="6364224" y="3346704"/>
            <a:ext cx="402336" cy="310896"/>
          </a:xfrm>
          <a:prstGeom prst="roundRect">
            <a:avLst>
              <a:gd name="adj" fmla="val 50000"/>
            </a:avLst>
          </a:prstGeom>
          <a:solidFill>
            <a:srgbClr val="F8E7ED"/>
          </a:solidFill>
          <a:ln w="12700">
            <a:solidFill>
              <a:srgbClr val="F8E7ED"/>
            </a:solidFill>
            <a:prstDash val="solid"/>
          </a:ln>
        </p:spPr>
      </p:sp>
      <p:sp>
        <p:nvSpPr>
          <p:cNvPr id="32" name="Text 30"/>
          <p:cNvSpPr/>
          <p:nvPr/>
        </p:nvSpPr>
        <p:spPr>
          <a:xfrm>
            <a:off x="6364224" y="3346704"/>
            <a:ext cx="40233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B4443B"/>
                </a:solidFill>
                <a:latin typeface="Aptos" pitchFamily="34" charset="0"/>
                <a:ea typeface="Aptos" pitchFamily="34" charset="-122"/>
                <a:cs typeface="Aptos" pitchFamily="34" charset="-120"/>
              </a:rPr>
              <a:t>04</a:t>
            </a:r>
            <a:endParaRPr lang="en-US" sz="720" dirty="0"/>
          </a:p>
        </p:txBody>
      </p:sp>
      <p:sp>
        <p:nvSpPr>
          <p:cNvPr id="33" name="Text 31"/>
          <p:cNvSpPr/>
          <p:nvPr/>
        </p:nvSpPr>
        <p:spPr>
          <a:xfrm>
            <a:off x="6373368" y="3703320"/>
            <a:ext cx="1353312" cy="228600"/>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Challenge</a:t>
            </a:r>
            <a:endParaRPr lang="en-US" sz="1250" dirty="0"/>
          </a:p>
        </p:txBody>
      </p:sp>
      <p:sp>
        <p:nvSpPr>
          <p:cNvPr id="34" name="Text 32"/>
          <p:cNvSpPr/>
          <p:nvPr/>
        </p:nvSpPr>
        <p:spPr>
          <a:xfrm>
            <a:off x="6373368" y="3959352"/>
            <a:ext cx="1344168" cy="283464"/>
          </a:xfrm>
          <a:prstGeom prst="rect">
            <a:avLst/>
          </a:prstGeom>
          <a:noFill/>
          <a:ln/>
        </p:spPr>
        <p:txBody>
          <a:bodyPr wrap="square" lIns="0" tIns="0" rIns="0" bIns="0" rtlCol="0" anchor="t">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Detect conflicts and unsupported statements</a:t>
            </a:r>
            <a:endParaRPr lang="en-US" sz="880" dirty="0"/>
          </a:p>
        </p:txBody>
      </p:sp>
      <p:sp>
        <p:nvSpPr>
          <p:cNvPr id="35" name="Shape 33"/>
          <p:cNvSpPr/>
          <p:nvPr/>
        </p:nvSpPr>
        <p:spPr>
          <a:xfrm>
            <a:off x="7863840" y="3785616"/>
            <a:ext cx="219456" cy="-1344168"/>
          </a:xfrm>
          <a:prstGeom prst="line">
            <a:avLst/>
          </a:prstGeom>
          <a:noFill/>
          <a:ln w="19050">
            <a:solidFill>
              <a:srgbClr val="C9D2CA"/>
            </a:solidFill>
            <a:prstDash val="solid"/>
            <a:tailEnd type="triangle"/>
          </a:ln>
        </p:spPr>
      </p:sp>
      <p:sp>
        <p:nvSpPr>
          <p:cNvPr id="36" name="Shape 34"/>
          <p:cNvSpPr/>
          <p:nvPr/>
        </p:nvSpPr>
        <p:spPr>
          <a:xfrm>
            <a:off x="8138160" y="1874520"/>
            <a:ext cx="1627632" cy="1133856"/>
          </a:xfrm>
          <a:prstGeom prst="roundRect">
            <a:avLst>
              <a:gd name="adj" fmla="val 9677"/>
            </a:avLst>
          </a:prstGeom>
          <a:solidFill>
            <a:srgbClr val="FFFFFF"/>
          </a:solidFill>
          <a:ln w="12700">
            <a:solidFill>
              <a:srgbClr val="DDE3DD"/>
            </a:solidFill>
            <a:prstDash val="solid"/>
          </a:ln>
        </p:spPr>
      </p:sp>
      <p:sp>
        <p:nvSpPr>
          <p:cNvPr id="37" name="Shape 35"/>
          <p:cNvSpPr/>
          <p:nvPr/>
        </p:nvSpPr>
        <p:spPr>
          <a:xfrm>
            <a:off x="8266176" y="2002536"/>
            <a:ext cx="402336" cy="310896"/>
          </a:xfrm>
          <a:prstGeom prst="roundRect">
            <a:avLst>
              <a:gd name="adj" fmla="val 50000"/>
            </a:avLst>
          </a:prstGeom>
          <a:solidFill>
            <a:srgbClr val="FBF0D9"/>
          </a:solidFill>
          <a:ln w="12700">
            <a:solidFill>
              <a:srgbClr val="FBF0D9"/>
            </a:solidFill>
            <a:prstDash val="solid"/>
          </a:ln>
        </p:spPr>
      </p:sp>
      <p:sp>
        <p:nvSpPr>
          <p:cNvPr id="38" name="Text 36"/>
          <p:cNvSpPr/>
          <p:nvPr/>
        </p:nvSpPr>
        <p:spPr>
          <a:xfrm>
            <a:off x="8266176" y="2002536"/>
            <a:ext cx="40233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B07B25"/>
                </a:solidFill>
                <a:latin typeface="Aptos" pitchFamily="34" charset="0"/>
                <a:ea typeface="Aptos" pitchFamily="34" charset="-122"/>
                <a:cs typeface="Aptos" pitchFamily="34" charset="-120"/>
              </a:rPr>
              <a:t>05</a:t>
            </a:r>
            <a:endParaRPr lang="en-US" sz="720" dirty="0"/>
          </a:p>
        </p:txBody>
      </p:sp>
      <p:sp>
        <p:nvSpPr>
          <p:cNvPr id="39" name="Text 37"/>
          <p:cNvSpPr/>
          <p:nvPr/>
        </p:nvSpPr>
        <p:spPr>
          <a:xfrm>
            <a:off x="8275320" y="2359152"/>
            <a:ext cx="1353312" cy="228600"/>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Compare</a:t>
            </a:r>
            <a:endParaRPr lang="en-US" sz="1250" dirty="0"/>
          </a:p>
        </p:txBody>
      </p:sp>
      <p:sp>
        <p:nvSpPr>
          <p:cNvPr id="40" name="Text 38"/>
          <p:cNvSpPr/>
          <p:nvPr/>
        </p:nvSpPr>
        <p:spPr>
          <a:xfrm>
            <a:off x="8275320" y="2615184"/>
            <a:ext cx="1344168" cy="283464"/>
          </a:xfrm>
          <a:prstGeom prst="rect">
            <a:avLst/>
          </a:prstGeom>
          <a:noFill/>
          <a:ln/>
        </p:spPr>
        <p:txBody>
          <a:bodyPr wrap="square" lIns="0" tIns="0" rIns="0" bIns="0" rtlCol="0" anchor="t">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Expose strengths, gaps, salary and experience</a:t>
            </a:r>
            <a:endParaRPr lang="en-US" sz="880" dirty="0"/>
          </a:p>
        </p:txBody>
      </p:sp>
      <p:sp>
        <p:nvSpPr>
          <p:cNvPr id="41" name="Shape 39"/>
          <p:cNvSpPr/>
          <p:nvPr/>
        </p:nvSpPr>
        <p:spPr>
          <a:xfrm>
            <a:off x="9765792" y="2441448"/>
            <a:ext cx="219456" cy="1344168"/>
          </a:xfrm>
          <a:prstGeom prst="line">
            <a:avLst/>
          </a:prstGeom>
          <a:noFill/>
          <a:ln w="19050">
            <a:solidFill>
              <a:srgbClr val="C9D2CA"/>
            </a:solidFill>
            <a:prstDash val="solid"/>
            <a:tailEnd type="triangle"/>
          </a:ln>
        </p:spPr>
      </p:sp>
      <p:sp>
        <p:nvSpPr>
          <p:cNvPr id="42" name="Shape 40"/>
          <p:cNvSpPr/>
          <p:nvPr/>
        </p:nvSpPr>
        <p:spPr>
          <a:xfrm>
            <a:off x="10040112" y="3218688"/>
            <a:ext cx="1627632" cy="1133856"/>
          </a:xfrm>
          <a:prstGeom prst="roundRect">
            <a:avLst>
              <a:gd name="adj" fmla="val 9677"/>
            </a:avLst>
          </a:prstGeom>
          <a:solidFill>
            <a:srgbClr val="FFFFFF"/>
          </a:solidFill>
          <a:ln w="12700">
            <a:solidFill>
              <a:srgbClr val="DDE3DD"/>
            </a:solidFill>
            <a:prstDash val="solid"/>
          </a:ln>
        </p:spPr>
      </p:sp>
      <p:sp>
        <p:nvSpPr>
          <p:cNvPr id="43" name="Shape 41"/>
          <p:cNvSpPr/>
          <p:nvPr/>
        </p:nvSpPr>
        <p:spPr>
          <a:xfrm>
            <a:off x="10168128" y="3346704"/>
            <a:ext cx="402336" cy="310896"/>
          </a:xfrm>
          <a:prstGeom prst="roundRect">
            <a:avLst>
              <a:gd name="adj" fmla="val 50000"/>
            </a:avLst>
          </a:prstGeom>
          <a:solidFill>
            <a:srgbClr val="EEF6F0"/>
          </a:solidFill>
          <a:ln w="12700">
            <a:solidFill>
              <a:srgbClr val="EEF6F0"/>
            </a:solidFill>
            <a:prstDash val="solid"/>
          </a:ln>
        </p:spPr>
      </p:sp>
      <p:sp>
        <p:nvSpPr>
          <p:cNvPr id="44" name="Text 42"/>
          <p:cNvSpPr/>
          <p:nvPr/>
        </p:nvSpPr>
        <p:spPr>
          <a:xfrm>
            <a:off x="10168128" y="3346704"/>
            <a:ext cx="40233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2E6B4A"/>
                </a:solidFill>
                <a:latin typeface="Aptos" pitchFamily="34" charset="0"/>
                <a:ea typeface="Aptos" pitchFamily="34" charset="-122"/>
                <a:cs typeface="Aptos" pitchFamily="34" charset="-120"/>
              </a:rPr>
              <a:t>06</a:t>
            </a:r>
            <a:endParaRPr lang="en-US" sz="720" dirty="0"/>
          </a:p>
        </p:txBody>
      </p:sp>
      <p:sp>
        <p:nvSpPr>
          <p:cNvPr id="45" name="Text 43"/>
          <p:cNvSpPr/>
          <p:nvPr/>
        </p:nvSpPr>
        <p:spPr>
          <a:xfrm>
            <a:off x="10177272" y="3703320"/>
            <a:ext cx="1353312" cy="228600"/>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Report</a:t>
            </a:r>
            <a:endParaRPr lang="en-US" sz="1250" dirty="0"/>
          </a:p>
        </p:txBody>
      </p:sp>
      <p:sp>
        <p:nvSpPr>
          <p:cNvPr id="46" name="Text 44"/>
          <p:cNvSpPr/>
          <p:nvPr/>
        </p:nvSpPr>
        <p:spPr>
          <a:xfrm>
            <a:off x="10177272" y="3959352"/>
            <a:ext cx="1344168" cy="283464"/>
          </a:xfrm>
          <a:prstGeom prst="rect">
            <a:avLst/>
          </a:prstGeom>
          <a:noFill/>
          <a:ln/>
        </p:spPr>
        <p:txBody>
          <a:bodyPr wrap="square" lIns="0" tIns="0" rIns="0" bIns="0" rtlCol="0" anchor="t">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Shortlist, pool insights and Excel workbook</a:t>
            </a:r>
            <a:endParaRPr lang="en-US" sz="880" dirty="0"/>
          </a:p>
        </p:txBody>
      </p:sp>
      <p:sp>
        <p:nvSpPr>
          <p:cNvPr id="47" name="Shape 45"/>
          <p:cNvSpPr/>
          <p:nvPr/>
        </p:nvSpPr>
        <p:spPr>
          <a:xfrm>
            <a:off x="1554480" y="4892040"/>
            <a:ext cx="9070848" cy="530352"/>
          </a:xfrm>
          <a:prstGeom prst="roundRect">
            <a:avLst>
              <a:gd name="adj" fmla="val 20690"/>
            </a:avLst>
          </a:prstGeom>
          <a:solidFill>
            <a:srgbClr val="EEF6F0"/>
          </a:solidFill>
          <a:ln w="12700">
            <a:solidFill>
              <a:srgbClr val="DDEDE2"/>
            </a:solidFill>
            <a:prstDash val="solid"/>
          </a:ln>
        </p:spPr>
      </p:sp>
      <p:sp>
        <p:nvSpPr>
          <p:cNvPr id="48" name="Text 46"/>
          <p:cNvSpPr/>
          <p:nvPr/>
        </p:nvSpPr>
        <p:spPr>
          <a:xfrm>
            <a:off x="1828800" y="5038344"/>
            <a:ext cx="128016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2E6B4A"/>
                </a:solidFill>
                <a:latin typeface="Aptos" pitchFamily="34" charset="0"/>
                <a:ea typeface="Aptos" pitchFamily="34" charset="-122"/>
                <a:cs typeface="Aptos" pitchFamily="34" charset="-120"/>
              </a:rPr>
              <a:t>OUTPUT PRINCIPLE</a:t>
            </a:r>
            <a:endParaRPr lang="en-US" sz="800" dirty="0"/>
          </a:p>
        </p:txBody>
      </p:sp>
      <p:sp>
        <p:nvSpPr>
          <p:cNvPr id="49" name="Text 47"/>
          <p:cNvSpPr/>
          <p:nvPr/>
        </p:nvSpPr>
        <p:spPr>
          <a:xfrm>
            <a:off x="3127248" y="4983480"/>
            <a:ext cx="7178040" cy="256032"/>
          </a:xfrm>
          <a:prstGeom prst="rect">
            <a:avLst/>
          </a:prstGeom>
          <a:noFill/>
          <a:ln/>
        </p:spPr>
        <p:txBody>
          <a:bodyPr wrap="square" lIns="0" tIns="0" rIns="0" bIns="0" rtlCol="0" anchor="ctr">
            <a:normAutofit/>
          </a:bodyPr>
          <a:lstStyle/>
          <a:p>
            <a:pPr algn="l" indent="0" marL="0">
              <a:buNone/>
            </a:pPr>
            <a:r>
              <a:rPr lang="en-US" sz="1150" b="1" dirty="0">
                <a:solidFill>
                  <a:srgbClr val="1D5036"/>
                </a:solidFill>
                <a:latin typeface="Aptos" pitchFamily="34" charset="0"/>
                <a:ea typeface="Aptos" pitchFamily="34" charset="-122"/>
                <a:cs typeface="Aptos" pitchFamily="34" charset="-120"/>
              </a:rPr>
              <a:t>Every result links back to the criterion, recognized term, source passage, and reasoning used.</a:t>
            </a:r>
            <a:endParaRPr lang="en-US" sz="1150" dirty="0"/>
          </a:p>
        </p:txBody>
      </p:sp>
      <p:sp>
        <p:nvSpPr>
          <p:cNvPr id="50" name="Shape 48"/>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1" name="Shape 49"/>
          <p:cNvSpPr/>
          <p:nvPr/>
        </p:nvSpPr>
        <p:spPr>
          <a:xfrm>
            <a:off x="685800" y="6044184"/>
            <a:ext cx="164592" cy="164592"/>
          </a:xfrm>
          <a:prstGeom prst="ellipse">
            <a:avLst/>
          </a:prstGeom>
          <a:solidFill>
            <a:srgbClr val="CDEB8B"/>
          </a:solidFill>
          <a:ln w="12700">
            <a:solidFill>
              <a:srgbClr val="CDEB8B"/>
            </a:solidFill>
            <a:prstDash val="solid"/>
          </a:ln>
        </p:spPr>
      </p:sp>
      <p:sp>
        <p:nvSpPr>
          <p:cNvPr id="52" name="Text 50"/>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3" name="Text 51"/>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Walk left to right: requirement understanding happens before candidate ranking.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INNOVATION</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05</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What makes Verity different</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We separate understanding, evidence, policy, and presentation.</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73936"/>
            <a:ext cx="5440680" cy="3904488"/>
          </a:xfrm>
          <a:prstGeom prst="roundRect">
            <a:avLst>
              <a:gd name="adj" fmla="val 2810"/>
            </a:avLst>
          </a:prstGeom>
          <a:solidFill>
            <a:srgbClr val="F9EAE8"/>
          </a:solidFill>
          <a:ln w="12700">
            <a:solidFill>
              <a:srgbClr val="F9EAE8"/>
            </a:solidFill>
            <a:prstDash val="solid"/>
          </a:ln>
        </p:spPr>
      </p:sp>
      <p:sp>
        <p:nvSpPr>
          <p:cNvPr id="13" name="Shape 11"/>
          <p:cNvSpPr/>
          <p:nvPr/>
        </p:nvSpPr>
        <p:spPr>
          <a:xfrm>
            <a:off x="6199632" y="1773936"/>
            <a:ext cx="5440680" cy="3904488"/>
          </a:xfrm>
          <a:prstGeom prst="roundRect">
            <a:avLst>
              <a:gd name="adj" fmla="val 2810"/>
            </a:avLst>
          </a:prstGeom>
          <a:solidFill>
            <a:srgbClr val="EEF6F0"/>
          </a:solidFill>
          <a:ln w="12700">
            <a:solidFill>
              <a:srgbClr val="DDEDE2"/>
            </a:solidFill>
            <a:prstDash val="solid"/>
          </a:ln>
        </p:spPr>
      </p:sp>
      <p:sp>
        <p:nvSpPr>
          <p:cNvPr id="14" name="Shape 12"/>
          <p:cNvSpPr/>
          <p:nvPr/>
        </p:nvSpPr>
        <p:spPr>
          <a:xfrm>
            <a:off x="841248" y="2011680"/>
            <a:ext cx="1280160" cy="310896"/>
          </a:xfrm>
          <a:prstGeom prst="roundRect">
            <a:avLst>
              <a:gd name="adj" fmla="val 50000"/>
            </a:avLst>
          </a:prstGeom>
          <a:solidFill>
            <a:srgbClr val="FFFFFF"/>
          </a:solidFill>
          <a:ln w="12700">
            <a:solidFill>
              <a:srgbClr val="FFFFFF"/>
            </a:solidFill>
            <a:prstDash val="solid"/>
          </a:ln>
        </p:spPr>
      </p:sp>
      <p:sp>
        <p:nvSpPr>
          <p:cNvPr id="15" name="Text 13"/>
          <p:cNvSpPr/>
          <p:nvPr/>
        </p:nvSpPr>
        <p:spPr>
          <a:xfrm>
            <a:off x="841248" y="2011680"/>
            <a:ext cx="1280160" cy="310896"/>
          </a:xfrm>
          <a:prstGeom prst="rect">
            <a:avLst/>
          </a:prstGeom>
          <a:noFill/>
          <a:ln/>
        </p:spPr>
        <p:txBody>
          <a:bodyPr wrap="square" lIns="0" tIns="0" rIns="0" bIns="0" rtlCol="0" anchor="ctr">
            <a:normAutofit/>
          </a:bodyPr>
          <a:lstStyle/>
          <a:p>
            <a:pPr algn="ctr" indent="0" marL="0">
              <a:buNone/>
            </a:pPr>
            <a:r>
              <a:rPr lang="en-US" sz="800" b="1" spc="120" kern="0" dirty="0">
                <a:solidFill>
                  <a:srgbClr val="B4443B"/>
                </a:solidFill>
                <a:latin typeface="Aptos" pitchFamily="34" charset="0"/>
                <a:ea typeface="Aptos" pitchFamily="34" charset="-122"/>
                <a:cs typeface="Aptos" pitchFamily="34" charset="-120"/>
              </a:rPr>
              <a:t>ORDINARY ATS</a:t>
            </a:r>
            <a:endParaRPr lang="en-US" sz="800" dirty="0"/>
          </a:p>
        </p:txBody>
      </p:sp>
      <p:sp>
        <p:nvSpPr>
          <p:cNvPr id="16" name="Shape 14"/>
          <p:cNvSpPr/>
          <p:nvPr/>
        </p:nvSpPr>
        <p:spPr>
          <a:xfrm>
            <a:off x="6473952" y="2011680"/>
            <a:ext cx="941832" cy="310896"/>
          </a:xfrm>
          <a:prstGeom prst="roundRect">
            <a:avLst>
              <a:gd name="adj" fmla="val 50000"/>
            </a:avLst>
          </a:prstGeom>
          <a:solidFill>
            <a:srgbClr val="FFFFFF"/>
          </a:solidFill>
          <a:ln w="12700">
            <a:solidFill>
              <a:srgbClr val="FFFFFF"/>
            </a:solidFill>
            <a:prstDash val="solid"/>
          </a:ln>
        </p:spPr>
      </p:sp>
      <p:sp>
        <p:nvSpPr>
          <p:cNvPr id="17" name="Text 15"/>
          <p:cNvSpPr/>
          <p:nvPr/>
        </p:nvSpPr>
        <p:spPr>
          <a:xfrm>
            <a:off x="6473952" y="2011680"/>
            <a:ext cx="941832" cy="310896"/>
          </a:xfrm>
          <a:prstGeom prst="rect">
            <a:avLst/>
          </a:prstGeom>
          <a:noFill/>
          <a:ln/>
        </p:spPr>
        <p:txBody>
          <a:bodyPr wrap="square" lIns="0" tIns="0" rIns="0" bIns="0" rtlCol="0" anchor="ctr">
            <a:normAutofit/>
          </a:bodyPr>
          <a:lstStyle/>
          <a:p>
            <a:pPr algn="ctr" indent="0" marL="0">
              <a:buNone/>
            </a:pPr>
            <a:r>
              <a:rPr lang="en-US" sz="800" b="1" spc="120" kern="0" dirty="0">
                <a:solidFill>
                  <a:srgbClr val="2E6B4A"/>
                </a:solidFill>
                <a:latin typeface="Aptos" pitchFamily="34" charset="0"/>
                <a:ea typeface="Aptos" pitchFamily="34" charset="-122"/>
                <a:cs typeface="Aptos" pitchFamily="34" charset="-120"/>
              </a:rPr>
              <a:t>VERITY</a:t>
            </a:r>
            <a:endParaRPr lang="en-US" sz="800" dirty="0"/>
          </a:p>
        </p:txBody>
      </p:sp>
      <p:sp>
        <p:nvSpPr>
          <p:cNvPr id="18" name="Shape 16"/>
          <p:cNvSpPr/>
          <p:nvPr/>
        </p:nvSpPr>
        <p:spPr>
          <a:xfrm>
            <a:off x="859536" y="2578608"/>
            <a:ext cx="182880" cy="182880"/>
          </a:xfrm>
          <a:prstGeom prst="ellipse">
            <a:avLst/>
          </a:prstGeom>
          <a:solidFill>
            <a:srgbClr val="B4443B"/>
          </a:solidFill>
          <a:ln w="12700">
            <a:solidFill>
              <a:srgbClr val="B4443B"/>
            </a:solidFill>
            <a:prstDash val="solid"/>
          </a:ln>
        </p:spPr>
      </p:sp>
      <p:sp>
        <p:nvSpPr>
          <p:cNvPr id="19" name="Text 17"/>
          <p:cNvSpPr/>
          <p:nvPr/>
        </p:nvSpPr>
        <p:spPr>
          <a:xfrm>
            <a:off x="859536" y="2569464"/>
            <a:ext cx="182880"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20" name="Text 18"/>
          <p:cNvSpPr/>
          <p:nvPr/>
        </p:nvSpPr>
        <p:spPr>
          <a:xfrm>
            <a:off x="1161288" y="2523744"/>
            <a:ext cx="4343400"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Exact keyword search</a:t>
            </a:r>
            <a:endParaRPr lang="en-US" sz="1150" dirty="0"/>
          </a:p>
        </p:txBody>
      </p:sp>
      <p:sp>
        <p:nvSpPr>
          <p:cNvPr id="21" name="Shape 19"/>
          <p:cNvSpPr/>
          <p:nvPr/>
        </p:nvSpPr>
        <p:spPr>
          <a:xfrm>
            <a:off x="6492240" y="2578608"/>
            <a:ext cx="182880" cy="182880"/>
          </a:xfrm>
          <a:prstGeom prst="ellipse">
            <a:avLst/>
          </a:prstGeom>
          <a:solidFill>
            <a:srgbClr val="2E6B4A"/>
          </a:solidFill>
          <a:ln w="12700">
            <a:solidFill>
              <a:srgbClr val="2E6B4A"/>
            </a:solidFill>
            <a:prstDash val="solid"/>
          </a:ln>
        </p:spPr>
      </p:sp>
      <p:sp>
        <p:nvSpPr>
          <p:cNvPr id="22" name="Text 20"/>
          <p:cNvSpPr/>
          <p:nvPr/>
        </p:nvSpPr>
        <p:spPr>
          <a:xfrm>
            <a:off x="6492240" y="2569464"/>
            <a:ext cx="18288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23" name="Text 21"/>
          <p:cNvSpPr/>
          <p:nvPr/>
        </p:nvSpPr>
        <p:spPr>
          <a:xfrm>
            <a:off x="6793992" y="2523744"/>
            <a:ext cx="4315968"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Approved semantic terminology map</a:t>
            </a:r>
            <a:endParaRPr lang="en-US" sz="1150" dirty="0"/>
          </a:p>
        </p:txBody>
      </p:sp>
      <p:sp>
        <p:nvSpPr>
          <p:cNvPr id="24" name="Shape 22"/>
          <p:cNvSpPr/>
          <p:nvPr/>
        </p:nvSpPr>
        <p:spPr>
          <a:xfrm>
            <a:off x="859536" y="3118104"/>
            <a:ext cx="182880" cy="182880"/>
          </a:xfrm>
          <a:prstGeom prst="ellipse">
            <a:avLst/>
          </a:prstGeom>
          <a:solidFill>
            <a:srgbClr val="B4443B"/>
          </a:solidFill>
          <a:ln w="12700">
            <a:solidFill>
              <a:srgbClr val="B4443B"/>
            </a:solidFill>
            <a:prstDash val="solid"/>
          </a:ln>
        </p:spPr>
      </p:sp>
      <p:sp>
        <p:nvSpPr>
          <p:cNvPr id="25" name="Text 23"/>
          <p:cNvSpPr/>
          <p:nvPr/>
        </p:nvSpPr>
        <p:spPr>
          <a:xfrm>
            <a:off x="859536" y="3108960"/>
            <a:ext cx="182880"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26" name="Text 24"/>
          <p:cNvSpPr/>
          <p:nvPr/>
        </p:nvSpPr>
        <p:spPr>
          <a:xfrm>
            <a:off x="1161288" y="3063240"/>
            <a:ext cx="4343400"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Treats skill list like work evidence</a:t>
            </a:r>
            <a:endParaRPr lang="en-US" sz="1150" dirty="0"/>
          </a:p>
        </p:txBody>
      </p:sp>
      <p:sp>
        <p:nvSpPr>
          <p:cNvPr id="27" name="Shape 25"/>
          <p:cNvSpPr/>
          <p:nvPr/>
        </p:nvSpPr>
        <p:spPr>
          <a:xfrm>
            <a:off x="6492240" y="3118104"/>
            <a:ext cx="182880" cy="182880"/>
          </a:xfrm>
          <a:prstGeom prst="ellipse">
            <a:avLst/>
          </a:prstGeom>
          <a:solidFill>
            <a:srgbClr val="2E6B4A"/>
          </a:solidFill>
          <a:ln w="12700">
            <a:solidFill>
              <a:srgbClr val="2E6B4A"/>
            </a:solidFill>
            <a:prstDash val="solid"/>
          </a:ln>
        </p:spPr>
      </p:sp>
      <p:sp>
        <p:nvSpPr>
          <p:cNvPr id="28" name="Text 26"/>
          <p:cNvSpPr/>
          <p:nvPr/>
        </p:nvSpPr>
        <p:spPr>
          <a:xfrm>
            <a:off x="6492240" y="3108960"/>
            <a:ext cx="18288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29" name="Text 27"/>
          <p:cNvSpPr/>
          <p:nvPr/>
        </p:nvSpPr>
        <p:spPr>
          <a:xfrm>
            <a:off x="6793992" y="3063240"/>
            <a:ext cx="4315968"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Scores claim support and operating context</a:t>
            </a:r>
            <a:endParaRPr lang="en-US" sz="1150" dirty="0"/>
          </a:p>
        </p:txBody>
      </p:sp>
      <p:sp>
        <p:nvSpPr>
          <p:cNvPr id="30" name="Shape 28"/>
          <p:cNvSpPr/>
          <p:nvPr/>
        </p:nvSpPr>
        <p:spPr>
          <a:xfrm>
            <a:off x="859536" y="3657600"/>
            <a:ext cx="182880" cy="182880"/>
          </a:xfrm>
          <a:prstGeom prst="ellipse">
            <a:avLst/>
          </a:prstGeom>
          <a:solidFill>
            <a:srgbClr val="B4443B"/>
          </a:solidFill>
          <a:ln w="12700">
            <a:solidFill>
              <a:srgbClr val="B4443B"/>
            </a:solidFill>
            <a:prstDash val="solid"/>
          </a:ln>
        </p:spPr>
      </p:sp>
      <p:sp>
        <p:nvSpPr>
          <p:cNvPr id="31" name="Text 29"/>
          <p:cNvSpPr/>
          <p:nvPr/>
        </p:nvSpPr>
        <p:spPr>
          <a:xfrm>
            <a:off x="859536" y="3648456"/>
            <a:ext cx="182880"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2" name="Text 30"/>
          <p:cNvSpPr/>
          <p:nvPr/>
        </p:nvSpPr>
        <p:spPr>
          <a:xfrm>
            <a:off x="1161288" y="3602736"/>
            <a:ext cx="4343400"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One opaque match percentage</a:t>
            </a:r>
            <a:endParaRPr lang="en-US" sz="1150" dirty="0"/>
          </a:p>
        </p:txBody>
      </p:sp>
      <p:sp>
        <p:nvSpPr>
          <p:cNvPr id="33" name="Shape 31"/>
          <p:cNvSpPr/>
          <p:nvPr/>
        </p:nvSpPr>
        <p:spPr>
          <a:xfrm>
            <a:off x="6492240" y="3657600"/>
            <a:ext cx="182880" cy="182880"/>
          </a:xfrm>
          <a:prstGeom prst="ellipse">
            <a:avLst/>
          </a:prstGeom>
          <a:solidFill>
            <a:srgbClr val="2E6B4A"/>
          </a:solidFill>
          <a:ln w="12700">
            <a:solidFill>
              <a:srgbClr val="2E6B4A"/>
            </a:solidFill>
            <a:prstDash val="solid"/>
          </a:ln>
        </p:spPr>
      </p:sp>
      <p:sp>
        <p:nvSpPr>
          <p:cNvPr id="34" name="Text 32"/>
          <p:cNvSpPr/>
          <p:nvPr/>
        </p:nvSpPr>
        <p:spPr>
          <a:xfrm>
            <a:off x="6492240" y="3648456"/>
            <a:ext cx="18288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35" name="Text 33"/>
          <p:cNvSpPr/>
          <p:nvPr/>
        </p:nvSpPr>
        <p:spPr>
          <a:xfrm>
            <a:off x="6793992" y="3602736"/>
            <a:ext cx="4315968"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Criterion-level explanation and citations</a:t>
            </a:r>
            <a:endParaRPr lang="en-US" sz="1150" dirty="0"/>
          </a:p>
        </p:txBody>
      </p:sp>
      <p:sp>
        <p:nvSpPr>
          <p:cNvPr id="36" name="Shape 34"/>
          <p:cNvSpPr/>
          <p:nvPr/>
        </p:nvSpPr>
        <p:spPr>
          <a:xfrm>
            <a:off x="859536" y="4197096"/>
            <a:ext cx="182880" cy="182880"/>
          </a:xfrm>
          <a:prstGeom prst="ellipse">
            <a:avLst/>
          </a:prstGeom>
          <a:solidFill>
            <a:srgbClr val="B4443B"/>
          </a:solidFill>
          <a:ln w="12700">
            <a:solidFill>
              <a:srgbClr val="B4443B"/>
            </a:solidFill>
            <a:prstDash val="solid"/>
          </a:ln>
        </p:spPr>
      </p:sp>
      <p:sp>
        <p:nvSpPr>
          <p:cNvPr id="37" name="Text 35"/>
          <p:cNvSpPr/>
          <p:nvPr/>
        </p:nvSpPr>
        <p:spPr>
          <a:xfrm>
            <a:off x="859536" y="4187952"/>
            <a:ext cx="182880"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38" name="Text 36"/>
          <p:cNvSpPr/>
          <p:nvPr/>
        </p:nvSpPr>
        <p:spPr>
          <a:xfrm>
            <a:off x="1161288" y="4142232"/>
            <a:ext cx="4343400"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Always forces a ranked winner</a:t>
            </a:r>
            <a:endParaRPr lang="en-US" sz="1150" dirty="0"/>
          </a:p>
        </p:txBody>
      </p:sp>
      <p:sp>
        <p:nvSpPr>
          <p:cNvPr id="39" name="Shape 37"/>
          <p:cNvSpPr/>
          <p:nvPr/>
        </p:nvSpPr>
        <p:spPr>
          <a:xfrm>
            <a:off x="6492240" y="4197096"/>
            <a:ext cx="182880" cy="182880"/>
          </a:xfrm>
          <a:prstGeom prst="ellipse">
            <a:avLst/>
          </a:prstGeom>
          <a:solidFill>
            <a:srgbClr val="2E6B4A"/>
          </a:solidFill>
          <a:ln w="12700">
            <a:solidFill>
              <a:srgbClr val="2E6B4A"/>
            </a:solidFill>
            <a:prstDash val="solid"/>
          </a:ln>
        </p:spPr>
      </p:sp>
      <p:sp>
        <p:nvSpPr>
          <p:cNvPr id="40" name="Text 38"/>
          <p:cNvSpPr/>
          <p:nvPr/>
        </p:nvSpPr>
        <p:spPr>
          <a:xfrm>
            <a:off x="6492240" y="4187952"/>
            <a:ext cx="18288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41" name="Text 39"/>
          <p:cNvSpPr/>
          <p:nvPr/>
        </p:nvSpPr>
        <p:spPr>
          <a:xfrm>
            <a:off x="6793992" y="4142232"/>
            <a:ext cx="4315968"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States when nobody fully matches</a:t>
            </a:r>
            <a:endParaRPr lang="en-US" sz="1150" dirty="0"/>
          </a:p>
        </p:txBody>
      </p:sp>
      <p:sp>
        <p:nvSpPr>
          <p:cNvPr id="42" name="Shape 40"/>
          <p:cNvSpPr/>
          <p:nvPr/>
        </p:nvSpPr>
        <p:spPr>
          <a:xfrm>
            <a:off x="859536" y="4736592"/>
            <a:ext cx="182880" cy="182880"/>
          </a:xfrm>
          <a:prstGeom prst="ellipse">
            <a:avLst/>
          </a:prstGeom>
          <a:solidFill>
            <a:srgbClr val="B4443B"/>
          </a:solidFill>
          <a:ln w="12700">
            <a:solidFill>
              <a:srgbClr val="B4443B"/>
            </a:solidFill>
            <a:prstDash val="solid"/>
          </a:ln>
        </p:spPr>
      </p:sp>
      <p:sp>
        <p:nvSpPr>
          <p:cNvPr id="43" name="Text 41"/>
          <p:cNvSpPr/>
          <p:nvPr/>
        </p:nvSpPr>
        <p:spPr>
          <a:xfrm>
            <a:off x="859536" y="4727448"/>
            <a:ext cx="182880" cy="182880"/>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latin typeface="Aptos" pitchFamily="34" charset="0"/>
                <a:ea typeface="Aptos" pitchFamily="34" charset="-122"/>
                <a:cs typeface="Aptos" pitchFamily="34" charset="-120"/>
              </a:rPr>
              <a:t>×</a:t>
            </a:r>
            <a:endParaRPr lang="en-US" sz="1000" dirty="0"/>
          </a:p>
        </p:txBody>
      </p:sp>
      <p:sp>
        <p:nvSpPr>
          <p:cNvPr id="44" name="Text 42"/>
          <p:cNvSpPr/>
          <p:nvPr/>
        </p:nvSpPr>
        <p:spPr>
          <a:xfrm>
            <a:off x="1161288" y="4681728"/>
            <a:ext cx="4343400"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Static terminology bank</a:t>
            </a:r>
            <a:endParaRPr lang="en-US" sz="1150" dirty="0"/>
          </a:p>
        </p:txBody>
      </p:sp>
      <p:sp>
        <p:nvSpPr>
          <p:cNvPr id="45" name="Shape 43"/>
          <p:cNvSpPr/>
          <p:nvPr/>
        </p:nvSpPr>
        <p:spPr>
          <a:xfrm>
            <a:off x="6492240" y="4736592"/>
            <a:ext cx="182880" cy="182880"/>
          </a:xfrm>
          <a:prstGeom prst="ellipse">
            <a:avLst/>
          </a:prstGeom>
          <a:solidFill>
            <a:srgbClr val="2E6B4A"/>
          </a:solidFill>
          <a:ln w="12700">
            <a:solidFill>
              <a:srgbClr val="2E6B4A"/>
            </a:solidFill>
            <a:prstDash val="solid"/>
          </a:ln>
        </p:spPr>
      </p:sp>
      <p:sp>
        <p:nvSpPr>
          <p:cNvPr id="46" name="Text 44"/>
          <p:cNvSpPr/>
          <p:nvPr/>
        </p:nvSpPr>
        <p:spPr>
          <a:xfrm>
            <a:off x="6492240" y="4727448"/>
            <a:ext cx="182880" cy="18288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a:t>
            </a:r>
            <a:endParaRPr lang="en-US" sz="900" dirty="0"/>
          </a:p>
        </p:txBody>
      </p:sp>
      <p:sp>
        <p:nvSpPr>
          <p:cNvPr id="47" name="Text 45"/>
          <p:cNvSpPr/>
          <p:nvPr/>
        </p:nvSpPr>
        <p:spPr>
          <a:xfrm>
            <a:off x="6793992" y="4681728"/>
            <a:ext cx="4315968" cy="329184"/>
          </a:xfrm>
          <a:prstGeom prst="rect">
            <a:avLst/>
          </a:prstGeom>
          <a:noFill/>
          <a:ln/>
        </p:spPr>
        <p:txBody>
          <a:bodyPr wrap="square" lIns="0" tIns="0" rIns="0" bIns="0" rtlCol="0" anchor="ctr">
            <a:normAutofit/>
          </a:bodyPr>
          <a:lstStyle/>
          <a:p>
            <a:pPr algn="l" indent="0" marL="0">
              <a:buNone/>
            </a:pPr>
            <a:r>
              <a:rPr lang="en-US" sz="1150" dirty="0">
                <a:solidFill>
                  <a:srgbClr val="18221C"/>
                </a:solidFill>
                <a:latin typeface="Aptos" pitchFamily="34" charset="0"/>
                <a:ea typeface="Aptos" pitchFamily="34" charset="-122"/>
                <a:cs typeface="Aptos" pitchFamily="34" charset="-120"/>
              </a:rPr>
              <a:t>AI-generated terms with recruiter approval</a:t>
            </a:r>
            <a:endParaRPr lang="en-US" sz="1150" dirty="0"/>
          </a:p>
        </p:txBody>
      </p:sp>
      <p:sp>
        <p:nvSpPr>
          <p:cNvPr id="48" name="Shape 46"/>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49" name="Shape 47"/>
          <p:cNvSpPr/>
          <p:nvPr/>
        </p:nvSpPr>
        <p:spPr>
          <a:xfrm>
            <a:off x="685800" y="6044184"/>
            <a:ext cx="164592" cy="164592"/>
          </a:xfrm>
          <a:prstGeom prst="ellipse">
            <a:avLst/>
          </a:prstGeom>
          <a:solidFill>
            <a:srgbClr val="CDEB8B"/>
          </a:solidFill>
          <a:ln w="12700">
            <a:solidFill>
              <a:srgbClr val="CDEB8B"/>
            </a:solidFill>
            <a:prstDash val="solid"/>
          </a:ln>
        </p:spPr>
      </p:sp>
      <p:sp>
        <p:nvSpPr>
          <p:cNvPr id="50" name="Text 48"/>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1" name="Text 49"/>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“Our novelty is the trust model: language can suggest; only grounded evidence can satisfy a criterion.”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USER JOURNEY</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06</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From job description to decision support</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The recruiter stays in control at every irreversible point.</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1234440" y="2926080"/>
            <a:ext cx="9765792" cy="0"/>
          </a:xfrm>
          <a:prstGeom prst="line">
            <a:avLst/>
          </a:prstGeom>
          <a:noFill/>
          <a:ln w="25400">
            <a:solidFill>
              <a:srgbClr val="C9D2CA"/>
            </a:solidFill>
            <a:prstDash val="solid"/>
          </a:ln>
        </p:spPr>
      </p:sp>
      <p:sp>
        <p:nvSpPr>
          <p:cNvPr id="13" name="Shape 11"/>
          <p:cNvSpPr/>
          <p:nvPr/>
        </p:nvSpPr>
        <p:spPr>
          <a:xfrm>
            <a:off x="1033272" y="2523744"/>
            <a:ext cx="804672" cy="804672"/>
          </a:xfrm>
          <a:prstGeom prst="ellipse">
            <a:avLst/>
          </a:prstGeom>
          <a:solidFill>
            <a:srgbClr val="2E6B4A"/>
          </a:solidFill>
          <a:ln w="12700">
            <a:solidFill>
              <a:srgbClr val="2E6B4A"/>
            </a:solidFill>
            <a:prstDash val="solid"/>
          </a:ln>
        </p:spPr>
      </p:sp>
      <p:sp>
        <p:nvSpPr>
          <p:cNvPr id="14" name="Text 12"/>
          <p:cNvSpPr/>
          <p:nvPr/>
        </p:nvSpPr>
        <p:spPr>
          <a:xfrm>
            <a:off x="1033272" y="2523744"/>
            <a:ext cx="804672" cy="804672"/>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1</a:t>
            </a:r>
            <a:endParaRPr lang="en-US" sz="2000" dirty="0"/>
          </a:p>
        </p:txBody>
      </p:sp>
      <p:sp>
        <p:nvSpPr>
          <p:cNvPr id="15" name="Shape 13"/>
          <p:cNvSpPr/>
          <p:nvPr/>
        </p:nvSpPr>
        <p:spPr>
          <a:xfrm>
            <a:off x="621792" y="1645920"/>
            <a:ext cx="1627632" cy="1069848"/>
          </a:xfrm>
          <a:prstGeom prst="roundRect">
            <a:avLst>
              <a:gd name="adj" fmla="val 10256"/>
            </a:avLst>
          </a:prstGeom>
          <a:solidFill>
            <a:srgbClr val="FFFFFF"/>
          </a:solidFill>
          <a:ln w="12700">
            <a:solidFill>
              <a:srgbClr val="DDE3DD"/>
            </a:solidFill>
            <a:prstDash val="solid"/>
          </a:ln>
        </p:spPr>
      </p:sp>
      <p:sp>
        <p:nvSpPr>
          <p:cNvPr id="16" name="Text 14"/>
          <p:cNvSpPr/>
          <p:nvPr/>
        </p:nvSpPr>
        <p:spPr>
          <a:xfrm>
            <a:off x="758952" y="1810512"/>
            <a:ext cx="1353312" cy="274320"/>
          </a:xfrm>
          <a:prstGeom prst="rect">
            <a:avLst/>
          </a:prstGeom>
          <a:noFill/>
          <a:ln/>
        </p:spPr>
        <p:txBody>
          <a:bodyPr wrap="square" lIns="0" tIns="0" rIns="0" bIns="0" rtlCol="0" anchor="ctr">
            <a:normAutofit/>
          </a:bodyPr>
          <a:lstStyle/>
          <a:p>
            <a:pPr algn="ctr" indent="0" marL="0">
              <a:buNone/>
            </a:pPr>
            <a:r>
              <a:rPr lang="en-US" sz="1200" b="1" dirty="0">
                <a:solidFill>
                  <a:srgbClr val="18221C"/>
                </a:solidFill>
                <a:latin typeface="Aptos" pitchFamily="34" charset="0"/>
                <a:ea typeface="Aptos" pitchFamily="34" charset="-122"/>
                <a:cs typeface="Aptos" pitchFamily="34" charset="-120"/>
              </a:rPr>
              <a:t>Create role</a:t>
            </a:r>
            <a:endParaRPr lang="en-US" sz="1200" dirty="0"/>
          </a:p>
        </p:txBody>
      </p:sp>
      <p:sp>
        <p:nvSpPr>
          <p:cNvPr id="17" name="Text 15"/>
          <p:cNvSpPr/>
          <p:nvPr/>
        </p:nvSpPr>
        <p:spPr>
          <a:xfrm>
            <a:off x="758952" y="2139696"/>
            <a:ext cx="1353312" cy="365760"/>
          </a:xfrm>
          <a:prstGeom prst="rect">
            <a:avLst/>
          </a:prstGeom>
          <a:noFill/>
          <a:ln/>
        </p:spPr>
        <p:txBody>
          <a:bodyPr wrap="square" lIns="0" tIns="0" rIns="0" bIns="0" rtlCol="0" anchor="t">
            <a:normAutofit/>
          </a:bodyPr>
          <a:lstStyle/>
          <a:p>
            <a:pPr algn="ctr" indent="0" marL="0">
              <a:buNone/>
            </a:pPr>
            <a:r>
              <a:rPr lang="en-US" sz="880" dirty="0">
                <a:solidFill>
                  <a:srgbClr val="5D6A62"/>
                </a:solidFill>
                <a:latin typeface="Aptos" pitchFamily="34" charset="0"/>
                <a:ea typeface="Aptos" pitchFamily="34" charset="-122"/>
                <a:cs typeface="Aptos" pitchFamily="34" charset="-120"/>
              </a:rPr>
              <a:t>Title, description, salary, level</a:t>
            </a:r>
            <a:endParaRPr lang="en-US" sz="880" dirty="0"/>
          </a:p>
        </p:txBody>
      </p:sp>
      <p:sp>
        <p:nvSpPr>
          <p:cNvPr id="18" name="Shape 16"/>
          <p:cNvSpPr/>
          <p:nvPr/>
        </p:nvSpPr>
        <p:spPr>
          <a:xfrm>
            <a:off x="1435608" y="2715768"/>
            <a:ext cx="0" cy="-192024"/>
          </a:xfrm>
          <a:prstGeom prst="line">
            <a:avLst/>
          </a:prstGeom>
          <a:noFill/>
          <a:ln w="15240">
            <a:solidFill>
              <a:srgbClr val="C9D2CA"/>
            </a:solidFill>
            <a:prstDash val="solid"/>
          </a:ln>
        </p:spPr>
      </p:sp>
      <p:sp>
        <p:nvSpPr>
          <p:cNvPr id="19" name="Shape 17"/>
          <p:cNvSpPr/>
          <p:nvPr/>
        </p:nvSpPr>
        <p:spPr>
          <a:xfrm>
            <a:off x="2935224" y="2523744"/>
            <a:ext cx="804672" cy="804672"/>
          </a:xfrm>
          <a:prstGeom prst="ellipse">
            <a:avLst/>
          </a:prstGeom>
          <a:solidFill>
            <a:srgbClr val="2E6B4A"/>
          </a:solidFill>
          <a:ln w="12700">
            <a:solidFill>
              <a:srgbClr val="2E6B4A"/>
            </a:solidFill>
            <a:prstDash val="solid"/>
          </a:ln>
        </p:spPr>
      </p:sp>
      <p:sp>
        <p:nvSpPr>
          <p:cNvPr id="20" name="Text 18"/>
          <p:cNvSpPr/>
          <p:nvPr/>
        </p:nvSpPr>
        <p:spPr>
          <a:xfrm>
            <a:off x="2935224" y="2523744"/>
            <a:ext cx="804672" cy="804672"/>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2</a:t>
            </a:r>
            <a:endParaRPr lang="en-US" sz="2000" dirty="0"/>
          </a:p>
        </p:txBody>
      </p:sp>
      <p:sp>
        <p:nvSpPr>
          <p:cNvPr id="21" name="Shape 19"/>
          <p:cNvSpPr/>
          <p:nvPr/>
        </p:nvSpPr>
        <p:spPr>
          <a:xfrm>
            <a:off x="2523744" y="3438144"/>
            <a:ext cx="1627632" cy="1069848"/>
          </a:xfrm>
          <a:prstGeom prst="roundRect">
            <a:avLst>
              <a:gd name="adj" fmla="val 10256"/>
            </a:avLst>
          </a:prstGeom>
          <a:solidFill>
            <a:srgbClr val="FFFFFF"/>
          </a:solidFill>
          <a:ln w="12700">
            <a:solidFill>
              <a:srgbClr val="DDE3DD"/>
            </a:solidFill>
            <a:prstDash val="solid"/>
          </a:ln>
        </p:spPr>
      </p:sp>
      <p:sp>
        <p:nvSpPr>
          <p:cNvPr id="22" name="Text 20"/>
          <p:cNvSpPr/>
          <p:nvPr/>
        </p:nvSpPr>
        <p:spPr>
          <a:xfrm>
            <a:off x="2660904" y="3602736"/>
            <a:ext cx="1353312" cy="274320"/>
          </a:xfrm>
          <a:prstGeom prst="rect">
            <a:avLst/>
          </a:prstGeom>
          <a:noFill/>
          <a:ln/>
        </p:spPr>
        <p:txBody>
          <a:bodyPr wrap="square" lIns="0" tIns="0" rIns="0" bIns="0" rtlCol="0" anchor="ctr">
            <a:normAutofit/>
          </a:bodyPr>
          <a:lstStyle/>
          <a:p>
            <a:pPr algn="ctr" indent="0" marL="0">
              <a:buNone/>
            </a:pPr>
            <a:r>
              <a:rPr lang="en-US" sz="1200" b="1" dirty="0">
                <a:solidFill>
                  <a:srgbClr val="18221C"/>
                </a:solidFill>
                <a:latin typeface="Aptos" pitchFamily="34" charset="0"/>
                <a:ea typeface="Aptos" pitchFamily="34" charset="-122"/>
                <a:cs typeface="Aptos" pitchFamily="34" charset="-120"/>
              </a:rPr>
              <a:t>Generate map</a:t>
            </a:r>
            <a:endParaRPr lang="en-US" sz="1200" dirty="0"/>
          </a:p>
        </p:txBody>
      </p:sp>
      <p:sp>
        <p:nvSpPr>
          <p:cNvPr id="23" name="Text 21"/>
          <p:cNvSpPr/>
          <p:nvPr/>
        </p:nvSpPr>
        <p:spPr>
          <a:xfrm>
            <a:off x="2660904" y="3931920"/>
            <a:ext cx="1353312" cy="365760"/>
          </a:xfrm>
          <a:prstGeom prst="rect">
            <a:avLst/>
          </a:prstGeom>
          <a:noFill/>
          <a:ln/>
        </p:spPr>
        <p:txBody>
          <a:bodyPr wrap="square" lIns="0" tIns="0" rIns="0" bIns="0" rtlCol="0" anchor="t">
            <a:normAutofit/>
          </a:bodyPr>
          <a:lstStyle/>
          <a:p>
            <a:pPr algn="ctr" indent="0" marL="0">
              <a:buNone/>
            </a:pPr>
            <a:r>
              <a:rPr lang="en-US" sz="880" dirty="0">
                <a:solidFill>
                  <a:srgbClr val="5D6A62"/>
                </a:solidFill>
                <a:latin typeface="Aptos" pitchFamily="34" charset="0"/>
                <a:ea typeface="Aptos" pitchFamily="34" charset="-122"/>
                <a:cs typeface="Aptos" pitchFamily="34" charset="-120"/>
              </a:rPr>
              <a:t>AI proposes criteria and aliases</a:t>
            </a:r>
            <a:endParaRPr lang="en-US" sz="880" dirty="0"/>
          </a:p>
        </p:txBody>
      </p:sp>
      <p:sp>
        <p:nvSpPr>
          <p:cNvPr id="24" name="Shape 22"/>
          <p:cNvSpPr/>
          <p:nvPr/>
        </p:nvSpPr>
        <p:spPr>
          <a:xfrm>
            <a:off x="3337560" y="3328416"/>
            <a:ext cx="0" cy="109728"/>
          </a:xfrm>
          <a:prstGeom prst="line">
            <a:avLst/>
          </a:prstGeom>
          <a:noFill/>
          <a:ln w="15240">
            <a:solidFill>
              <a:srgbClr val="C9D2CA"/>
            </a:solidFill>
            <a:prstDash val="solid"/>
          </a:ln>
        </p:spPr>
      </p:sp>
      <p:sp>
        <p:nvSpPr>
          <p:cNvPr id="25" name="Shape 23"/>
          <p:cNvSpPr/>
          <p:nvPr/>
        </p:nvSpPr>
        <p:spPr>
          <a:xfrm>
            <a:off x="4837176" y="2523744"/>
            <a:ext cx="804672" cy="804672"/>
          </a:xfrm>
          <a:prstGeom prst="ellipse">
            <a:avLst/>
          </a:prstGeom>
          <a:solidFill>
            <a:srgbClr val="2E6B4A"/>
          </a:solidFill>
          <a:ln w="12700">
            <a:solidFill>
              <a:srgbClr val="2E6B4A"/>
            </a:solidFill>
            <a:prstDash val="solid"/>
          </a:ln>
        </p:spPr>
      </p:sp>
      <p:sp>
        <p:nvSpPr>
          <p:cNvPr id="26" name="Text 24"/>
          <p:cNvSpPr/>
          <p:nvPr/>
        </p:nvSpPr>
        <p:spPr>
          <a:xfrm>
            <a:off x="4837176" y="2523744"/>
            <a:ext cx="804672" cy="804672"/>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3</a:t>
            </a:r>
            <a:endParaRPr lang="en-US" sz="2000" dirty="0"/>
          </a:p>
        </p:txBody>
      </p:sp>
      <p:sp>
        <p:nvSpPr>
          <p:cNvPr id="27" name="Shape 25"/>
          <p:cNvSpPr/>
          <p:nvPr/>
        </p:nvSpPr>
        <p:spPr>
          <a:xfrm>
            <a:off x="4425696" y="1645920"/>
            <a:ext cx="1627632" cy="1069848"/>
          </a:xfrm>
          <a:prstGeom prst="roundRect">
            <a:avLst>
              <a:gd name="adj" fmla="val 10256"/>
            </a:avLst>
          </a:prstGeom>
          <a:solidFill>
            <a:srgbClr val="FFFFFF"/>
          </a:solidFill>
          <a:ln w="12700">
            <a:solidFill>
              <a:srgbClr val="DDE3DD"/>
            </a:solidFill>
            <a:prstDash val="solid"/>
          </a:ln>
        </p:spPr>
      </p:sp>
      <p:sp>
        <p:nvSpPr>
          <p:cNvPr id="28" name="Text 26"/>
          <p:cNvSpPr/>
          <p:nvPr/>
        </p:nvSpPr>
        <p:spPr>
          <a:xfrm>
            <a:off x="4562856" y="1810512"/>
            <a:ext cx="1353312" cy="274320"/>
          </a:xfrm>
          <a:prstGeom prst="rect">
            <a:avLst/>
          </a:prstGeom>
          <a:noFill/>
          <a:ln/>
        </p:spPr>
        <p:txBody>
          <a:bodyPr wrap="square" lIns="0" tIns="0" rIns="0" bIns="0" rtlCol="0" anchor="ctr">
            <a:normAutofit/>
          </a:bodyPr>
          <a:lstStyle/>
          <a:p>
            <a:pPr algn="ctr" indent="0" marL="0">
              <a:buNone/>
            </a:pPr>
            <a:r>
              <a:rPr lang="en-US" sz="1200" b="1" dirty="0">
                <a:solidFill>
                  <a:srgbClr val="18221C"/>
                </a:solidFill>
                <a:latin typeface="Aptos" pitchFamily="34" charset="0"/>
                <a:ea typeface="Aptos" pitchFamily="34" charset="-122"/>
                <a:cs typeface="Aptos" pitchFamily="34" charset="-120"/>
              </a:rPr>
              <a:t>Approve</a:t>
            </a:r>
            <a:endParaRPr lang="en-US" sz="1200" dirty="0"/>
          </a:p>
        </p:txBody>
      </p:sp>
      <p:sp>
        <p:nvSpPr>
          <p:cNvPr id="29" name="Text 27"/>
          <p:cNvSpPr/>
          <p:nvPr/>
        </p:nvSpPr>
        <p:spPr>
          <a:xfrm>
            <a:off x="4562856" y="2139696"/>
            <a:ext cx="1353312" cy="365760"/>
          </a:xfrm>
          <a:prstGeom prst="rect">
            <a:avLst/>
          </a:prstGeom>
          <a:noFill/>
          <a:ln/>
        </p:spPr>
        <p:txBody>
          <a:bodyPr wrap="square" lIns="0" tIns="0" rIns="0" bIns="0" rtlCol="0" anchor="t">
            <a:normAutofit/>
          </a:bodyPr>
          <a:lstStyle/>
          <a:p>
            <a:pPr algn="ctr" indent="0" marL="0">
              <a:buNone/>
            </a:pPr>
            <a:r>
              <a:rPr lang="en-US" sz="880" dirty="0">
                <a:solidFill>
                  <a:srgbClr val="5D6A62"/>
                </a:solidFill>
                <a:latin typeface="Aptos" pitchFamily="34" charset="0"/>
                <a:ea typeface="Aptos" pitchFamily="34" charset="-122"/>
                <a:cs typeface="Aptos" pitchFamily="34" charset="-120"/>
              </a:rPr>
              <a:t>Recruiter reviews suggestions</a:t>
            </a:r>
            <a:endParaRPr lang="en-US" sz="880" dirty="0"/>
          </a:p>
        </p:txBody>
      </p:sp>
      <p:sp>
        <p:nvSpPr>
          <p:cNvPr id="30" name="Shape 28"/>
          <p:cNvSpPr/>
          <p:nvPr/>
        </p:nvSpPr>
        <p:spPr>
          <a:xfrm>
            <a:off x="5239512" y="2715768"/>
            <a:ext cx="0" cy="-192024"/>
          </a:xfrm>
          <a:prstGeom prst="line">
            <a:avLst/>
          </a:prstGeom>
          <a:noFill/>
          <a:ln w="15240">
            <a:solidFill>
              <a:srgbClr val="C9D2CA"/>
            </a:solidFill>
            <a:prstDash val="solid"/>
          </a:ln>
        </p:spPr>
      </p:sp>
      <p:sp>
        <p:nvSpPr>
          <p:cNvPr id="31" name="Shape 29"/>
          <p:cNvSpPr/>
          <p:nvPr/>
        </p:nvSpPr>
        <p:spPr>
          <a:xfrm>
            <a:off x="6739128" y="2523744"/>
            <a:ext cx="804672" cy="804672"/>
          </a:xfrm>
          <a:prstGeom prst="ellipse">
            <a:avLst/>
          </a:prstGeom>
          <a:solidFill>
            <a:srgbClr val="C12E60"/>
          </a:solidFill>
          <a:ln w="12700">
            <a:solidFill>
              <a:srgbClr val="C12E60"/>
            </a:solidFill>
            <a:prstDash val="solid"/>
          </a:ln>
        </p:spPr>
      </p:sp>
      <p:sp>
        <p:nvSpPr>
          <p:cNvPr id="32" name="Text 30"/>
          <p:cNvSpPr/>
          <p:nvPr/>
        </p:nvSpPr>
        <p:spPr>
          <a:xfrm>
            <a:off x="6739128" y="2523744"/>
            <a:ext cx="804672" cy="804672"/>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4</a:t>
            </a:r>
            <a:endParaRPr lang="en-US" sz="2000" dirty="0"/>
          </a:p>
        </p:txBody>
      </p:sp>
      <p:sp>
        <p:nvSpPr>
          <p:cNvPr id="33" name="Shape 31"/>
          <p:cNvSpPr/>
          <p:nvPr/>
        </p:nvSpPr>
        <p:spPr>
          <a:xfrm>
            <a:off x="6327648" y="3438144"/>
            <a:ext cx="1627632" cy="1069848"/>
          </a:xfrm>
          <a:prstGeom prst="roundRect">
            <a:avLst>
              <a:gd name="adj" fmla="val 10256"/>
            </a:avLst>
          </a:prstGeom>
          <a:solidFill>
            <a:srgbClr val="FFFFFF"/>
          </a:solidFill>
          <a:ln w="12700">
            <a:solidFill>
              <a:srgbClr val="DDE3DD"/>
            </a:solidFill>
            <a:prstDash val="solid"/>
          </a:ln>
        </p:spPr>
      </p:sp>
      <p:sp>
        <p:nvSpPr>
          <p:cNvPr id="34" name="Text 32"/>
          <p:cNvSpPr/>
          <p:nvPr/>
        </p:nvSpPr>
        <p:spPr>
          <a:xfrm>
            <a:off x="6464808" y="3602736"/>
            <a:ext cx="1353312" cy="274320"/>
          </a:xfrm>
          <a:prstGeom prst="rect">
            <a:avLst/>
          </a:prstGeom>
          <a:noFill/>
          <a:ln/>
        </p:spPr>
        <p:txBody>
          <a:bodyPr wrap="square" lIns="0" tIns="0" rIns="0" bIns="0" rtlCol="0" anchor="ctr">
            <a:normAutofit/>
          </a:bodyPr>
          <a:lstStyle/>
          <a:p>
            <a:pPr algn="ctr" indent="0" marL="0">
              <a:buNone/>
            </a:pPr>
            <a:r>
              <a:rPr lang="en-US" sz="1200" b="1" dirty="0">
                <a:solidFill>
                  <a:srgbClr val="18221C"/>
                </a:solidFill>
                <a:latin typeface="Aptos" pitchFamily="34" charset="0"/>
                <a:ea typeface="Aptos" pitchFamily="34" charset="-122"/>
                <a:cs typeface="Aptos" pitchFamily="34" charset="-120"/>
              </a:rPr>
              <a:t>Upload</a:t>
            </a:r>
            <a:endParaRPr lang="en-US" sz="1200" dirty="0"/>
          </a:p>
        </p:txBody>
      </p:sp>
      <p:sp>
        <p:nvSpPr>
          <p:cNvPr id="35" name="Text 33"/>
          <p:cNvSpPr/>
          <p:nvPr/>
        </p:nvSpPr>
        <p:spPr>
          <a:xfrm>
            <a:off x="6464808" y="3931920"/>
            <a:ext cx="1353312" cy="365760"/>
          </a:xfrm>
          <a:prstGeom prst="rect">
            <a:avLst/>
          </a:prstGeom>
          <a:noFill/>
          <a:ln/>
        </p:spPr>
        <p:txBody>
          <a:bodyPr wrap="square" lIns="0" tIns="0" rIns="0" bIns="0" rtlCol="0" anchor="t">
            <a:normAutofit/>
          </a:bodyPr>
          <a:lstStyle/>
          <a:p>
            <a:pPr algn="ctr" indent="0" marL="0">
              <a:buNone/>
            </a:pPr>
            <a:r>
              <a:rPr lang="en-US" sz="880" dirty="0">
                <a:solidFill>
                  <a:srgbClr val="5D6A62"/>
                </a:solidFill>
                <a:latin typeface="Aptos" pitchFamily="34" charset="0"/>
                <a:ea typeface="Aptos" pitchFamily="34" charset="-122"/>
                <a:cs typeface="Aptos" pitchFamily="34" charset="-120"/>
              </a:rPr>
              <a:t>Resume and cover note</a:t>
            </a:r>
            <a:endParaRPr lang="en-US" sz="880" dirty="0"/>
          </a:p>
        </p:txBody>
      </p:sp>
      <p:sp>
        <p:nvSpPr>
          <p:cNvPr id="36" name="Shape 34"/>
          <p:cNvSpPr/>
          <p:nvPr/>
        </p:nvSpPr>
        <p:spPr>
          <a:xfrm>
            <a:off x="7141464" y="3328416"/>
            <a:ext cx="0" cy="109728"/>
          </a:xfrm>
          <a:prstGeom prst="line">
            <a:avLst/>
          </a:prstGeom>
          <a:noFill/>
          <a:ln w="15240">
            <a:solidFill>
              <a:srgbClr val="C9D2CA"/>
            </a:solidFill>
            <a:prstDash val="solid"/>
          </a:ln>
        </p:spPr>
      </p:sp>
      <p:sp>
        <p:nvSpPr>
          <p:cNvPr id="37" name="Shape 35"/>
          <p:cNvSpPr/>
          <p:nvPr/>
        </p:nvSpPr>
        <p:spPr>
          <a:xfrm>
            <a:off x="8641080" y="2523744"/>
            <a:ext cx="804672" cy="804672"/>
          </a:xfrm>
          <a:prstGeom prst="ellipse">
            <a:avLst/>
          </a:prstGeom>
          <a:solidFill>
            <a:srgbClr val="C12E60"/>
          </a:solidFill>
          <a:ln w="12700">
            <a:solidFill>
              <a:srgbClr val="C12E60"/>
            </a:solidFill>
            <a:prstDash val="solid"/>
          </a:ln>
        </p:spPr>
      </p:sp>
      <p:sp>
        <p:nvSpPr>
          <p:cNvPr id="38" name="Text 36"/>
          <p:cNvSpPr/>
          <p:nvPr/>
        </p:nvSpPr>
        <p:spPr>
          <a:xfrm>
            <a:off x="8641080" y="2523744"/>
            <a:ext cx="804672" cy="804672"/>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5</a:t>
            </a:r>
            <a:endParaRPr lang="en-US" sz="2000" dirty="0"/>
          </a:p>
        </p:txBody>
      </p:sp>
      <p:sp>
        <p:nvSpPr>
          <p:cNvPr id="39" name="Shape 37"/>
          <p:cNvSpPr/>
          <p:nvPr/>
        </p:nvSpPr>
        <p:spPr>
          <a:xfrm>
            <a:off x="8229600" y="1645920"/>
            <a:ext cx="1627632" cy="1069848"/>
          </a:xfrm>
          <a:prstGeom prst="roundRect">
            <a:avLst>
              <a:gd name="adj" fmla="val 10256"/>
            </a:avLst>
          </a:prstGeom>
          <a:solidFill>
            <a:srgbClr val="FFFFFF"/>
          </a:solidFill>
          <a:ln w="12700">
            <a:solidFill>
              <a:srgbClr val="DDE3DD"/>
            </a:solidFill>
            <a:prstDash val="solid"/>
          </a:ln>
        </p:spPr>
      </p:sp>
      <p:sp>
        <p:nvSpPr>
          <p:cNvPr id="40" name="Text 38"/>
          <p:cNvSpPr/>
          <p:nvPr/>
        </p:nvSpPr>
        <p:spPr>
          <a:xfrm>
            <a:off x="8366760" y="1810512"/>
            <a:ext cx="1353312" cy="274320"/>
          </a:xfrm>
          <a:prstGeom prst="rect">
            <a:avLst/>
          </a:prstGeom>
          <a:noFill/>
          <a:ln/>
        </p:spPr>
        <p:txBody>
          <a:bodyPr wrap="square" lIns="0" tIns="0" rIns="0" bIns="0" rtlCol="0" anchor="ctr">
            <a:normAutofit/>
          </a:bodyPr>
          <a:lstStyle/>
          <a:p>
            <a:pPr algn="ctr" indent="0" marL="0">
              <a:buNone/>
            </a:pPr>
            <a:r>
              <a:rPr lang="en-US" sz="1200" b="1" dirty="0">
                <a:solidFill>
                  <a:srgbClr val="18221C"/>
                </a:solidFill>
                <a:latin typeface="Aptos" pitchFamily="34" charset="0"/>
                <a:ea typeface="Aptos" pitchFamily="34" charset="-122"/>
                <a:cs typeface="Aptos" pitchFamily="34" charset="-120"/>
              </a:rPr>
              <a:t>Evaluate</a:t>
            </a:r>
            <a:endParaRPr lang="en-US" sz="1200" dirty="0"/>
          </a:p>
        </p:txBody>
      </p:sp>
      <p:sp>
        <p:nvSpPr>
          <p:cNvPr id="41" name="Text 39"/>
          <p:cNvSpPr/>
          <p:nvPr/>
        </p:nvSpPr>
        <p:spPr>
          <a:xfrm>
            <a:off x="8366760" y="2139696"/>
            <a:ext cx="1353312" cy="365760"/>
          </a:xfrm>
          <a:prstGeom prst="rect">
            <a:avLst/>
          </a:prstGeom>
          <a:noFill/>
          <a:ln/>
        </p:spPr>
        <p:txBody>
          <a:bodyPr wrap="square" lIns="0" tIns="0" rIns="0" bIns="0" rtlCol="0" anchor="t">
            <a:normAutofit/>
          </a:bodyPr>
          <a:lstStyle/>
          <a:p>
            <a:pPr algn="ctr" indent="0" marL="0">
              <a:buNone/>
            </a:pPr>
            <a:r>
              <a:rPr lang="en-US" sz="880" dirty="0">
                <a:solidFill>
                  <a:srgbClr val="5D6A62"/>
                </a:solidFill>
                <a:latin typeface="Aptos" pitchFamily="34" charset="0"/>
                <a:ea typeface="Aptos" pitchFamily="34" charset="-122"/>
                <a:cs typeface="Aptos" pitchFamily="34" charset="-120"/>
              </a:rPr>
              <a:t>Evidence, claims and contradictions</a:t>
            </a:r>
            <a:endParaRPr lang="en-US" sz="880" dirty="0"/>
          </a:p>
        </p:txBody>
      </p:sp>
      <p:sp>
        <p:nvSpPr>
          <p:cNvPr id="42" name="Shape 40"/>
          <p:cNvSpPr/>
          <p:nvPr/>
        </p:nvSpPr>
        <p:spPr>
          <a:xfrm>
            <a:off x="9043416" y="2715768"/>
            <a:ext cx="0" cy="-192024"/>
          </a:xfrm>
          <a:prstGeom prst="line">
            <a:avLst/>
          </a:prstGeom>
          <a:noFill/>
          <a:ln w="15240">
            <a:solidFill>
              <a:srgbClr val="C9D2CA"/>
            </a:solidFill>
            <a:prstDash val="solid"/>
          </a:ln>
        </p:spPr>
      </p:sp>
      <p:sp>
        <p:nvSpPr>
          <p:cNvPr id="43" name="Shape 41"/>
          <p:cNvSpPr/>
          <p:nvPr/>
        </p:nvSpPr>
        <p:spPr>
          <a:xfrm>
            <a:off x="10543032" y="2523744"/>
            <a:ext cx="804672" cy="804672"/>
          </a:xfrm>
          <a:prstGeom prst="ellipse">
            <a:avLst/>
          </a:prstGeom>
          <a:solidFill>
            <a:srgbClr val="C12E60"/>
          </a:solidFill>
          <a:ln w="12700">
            <a:solidFill>
              <a:srgbClr val="C12E60"/>
            </a:solidFill>
            <a:prstDash val="solid"/>
          </a:ln>
        </p:spPr>
      </p:sp>
      <p:sp>
        <p:nvSpPr>
          <p:cNvPr id="44" name="Text 42"/>
          <p:cNvSpPr/>
          <p:nvPr/>
        </p:nvSpPr>
        <p:spPr>
          <a:xfrm>
            <a:off x="10543032" y="2523744"/>
            <a:ext cx="804672" cy="804672"/>
          </a:xfrm>
          <a:prstGeom prst="rect">
            <a:avLst/>
          </a:prstGeom>
          <a:noFill/>
          <a:ln/>
        </p:spPr>
        <p:txBody>
          <a:bodyPr wrap="square" lIns="0" tIns="0" rIns="0" bIns="0" rtlCol="0" anchor="ctr">
            <a:normAutofit/>
          </a:bodyPr>
          <a:lstStyle/>
          <a:p>
            <a:pPr algn="ctr" indent="0" marL="0">
              <a:buNone/>
            </a:pPr>
            <a:r>
              <a:rPr lang="en-US" sz="2000" b="1" dirty="0">
                <a:solidFill>
                  <a:srgbClr val="FFFFFF"/>
                </a:solidFill>
                <a:latin typeface="Aptos Display" pitchFamily="34" charset="0"/>
                <a:ea typeface="Aptos Display" pitchFamily="34" charset="-122"/>
                <a:cs typeface="Aptos Display" pitchFamily="34" charset="-120"/>
              </a:rPr>
              <a:t>6</a:t>
            </a:r>
            <a:endParaRPr lang="en-US" sz="2000" dirty="0"/>
          </a:p>
        </p:txBody>
      </p:sp>
      <p:sp>
        <p:nvSpPr>
          <p:cNvPr id="45" name="Shape 43"/>
          <p:cNvSpPr/>
          <p:nvPr/>
        </p:nvSpPr>
        <p:spPr>
          <a:xfrm>
            <a:off x="10131552" y="3438144"/>
            <a:ext cx="1627632" cy="1069848"/>
          </a:xfrm>
          <a:prstGeom prst="roundRect">
            <a:avLst>
              <a:gd name="adj" fmla="val 10256"/>
            </a:avLst>
          </a:prstGeom>
          <a:solidFill>
            <a:srgbClr val="FFFFFF"/>
          </a:solidFill>
          <a:ln w="12700">
            <a:solidFill>
              <a:srgbClr val="DDE3DD"/>
            </a:solidFill>
            <a:prstDash val="solid"/>
          </a:ln>
        </p:spPr>
      </p:sp>
      <p:sp>
        <p:nvSpPr>
          <p:cNvPr id="46" name="Text 44"/>
          <p:cNvSpPr/>
          <p:nvPr/>
        </p:nvSpPr>
        <p:spPr>
          <a:xfrm>
            <a:off x="10268712" y="3602736"/>
            <a:ext cx="1353312" cy="274320"/>
          </a:xfrm>
          <a:prstGeom prst="rect">
            <a:avLst/>
          </a:prstGeom>
          <a:noFill/>
          <a:ln/>
        </p:spPr>
        <p:txBody>
          <a:bodyPr wrap="square" lIns="0" tIns="0" rIns="0" bIns="0" rtlCol="0" anchor="ctr">
            <a:normAutofit/>
          </a:bodyPr>
          <a:lstStyle/>
          <a:p>
            <a:pPr algn="ctr" indent="0" marL="0">
              <a:buNone/>
            </a:pPr>
            <a:r>
              <a:rPr lang="en-US" sz="1200" b="1" dirty="0">
                <a:solidFill>
                  <a:srgbClr val="18221C"/>
                </a:solidFill>
                <a:latin typeface="Aptos" pitchFamily="34" charset="0"/>
                <a:ea typeface="Aptos" pitchFamily="34" charset="-122"/>
                <a:cs typeface="Aptos" pitchFamily="34" charset="-120"/>
              </a:rPr>
              <a:t>Decide</a:t>
            </a:r>
            <a:endParaRPr lang="en-US" sz="1200" dirty="0"/>
          </a:p>
        </p:txBody>
      </p:sp>
      <p:sp>
        <p:nvSpPr>
          <p:cNvPr id="47" name="Text 45"/>
          <p:cNvSpPr/>
          <p:nvPr/>
        </p:nvSpPr>
        <p:spPr>
          <a:xfrm>
            <a:off x="10268712" y="3931920"/>
            <a:ext cx="1353312" cy="365760"/>
          </a:xfrm>
          <a:prstGeom prst="rect">
            <a:avLst/>
          </a:prstGeom>
          <a:noFill/>
          <a:ln/>
        </p:spPr>
        <p:txBody>
          <a:bodyPr wrap="square" lIns="0" tIns="0" rIns="0" bIns="0" rtlCol="0" anchor="t">
            <a:normAutofit/>
          </a:bodyPr>
          <a:lstStyle/>
          <a:p>
            <a:pPr algn="ctr" indent="0" marL="0">
              <a:buNone/>
            </a:pPr>
            <a:r>
              <a:rPr lang="en-US" sz="880" dirty="0">
                <a:solidFill>
                  <a:srgbClr val="5D6A62"/>
                </a:solidFill>
                <a:latin typeface="Aptos" pitchFamily="34" charset="0"/>
                <a:ea typeface="Aptos" pitchFamily="34" charset="-122"/>
                <a:cs typeface="Aptos" pitchFamily="34" charset="-120"/>
              </a:rPr>
              <a:t>Compare, shortlist, export</a:t>
            </a:r>
            <a:endParaRPr lang="en-US" sz="880" dirty="0"/>
          </a:p>
        </p:txBody>
      </p:sp>
      <p:sp>
        <p:nvSpPr>
          <p:cNvPr id="48" name="Shape 46"/>
          <p:cNvSpPr/>
          <p:nvPr/>
        </p:nvSpPr>
        <p:spPr>
          <a:xfrm>
            <a:off x="10945368" y="3328416"/>
            <a:ext cx="0" cy="109728"/>
          </a:xfrm>
          <a:prstGeom prst="line">
            <a:avLst/>
          </a:prstGeom>
          <a:noFill/>
          <a:ln w="15240">
            <a:solidFill>
              <a:srgbClr val="C9D2CA"/>
            </a:solidFill>
            <a:prstDash val="solid"/>
          </a:ln>
        </p:spPr>
      </p:sp>
      <p:sp>
        <p:nvSpPr>
          <p:cNvPr id="49" name="Shape 47"/>
          <p:cNvSpPr/>
          <p:nvPr/>
        </p:nvSpPr>
        <p:spPr>
          <a:xfrm>
            <a:off x="1956816" y="4910328"/>
            <a:ext cx="8275320" cy="521208"/>
          </a:xfrm>
          <a:prstGeom prst="roundRect">
            <a:avLst>
              <a:gd name="adj" fmla="val 21053"/>
            </a:avLst>
          </a:prstGeom>
          <a:solidFill>
            <a:srgbClr val="FBF0D9"/>
          </a:solidFill>
          <a:ln w="12700">
            <a:solidFill>
              <a:srgbClr val="FBF0D9"/>
            </a:solidFill>
            <a:prstDash val="solid"/>
          </a:ln>
        </p:spPr>
      </p:sp>
      <p:sp>
        <p:nvSpPr>
          <p:cNvPr id="50" name="Text 48"/>
          <p:cNvSpPr/>
          <p:nvPr/>
        </p:nvSpPr>
        <p:spPr>
          <a:xfrm>
            <a:off x="2212848" y="5056632"/>
            <a:ext cx="150876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B07B25"/>
                </a:solidFill>
                <a:latin typeface="Aptos" pitchFamily="34" charset="0"/>
                <a:ea typeface="Aptos" pitchFamily="34" charset="-122"/>
                <a:cs typeface="Aptos" pitchFamily="34" charset="-120"/>
              </a:rPr>
              <a:t>HUMAN CONTROL POINTS</a:t>
            </a:r>
            <a:endParaRPr lang="en-US" sz="800" dirty="0"/>
          </a:p>
        </p:txBody>
      </p:sp>
      <p:sp>
        <p:nvSpPr>
          <p:cNvPr id="51" name="Text 49"/>
          <p:cNvSpPr/>
          <p:nvPr/>
        </p:nvSpPr>
        <p:spPr>
          <a:xfrm>
            <a:off x="3675888" y="5001768"/>
            <a:ext cx="6236208" cy="265176"/>
          </a:xfrm>
          <a:prstGeom prst="rect">
            <a:avLst/>
          </a:prstGeom>
          <a:noFill/>
          <a:ln/>
        </p:spPr>
        <p:txBody>
          <a:bodyPr wrap="square" lIns="0" tIns="0" rIns="0" bIns="0" rtlCol="0" anchor="ctr">
            <a:normAutofit/>
          </a:bodyPr>
          <a:lstStyle/>
          <a:p>
            <a:pPr algn="l" indent="0" marL="0">
              <a:buNone/>
            </a:pPr>
            <a:r>
              <a:rPr lang="en-US" sz="1120" b="1" dirty="0">
                <a:solidFill>
                  <a:srgbClr val="18221C"/>
                </a:solidFill>
                <a:latin typeface="Aptos" pitchFamily="34" charset="0"/>
                <a:ea typeface="Aptos" pitchFamily="34" charset="-122"/>
                <a:cs typeface="Aptos" pitchFamily="34" charset="-120"/>
              </a:rPr>
              <a:t>Approve terminology  •  Review evidence  •  Make the final hiring decision</a:t>
            </a:r>
            <a:endParaRPr lang="en-US" sz="1120" dirty="0"/>
          </a:p>
        </p:txBody>
      </p:sp>
      <p:sp>
        <p:nvSpPr>
          <p:cNvPr id="52" name="Shape 50"/>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3" name="Shape 51"/>
          <p:cNvSpPr/>
          <p:nvPr/>
        </p:nvSpPr>
        <p:spPr>
          <a:xfrm>
            <a:off x="685800" y="6044184"/>
            <a:ext cx="164592" cy="164592"/>
          </a:xfrm>
          <a:prstGeom prst="ellipse">
            <a:avLst/>
          </a:prstGeom>
          <a:solidFill>
            <a:srgbClr val="CDEB8B"/>
          </a:solidFill>
          <a:ln w="12700">
            <a:solidFill>
              <a:srgbClr val="CDEB8B"/>
            </a:solidFill>
            <a:prstDash val="solid"/>
          </a:ln>
        </p:spPr>
      </p:sp>
      <p:sp>
        <p:nvSpPr>
          <p:cNvPr id="54" name="Text 52"/>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5" name="Text 53"/>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Emphasize that “autonomous” means autonomous analysis, not autonomous hiring.</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SYSTEM ARCHITECTURE</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07</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Five layers, one traceable decision flow</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The model is contained inside the agent layer; scoring lives in the policy layer.</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1005840" y="1700784"/>
            <a:ext cx="10195560" cy="621792"/>
          </a:xfrm>
          <a:prstGeom prst="roundRect">
            <a:avLst>
              <a:gd name="adj" fmla="val 17647"/>
            </a:avLst>
          </a:prstGeom>
          <a:solidFill>
            <a:srgbClr val="F8E7ED"/>
          </a:solidFill>
          <a:ln w="12700">
            <a:solidFill>
              <a:srgbClr val="F8E7ED"/>
            </a:solidFill>
            <a:prstDash val="solid"/>
          </a:ln>
        </p:spPr>
      </p:sp>
      <p:sp>
        <p:nvSpPr>
          <p:cNvPr id="13" name="Shape 11"/>
          <p:cNvSpPr/>
          <p:nvPr/>
        </p:nvSpPr>
        <p:spPr>
          <a:xfrm>
            <a:off x="1234440" y="1856232"/>
            <a:ext cx="1042416" cy="310896"/>
          </a:xfrm>
          <a:prstGeom prst="roundRect">
            <a:avLst>
              <a:gd name="adj" fmla="val 50000"/>
            </a:avLst>
          </a:prstGeom>
          <a:solidFill>
            <a:srgbClr val="FFFFFF"/>
          </a:solidFill>
          <a:ln w="12700">
            <a:solidFill>
              <a:srgbClr val="FFFFFF"/>
            </a:solidFill>
            <a:prstDash val="solid"/>
          </a:ln>
        </p:spPr>
      </p:sp>
      <p:sp>
        <p:nvSpPr>
          <p:cNvPr id="14" name="Text 12"/>
          <p:cNvSpPr/>
          <p:nvPr/>
        </p:nvSpPr>
        <p:spPr>
          <a:xfrm>
            <a:off x="1234440" y="1856232"/>
            <a:ext cx="1042416" cy="310896"/>
          </a:xfrm>
          <a:prstGeom prst="rect">
            <a:avLst/>
          </a:prstGeom>
          <a:noFill/>
          <a:ln/>
        </p:spPr>
        <p:txBody>
          <a:bodyPr wrap="square" lIns="0" tIns="0" rIns="0" bIns="0" rtlCol="0" anchor="ctr">
            <a:normAutofit/>
          </a:bodyPr>
          <a:lstStyle/>
          <a:p>
            <a:pPr algn="ctr" indent="0" marL="0">
              <a:buNone/>
            </a:pPr>
            <a:r>
              <a:rPr lang="en-US" sz="750" b="1" spc="120" kern="0" dirty="0">
                <a:solidFill>
                  <a:srgbClr val="C12E60"/>
                </a:solidFill>
                <a:latin typeface="Aptos" pitchFamily="34" charset="0"/>
                <a:ea typeface="Aptos" pitchFamily="34" charset="-122"/>
                <a:cs typeface="Aptos" pitchFamily="34" charset="-120"/>
              </a:rPr>
              <a:t>INTERFACE</a:t>
            </a:r>
            <a:endParaRPr lang="en-US" sz="750" dirty="0"/>
          </a:p>
        </p:txBody>
      </p:sp>
      <p:sp>
        <p:nvSpPr>
          <p:cNvPr id="15" name="Text 13"/>
          <p:cNvSpPr/>
          <p:nvPr/>
        </p:nvSpPr>
        <p:spPr>
          <a:xfrm>
            <a:off x="2487168" y="1828800"/>
            <a:ext cx="8119872" cy="320040"/>
          </a:xfrm>
          <a:prstGeom prst="rect">
            <a:avLst/>
          </a:prstGeom>
          <a:noFill/>
          <a:ln/>
        </p:spPr>
        <p:txBody>
          <a:bodyPr wrap="square" lIns="0" tIns="0" rIns="0" bIns="0" rtlCol="0" anchor="ctr">
            <a:normAutofit/>
          </a:bodyPr>
          <a:lstStyle/>
          <a:p>
            <a:pPr algn="l" indent="0" marL="0">
              <a:buNone/>
            </a:pPr>
            <a:r>
              <a:rPr lang="en-US" sz="1080" dirty="0">
                <a:solidFill>
                  <a:srgbClr val="18221C"/>
                </a:solidFill>
                <a:latin typeface="Aptos" pitchFamily="34" charset="0"/>
                <a:ea typeface="Aptos" pitchFamily="34" charset="-122"/>
                <a:cs typeface="Aptos" pitchFamily="34" charset="-120"/>
              </a:rPr>
              <a:t>React dashboard • requisition editor • resume upload • insights • Excel export</a:t>
            </a:r>
            <a:endParaRPr lang="en-US" sz="1080" dirty="0"/>
          </a:p>
        </p:txBody>
      </p:sp>
      <p:sp>
        <p:nvSpPr>
          <p:cNvPr id="16" name="Shape 14"/>
          <p:cNvSpPr/>
          <p:nvPr/>
        </p:nvSpPr>
        <p:spPr>
          <a:xfrm>
            <a:off x="6108192" y="2340864"/>
            <a:ext cx="0" cy="146304"/>
          </a:xfrm>
          <a:prstGeom prst="line">
            <a:avLst/>
          </a:prstGeom>
          <a:noFill/>
          <a:ln w="19050">
            <a:solidFill>
              <a:srgbClr val="C9D2CA"/>
            </a:solidFill>
            <a:prstDash val="solid"/>
            <a:tailEnd type="triangle"/>
          </a:ln>
        </p:spPr>
      </p:sp>
      <p:sp>
        <p:nvSpPr>
          <p:cNvPr id="17" name="Shape 15"/>
          <p:cNvSpPr/>
          <p:nvPr/>
        </p:nvSpPr>
        <p:spPr>
          <a:xfrm>
            <a:off x="1170432" y="2505456"/>
            <a:ext cx="9866376" cy="621792"/>
          </a:xfrm>
          <a:prstGeom prst="roundRect">
            <a:avLst>
              <a:gd name="adj" fmla="val 17647"/>
            </a:avLst>
          </a:prstGeom>
          <a:solidFill>
            <a:srgbClr val="EAF2F7"/>
          </a:solidFill>
          <a:ln w="12700">
            <a:solidFill>
              <a:srgbClr val="EAF2F7"/>
            </a:solidFill>
            <a:prstDash val="solid"/>
          </a:ln>
        </p:spPr>
      </p:sp>
      <p:sp>
        <p:nvSpPr>
          <p:cNvPr id="18" name="Shape 16"/>
          <p:cNvSpPr/>
          <p:nvPr/>
        </p:nvSpPr>
        <p:spPr>
          <a:xfrm>
            <a:off x="1399032" y="2660904"/>
            <a:ext cx="1042416" cy="310896"/>
          </a:xfrm>
          <a:prstGeom prst="roundRect">
            <a:avLst>
              <a:gd name="adj" fmla="val 50000"/>
            </a:avLst>
          </a:prstGeom>
          <a:solidFill>
            <a:srgbClr val="FFFFFF"/>
          </a:solidFill>
          <a:ln w="12700">
            <a:solidFill>
              <a:srgbClr val="FFFFFF"/>
            </a:solidFill>
            <a:prstDash val="solid"/>
          </a:ln>
        </p:spPr>
      </p:sp>
      <p:sp>
        <p:nvSpPr>
          <p:cNvPr id="19" name="Text 17"/>
          <p:cNvSpPr/>
          <p:nvPr/>
        </p:nvSpPr>
        <p:spPr>
          <a:xfrm>
            <a:off x="1399032" y="2660904"/>
            <a:ext cx="1042416" cy="310896"/>
          </a:xfrm>
          <a:prstGeom prst="rect">
            <a:avLst/>
          </a:prstGeom>
          <a:noFill/>
          <a:ln/>
        </p:spPr>
        <p:txBody>
          <a:bodyPr wrap="square" lIns="0" tIns="0" rIns="0" bIns="0" rtlCol="0" anchor="ctr">
            <a:normAutofit/>
          </a:bodyPr>
          <a:lstStyle/>
          <a:p>
            <a:pPr algn="ctr" indent="0" marL="0">
              <a:buNone/>
            </a:pPr>
            <a:r>
              <a:rPr lang="en-US" sz="750" b="1" spc="120" kern="0" dirty="0">
                <a:solidFill>
                  <a:srgbClr val="426B87"/>
                </a:solidFill>
                <a:latin typeface="Aptos" pitchFamily="34" charset="0"/>
                <a:ea typeface="Aptos" pitchFamily="34" charset="-122"/>
                <a:cs typeface="Aptos" pitchFamily="34" charset="-120"/>
              </a:rPr>
              <a:t>API</a:t>
            </a:r>
            <a:endParaRPr lang="en-US" sz="750" dirty="0"/>
          </a:p>
        </p:txBody>
      </p:sp>
      <p:sp>
        <p:nvSpPr>
          <p:cNvPr id="20" name="Text 18"/>
          <p:cNvSpPr/>
          <p:nvPr/>
        </p:nvSpPr>
        <p:spPr>
          <a:xfrm>
            <a:off x="2651760" y="2633472"/>
            <a:ext cx="7790688" cy="320040"/>
          </a:xfrm>
          <a:prstGeom prst="rect">
            <a:avLst/>
          </a:prstGeom>
          <a:noFill/>
          <a:ln/>
        </p:spPr>
        <p:txBody>
          <a:bodyPr wrap="square" lIns="0" tIns="0" rIns="0" bIns="0" rtlCol="0" anchor="ctr">
            <a:normAutofit/>
          </a:bodyPr>
          <a:lstStyle/>
          <a:p>
            <a:pPr algn="l" indent="0" marL="0">
              <a:buNone/>
            </a:pPr>
            <a:r>
              <a:rPr lang="en-US" sz="1080" dirty="0">
                <a:solidFill>
                  <a:srgbClr val="18221C"/>
                </a:solidFill>
                <a:latin typeface="Aptos" pitchFamily="34" charset="0"/>
                <a:ea typeface="Aptos" pitchFamily="34" charset="-122"/>
                <a:cs typeface="Aptos" pitchFamily="34" charset="-120"/>
              </a:rPr>
              <a:t>Express routes • validation • timeouts • sanitized errors</a:t>
            </a:r>
            <a:endParaRPr lang="en-US" sz="1080" dirty="0"/>
          </a:p>
        </p:txBody>
      </p:sp>
      <p:sp>
        <p:nvSpPr>
          <p:cNvPr id="21" name="Shape 19"/>
          <p:cNvSpPr/>
          <p:nvPr/>
        </p:nvSpPr>
        <p:spPr>
          <a:xfrm>
            <a:off x="6108192" y="3145536"/>
            <a:ext cx="0" cy="146304"/>
          </a:xfrm>
          <a:prstGeom prst="line">
            <a:avLst/>
          </a:prstGeom>
          <a:noFill/>
          <a:ln w="19050">
            <a:solidFill>
              <a:srgbClr val="C9D2CA"/>
            </a:solidFill>
            <a:prstDash val="solid"/>
            <a:tailEnd type="triangle"/>
          </a:ln>
        </p:spPr>
      </p:sp>
      <p:sp>
        <p:nvSpPr>
          <p:cNvPr id="22" name="Shape 20"/>
          <p:cNvSpPr/>
          <p:nvPr/>
        </p:nvSpPr>
        <p:spPr>
          <a:xfrm>
            <a:off x="1335024" y="3310128"/>
            <a:ext cx="9537192" cy="621792"/>
          </a:xfrm>
          <a:prstGeom prst="roundRect">
            <a:avLst>
              <a:gd name="adj" fmla="val 17647"/>
            </a:avLst>
          </a:prstGeom>
          <a:solidFill>
            <a:srgbClr val="EEF6F0"/>
          </a:solidFill>
          <a:ln w="12700">
            <a:solidFill>
              <a:srgbClr val="EEF6F0"/>
            </a:solidFill>
            <a:prstDash val="solid"/>
          </a:ln>
        </p:spPr>
      </p:sp>
      <p:sp>
        <p:nvSpPr>
          <p:cNvPr id="23" name="Shape 21"/>
          <p:cNvSpPr/>
          <p:nvPr/>
        </p:nvSpPr>
        <p:spPr>
          <a:xfrm>
            <a:off x="1563624" y="3465576"/>
            <a:ext cx="1042416" cy="310896"/>
          </a:xfrm>
          <a:prstGeom prst="roundRect">
            <a:avLst>
              <a:gd name="adj" fmla="val 50000"/>
            </a:avLst>
          </a:prstGeom>
          <a:solidFill>
            <a:srgbClr val="FFFFFF"/>
          </a:solidFill>
          <a:ln w="12700">
            <a:solidFill>
              <a:srgbClr val="FFFFFF"/>
            </a:solidFill>
            <a:prstDash val="solid"/>
          </a:ln>
        </p:spPr>
      </p:sp>
      <p:sp>
        <p:nvSpPr>
          <p:cNvPr id="24" name="Text 22"/>
          <p:cNvSpPr/>
          <p:nvPr/>
        </p:nvSpPr>
        <p:spPr>
          <a:xfrm>
            <a:off x="1563624" y="3465576"/>
            <a:ext cx="1042416" cy="310896"/>
          </a:xfrm>
          <a:prstGeom prst="rect">
            <a:avLst/>
          </a:prstGeom>
          <a:noFill/>
          <a:ln/>
        </p:spPr>
        <p:txBody>
          <a:bodyPr wrap="square" lIns="0" tIns="0" rIns="0" bIns="0" rtlCol="0" anchor="ctr">
            <a:normAutofit/>
          </a:bodyPr>
          <a:lstStyle/>
          <a:p>
            <a:pPr algn="ctr" indent="0" marL="0">
              <a:buNone/>
            </a:pPr>
            <a:r>
              <a:rPr lang="en-US" sz="750" b="1" spc="120" kern="0" dirty="0">
                <a:solidFill>
                  <a:srgbClr val="2E6B4A"/>
                </a:solidFill>
                <a:latin typeface="Aptos" pitchFamily="34" charset="0"/>
                <a:ea typeface="Aptos" pitchFamily="34" charset="-122"/>
                <a:cs typeface="Aptos" pitchFamily="34" charset="-120"/>
              </a:rPr>
              <a:t>AGENT</a:t>
            </a:r>
            <a:endParaRPr lang="en-US" sz="750" dirty="0"/>
          </a:p>
        </p:txBody>
      </p:sp>
      <p:sp>
        <p:nvSpPr>
          <p:cNvPr id="25" name="Text 23"/>
          <p:cNvSpPr/>
          <p:nvPr/>
        </p:nvSpPr>
        <p:spPr>
          <a:xfrm>
            <a:off x="2816352" y="3438144"/>
            <a:ext cx="7461504" cy="320040"/>
          </a:xfrm>
          <a:prstGeom prst="rect">
            <a:avLst/>
          </a:prstGeom>
          <a:noFill/>
          <a:ln/>
        </p:spPr>
        <p:txBody>
          <a:bodyPr wrap="square" lIns="0" tIns="0" rIns="0" bIns="0" rtlCol="0" anchor="ctr">
            <a:normAutofit/>
          </a:bodyPr>
          <a:lstStyle/>
          <a:p>
            <a:pPr algn="l" indent="0" marL="0">
              <a:buNone/>
            </a:pPr>
            <a:r>
              <a:rPr lang="en-US" sz="1080" b="1" dirty="0">
                <a:solidFill>
                  <a:srgbClr val="18221C"/>
                </a:solidFill>
                <a:latin typeface="Aptos" pitchFamily="34" charset="0"/>
                <a:ea typeface="Aptos" pitchFamily="34" charset="-122"/>
                <a:cs typeface="Aptos" pitchFamily="34" charset="-120"/>
              </a:rPr>
              <a:t>LangChain sequences • Requirement Intelligence • grounded summary</a:t>
            </a:r>
            <a:endParaRPr lang="en-US" sz="1080" dirty="0"/>
          </a:p>
        </p:txBody>
      </p:sp>
      <p:sp>
        <p:nvSpPr>
          <p:cNvPr id="26" name="Shape 24"/>
          <p:cNvSpPr/>
          <p:nvPr/>
        </p:nvSpPr>
        <p:spPr>
          <a:xfrm>
            <a:off x="6108192" y="3950208"/>
            <a:ext cx="0" cy="146304"/>
          </a:xfrm>
          <a:prstGeom prst="line">
            <a:avLst/>
          </a:prstGeom>
          <a:noFill/>
          <a:ln w="19050">
            <a:solidFill>
              <a:srgbClr val="C9D2CA"/>
            </a:solidFill>
            <a:prstDash val="solid"/>
            <a:tailEnd type="triangle"/>
          </a:ln>
        </p:spPr>
      </p:sp>
      <p:sp>
        <p:nvSpPr>
          <p:cNvPr id="27" name="Shape 25"/>
          <p:cNvSpPr/>
          <p:nvPr/>
        </p:nvSpPr>
        <p:spPr>
          <a:xfrm>
            <a:off x="1499616" y="4114800"/>
            <a:ext cx="9208008" cy="621792"/>
          </a:xfrm>
          <a:prstGeom prst="roundRect">
            <a:avLst>
              <a:gd name="adj" fmla="val 17647"/>
            </a:avLst>
          </a:prstGeom>
          <a:solidFill>
            <a:srgbClr val="FBF0D9"/>
          </a:solidFill>
          <a:ln w="12700">
            <a:solidFill>
              <a:srgbClr val="FBF0D9"/>
            </a:solidFill>
            <a:prstDash val="solid"/>
          </a:ln>
        </p:spPr>
      </p:sp>
      <p:sp>
        <p:nvSpPr>
          <p:cNvPr id="28" name="Shape 26"/>
          <p:cNvSpPr/>
          <p:nvPr/>
        </p:nvSpPr>
        <p:spPr>
          <a:xfrm>
            <a:off x="1728216" y="4270248"/>
            <a:ext cx="1042416" cy="310896"/>
          </a:xfrm>
          <a:prstGeom prst="roundRect">
            <a:avLst>
              <a:gd name="adj" fmla="val 50000"/>
            </a:avLst>
          </a:prstGeom>
          <a:solidFill>
            <a:srgbClr val="FFFFFF"/>
          </a:solidFill>
          <a:ln w="12700">
            <a:solidFill>
              <a:srgbClr val="FFFFFF"/>
            </a:solidFill>
            <a:prstDash val="solid"/>
          </a:ln>
        </p:spPr>
      </p:sp>
      <p:sp>
        <p:nvSpPr>
          <p:cNvPr id="29" name="Text 27"/>
          <p:cNvSpPr/>
          <p:nvPr/>
        </p:nvSpPr>
        <p:spPr>
          <a:xfrm>
            <a:off x="1728216" y="4270248"/>
            <a:ext cx="1042416" cy="310896"/>
          </a:xfrm>
          <a:prstGeom prst="rect">
            <a:avLst/>
          </a:prstGeom>
          <a:noFill/>
          <a:ln/>
        </p:spPr>
        <p:txBody>
          <a:bodyPr wrap="square" lIns="0" tIns="0" rIns="0" bIns="0" rtlCol="0" anchor="ctr">
            <a:normAutofit/>
          </a:bodyPr>
          <a:lstStyle/>
          <a:p>
            <a:pPr algn="ctr" indent="0" marL="0">
              <a:buNone/>
            </a:pPr>
            <a:r>
              <a:rPr lang="en-US" sz="750" b="1" spc="120" kern="0" dirty="0">
                <a:solidFill>
                  <a:srgbClr val="B07B25"/>
                </a:solidFill>
                <a:latin typeface="Aptos" pitchFamily="34" charset="0"/>
                <a:ea typeface="Aptos" pitchFamily="34" charset="-122"/>
                <a:cs typeface="Aptos" pitchFamily="34" charset="-120"/>
              </a:rPr>
              <a:t>POLICY</a:t>
            </a:r>
            <a:endParaRPr lang="en-US" sz="750" dirty="0"/>
          </a:p>
        </p:txBody>
      </p:sp>
      <p:sp>
        <p:nvSpPr>
          <p:cNvPr id="30" name="Text 28"/>
          <p:cNvSpPr/>
          <p:nvPr/>
        </p:nvSpPr>
        <p:spPr>
          <a:xfrm>
            <a:off x="2980944" y="4242816"/>
            <a:ext cx="7132320" cy="320040"/>
          </a:xfrm>
          <a:prstGeom prst="rect">
            <a:avLst/>
          </a:prstGeom>
          <a:noFill/>
          <a:ln/>
        </p:spPr>
        <p:txBody>
          <a:bodyPr wrap="square" lIns="0" tIns="0" rIns="0" bIns="0" rtlCol="0" anchor="ctr">
            <a:normAutofit/>
          </a:bodyPr>
          <a:lstStyle/>
          <a:p>
            <a:pPr algn="l" indent="0" marL="0">
              <a:buNone/>
            </a:pPr>
            <a:r>
              <a:rPr lang="en-US" sz="1080" dirty="0">
                <a:solidFill>
                  <a:srgbClr val="18221C"/>
                </a:solidFill>
                <a:latin typeface="Aptos" pitchFamily="34" charset="0"/>
                <a:ea typeface="Aptos" pitchFamily="34" charset="-122"/>
                <a:cs typeface="Aptos" pitchFamily="34" charset="-120"/>
              </a:rPr>
              <a:t>Alias mapping • evidence quality • contradictions • constraints • shortlist</a:t>
            </a:r>
            <a:endParaRPr lang="en-US" sz="1080" dirty="0"/>
          </a:p>
        </p:txBody>
      </p:sp>
      <p:sp>
        <p:nvSpPr>
          <p:cNvPr id="31" name="Shape 29"/>
          <p:cNvSpPr/>
          <p:nvPr/>
        </p:nvSpPr>
        <p:spPr>
          <a:xfrm>
            <a:off x="6108192" y="4754880"/>
            <a:ext cx="0" cy="146304"/>
          </a:xfrm>
          <a:prstGeom prst="line">
            <a:avLst/>
          </a:prstGeom>
          <a:noFill/>
          <a:ln w="19050">
            <a:solidFill>
              <a:srgbClr val="C9D2CA"/>
            </a:solidFill>
            <a:prstDash val="solid"/>
            <a:tailEnd type="triangle"/>
          </a:ln>
        </p:spPr>
      </p:sp>
      <p:sp>
        <p:nvSpPr>
          <p:cNvPr id="32" name="Shape 30"/>
          <p:cNvSpPr/>
          <p:nvPr/>
        </p:nvSpPr>
        <p:spPr>
          <a:xfrm>
            <a:off x="1664208" y="4919472"/>
            <a:ext cx="8878824" cy="621792"/>
          </a:xfrm>
          <a:prstGeom prst="roundRect">
            <a:avLst>
              <a:gd name="adj" fmla="val 17647"/>
            </a:avLst>
          </a:prstGeom>
          <a:solidFill>
            <a:srgbClr val="FFFFFF"/>
          </a:solidFill>
          <a:ln w="12700">
            <a:solidFill>
              <a:srgbClr val="FFFFFF"/>
            </a:solidFill>
            <a:prstDash val="solid"/>
          </a:ln>
        </p:spPr>
      </p:sp>
      <p:sp>
        <p:nvSpPr>
          <p:cNvPr id="33" name="Shape 31"/>
          <p:cNvSpPr/>
          <p:nvPr/>
        </p:nvSpPr>
        <p:spPr>
          <a:xfrm>
            <a:off x="1892808" y="5074920"/>
            <a:ext cx="1042416" cy="310896"/>
          </a:xfrm>
          <a:prstGeom prst="roundRect">
            <a:avLst>
              <a:gd name="adj" fmla="val 50000"/>
            </a:avLst>
          </a:prstGeom>
          <a:solidFill>
            <a:srgbClr val="FFFFFF"/>
          </a:solidFill>
          <a:ln w="12700">
            <a:solidFill>
              <a:srgbClr val="FFFFFF"/>
            </a:solidFill>
            <a:prstDash val="solid"/>
          </a:ln>
        </p:spPr>
      </p:sp>
      <p:sp>
        <p:nvSpPr>
          <p:cNvPr id="34" name="Text 32"/>
          <p:cNvSpPr/>
          <p:nvPr/>
        </p:nvSpPr>
        <p:spPr>
          <a:xfrm>
            <a:off x="1892808" y="5074920"/>
            <a:ext cx="1042416" cy="310896"/>
          </a:xfrm>
          <a:prstGeom prst="rect">
            <a:avLst/>
          </a:prstGeom>
          <a:noFill/>
          <a:ln/>
        </p:spPr>
        <p:txBody>
          <a:bodyPr wrap="square" lIns="0" tIns="0" rIns="0" bIns="0" rtlCol="0" anchor="ctr">
            <a:normAutofit/>
          </a:bodyPr>
          <a:lstStyle/>
          <a:p>
            <a:pPr algn="ctr" indent="0" marL="0">
              <a:buNone/>
            </a:pPr>
            <a:r>
              <a:rPr lang="en-US" sz="750" b="1" spc="120" kern="0" dirty="0">
                <a:solidFill>
                  <a:srgbClr val="18221C"/>
                </a:solidFill>
                <a:latin typeface="Aptos" pitchFamily="34" charset="0"/>
                <a:ea typeface="Aptos" pitchFamily="34" charset="-122"/>
                <a:cs typeface="Aptos" pitchFamily="34" charset="-120"/>
              </a:rPr>
              <a:t>DATA + TOOLS</a:t>
            </a:r>
            <a:endParaRPr lang="en-US" sz="750" dirty="0"/>
          </a:p>
        </p:txBody>
      </p:sp>
      <p:sp>
        <p:nvSpPr>
          <p:cNvPr id="35" name="Text 33"/>
          <p:cNvSpPr/>
          <p:nvPr/>
        </p:nvSpPr>
        <p:spPr>
          <a:xfrm>
            <a:off x="3145536" y="5047488"/>
            <a:ext cx="6803136" cy="320040"/>
          </a:xfrm>
          <a:prstGeom prst="rect">
            <a:avLst/>
          </a:prstGeom>
          <a:noFill/>
          <a:ln/>
        </p:spPr>
        <p:txBody>
          <a:bodyPr wrap="square" lIns="0" tIns="0" rIns="0" bIns="0" rtlCol="0" anchor="ctr">
            <a:normAutofit/>
          </a:bodyPr>
          <a:lstStyle/>
          <a:p>
            <a:pPr algn="l" indent="0" marL="0">
              <a:buNone/>
            </a:pPr>
            <a:r>
              <a:rPr lang="en-US" sz="1080" dirty="0">
                <a:solidFill>
                  <a:srgbClr val="18221C"/>
                </a:solidFill>
                <a:latin typeface="Aptos" pitchFamily="34" charset="0"/>
                <a:ea typeface="Aptos" pitchFamily="34" charset="-122"/>
                <a:cs typeface="Aptos" pitchFamily="34" charset="-120"/>
              </a:rPr>
              <a:t>Local application state • OpenAI • GitHub API • authorized LinkedIn evidence</a:t>
            </a:r>
            <a:endParaRPr lang="en-US" sz="1080" dirty="0"/>
          </a:p>
        </p:txBody>
      </p:sp>
      <p:sp>
        <p:nvSpPr>
          <p:cNvPr id="36" name="Shape 34"/>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37" name="Shape 35"/>
          <p:cNvSpPr/>
          <p:nvPr/>
        </p:nvSpPr>
        <p:spPr>
          <a:xfrm>
            <a:off x="685800" y="6044184"/>
            <a:ext cx="164592" cy="164592"/>
          </a:xfrm>
          <a:prstGeom prst="ellipse">
            <a:avLst/>
          </a:prstGeom>
          <a:solidFill>
            <a:srgbClr val="CDEB8B"/>
          </a:solidFill>
          <a:ln w="12700">
            <a:solidFill>
              <a:srgbClr val="CDEB8B"/>
            </a:solidFill>
            <a:prstDash val="solid"/>
          </a:ln>
        </p:spPr>
      </p:sp>
      <p:sp>
        <p:nvSpPr>
          <p:cNvPr id="38" name="Text 36"/>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39" name="Text 37"/>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Point to Policy: this layer, not the LLM, decides evidence strength and candidate trade-offs.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TECHNOLOGIES USED</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08</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A practical hackathon stack</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Each technology has one clear responsibility.</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691640"/>
            <a:ext cx="3502152" cy="1024128"/>
          </a:xfrm>
          <a:prstGeom prst="roundRect">
            <a:avLst>
              <a:gd name="adj" fmla="val 10714"/>
            </a:avLst>
          </a:prstGeom>
          <a:solidFill>
            <a:srgbClr val="FFFFFF"/>
          </a:solidFill>
          <a:ln w="12700">
            <a:solidFill>
              <a:srgbClr val="DDE3DD"/>
            </a:solidFill>
            <a:prstDash val="solid"/>
          </a:ln>
        </p:spPr>
      </p:sp>
      <p:sp>
        <p:nvSpPr>
          <p:cNvPr id="13" name="Shape 11"/>
          <p:cNvSpPr/>
          <p:nvPr/>
        </p:nvSpPr>
        <p:spPr>
          <a:xfrm>
            <a:off x="749808" y="1911096"/>
            <a:ext cx="420624" cy="420624"/>
          </a:xfrm>
          <a:prstGeom prst="ellipse">
            <a:avLst/>
          </a:prstGeom>
          <a:solidFill>
            <a:srgbClr val="C12E60"/>
          </a:solidFill>
          <a:ln w="12700">
            <a:solidFill>
              <a:srgbClr val="C12E60"/>
            </a:solidFill>
            <a:prstDash val="solid"/>
          </a:ln>
        </p:spPr>
      </p:sp>
      <p:sp>
        <p:nvSpPr>
          <p:cNvPr id="14" name="Text 12"/>
          <p:cNvSpPr/>
          <p:nvPr/>
        </p:nvSpPr>
        <p:spPr>
          <a:xfrm>
            <a:off x="749808" y="1911096"/>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UI</a:t>
            </a:r>
            <a:endParaRPr lang="en-US" sz="800" dirty="0"/>
          </a:p>
        </p:txBody>
      </p:sp>
      <p:sp>
        <p:nvSpPr>
          <p:cNvPr id="15" name="Text 13"/>
          <p:cNvSpPr/>
          <p:nvPr/>
        </p:nvSpPr>
        <p:spPr>
          <a:xfrm>
            <a:off x="1316736" y="1856232"/>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React + Vite</a:t>
            </a:r>
            <a:endParaRPr lang="en-US" sz="1250" dirty="0"/>
          </a:p>
        </p:txBody>
      </p:sp>
      <p:sp>
        <p:nvSpPr>
          <p:cNvPr id="16" name="Text 14"/>
          <p:cNvSpPr/>
          <p:nvPr/>
        </p:nvSpPr>
        <p:spPr>
          <a:xfrm>
            <a:off x="1316736" y="2167128"/>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Responsive recruiter dashboard and fast development</a:t>
            </a:r>
            <a:endParaRPr lang="en-US" sz="920" dirty="0"/>
          </a:p>
        </p:txBody>
      </p:sp>
      <p:sp>
        <p:nvSpPr>
          <p:cNvPr id="17" name="Shape 15"/>
          <p:cNvSpPr/>
          <p:nvPr/>
        </p:nvSpPr>
        <p:spPr>
          <a:xfrm>
            <a:off x="4315968" y="1691640"/>
            <a:ext cx="3502152" cy="1024128"/>
          </a:xfrm>
          <a:prstGeom prst="roundRect">
            <a:avLst>
              <a:gd name="adj" fmla="val 10714"/>
            </a:avLst>
          </a:prstGeom>
          <a:solidFill>
            <a:srgbClr val="FFFFFF"/>
          </a:solidFill>
          <a:ln w="12700">
            <a:solidFill>
              <a:srgbClr val="DDE3DD"/>
            </a:solidFill>
            <a:prstDash val="solid"/>
          </a:ln>
        </p:spPr>
      </p:sp>
      <p:sp>
        <p:nvSpPr>
          <p:cNvPr id="18" name="Shape 16"/>
          <p:cNvSpPr/>
          <p:nvPr/>
        </p:nvSpPr>
        <p:spPr>
          <a:xfrm>
            <a:off x="4498848" y="1911096"/>
            <a:ext cx="420624" cy="420624"/>
          </a:xfrm>
          <a:prstGeom prst="ellipse">
            <a:avLst/>
          </a:prstGeom>
          <a:solidFill>
            <a:srgbClr val="426B87"/>
          </a:solidFill>
          <a:ln w="12700">
            <a:solidFill>
              <a:srgbClr val="426B87"/>
            </a:solidFill>
            <a:prstDash val="solid"/>
          </a:ln>
        </p:spPr>
      </p:sp>
      <p:sp>
        <p:nvSpPr>
          <p:cNvPr id="19" name="Text 17"/>
          <p:cNvSpPr/>
          <p:nvPr/>
        </p:nvSpPr>
        <p:spPr>
          <a:xfrm>
            <a:off x="4498848" y="1911096"/>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AP</a:t>
            </a:r>
            <a:endParaRPr lang="en-US" sz="800" dirty="0"/>
          </a:p>
        </p:txBody>
      </p:sp>
      <p:sp>
        <p:nvSpPr>
          <p:cNvPr id="20" name="Text 18"/>
          <p:cNvSpPr/>
          <p:nvPr/>
        </p:nvSpPr>
        <p:spPr>
          <a:xfrm>
            <a:off x="5065776" y="1856232"/>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Node.js + Express</a:t>
            </a:r>
            <a:endParaRPr lang="en-US" sz="1250" dirty="0"/>
          </a:p>
        </p:txBody>
      </p:sp>
      <p:sp>
        <p:nvSpPr>
          <p:cNvPr id="21" name="Text 19"/>
          <p:cNvSpPr/>
          <p:nvPr/>
        </p:nvSpPr>
        <p:spPr>
          <a:xfrm>
            <a:off x="5065776" y="2167128"/>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Stateless routes for agents and evidence tools</a:t>
            </a:r>
            <a:endParaRPr lang="en-US" sz="920" dirty="0"/>
          </a:p>
        </p:txBody>
      </p:sp>
      <p:sp>
        <p:nvSpPr>
          <p:cNvPr id="22" name="Shape 20"/>
          <p:cNvSpPr/>
          <p:nvPr/>
        </p:nvSpPr>
        <p:spPr>
          <a:xfrm>
            <a:off x="8065008" y="1691640"/>
            <a:ext cx="3502152" cy="1024128"/>
          </a:xfrm>
          <a:prstGeom prst="roundRect">
            <a:avLst>
              <a:gd name="adj" fmla="val 10714"/>
            </a:avLst>
          </a:prstGeom>
          <a:solidFill>
            <a:srgbClr val="FFFFFF"/>
          </a:solidFill>
          <a:ln w="12700">
            <a:solidFill>
              <a:srgbClr val="DDE3DD"/>
            </a:solidFill>
            <a:prstDash val="solid"/>
          </a:ln>
        </p:spPr>
      </p:sp>
      <p:sp>
        <p:nvSpPr>
          <p:cNvPr id="23" name="Shape 21"/>
          <p:cNvSpPr/>
          <p:nvPr/>
        </p:nvSpPr>
        <p:spPr>
          <a:xfrm>
            <a:off x="8247888" y="1911096"/>
            <a:ext cx="420624" cy="420624"/>
          </a:xfrm>
          <a:prstGeom prst="ellipse">
            <a:avLst/>
          </a:prstGeom>
          <a:solidFill>
            <a:srgbClr val="2E6B4A"/>
          </a:solidFill>
          <a:ln w="12700">
            <a:solidFill>
              <a:srgbClr val="2E6B4A"/>
            </a:solidFill>
            <a:prstDash val="solid"/>
          </a:ln>
        </p:spPr>
      </p:sp>
      <p:sp>
        <p:nvSpPr>
          <p:cNvPr id="24" name="Text 22"/>
          <p:cNvSpPr/>
          <p:nvPr/>
        </p:nvSpPr>
        <p:spPr>
          <a:xfrm>
            <a:off x="8247888" y="1911096"/>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Ag</a:t>
            </a:r>
            <a:endParaRPr lang="en-US" sz="800" dirty="0"/>
          </a:p>
        </p:txBody>
      </p:sp>
      <p:sp>
        <p:nvSpPr>
          <p:cNvPr id="25" name="Text 23"/>
          <p:cNvSpPr/>
          <p:nvPr/>
        </p:nvSpPr>
        <p:spPr>
          <a:xfrm>
            <a:off x="8814816" y="1856232"/>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LangChain</a:t>
            </a:r>
            <a:endParaRPr lang="en-US" sz="1250" dirty="0"/>
          </a:p>
        </p:txBody>
      </p:sp>
      <p:sp>
        <p:nvSpPr>
          <p:cNvPr id="26" name="Text 24"/>
          <p:cNvSpPr/>
          <p:nvPr/>
        </p:nvSpPr>
        <p:spPr>
          <a:xfrm>
            <a:off x="8814816" y="2167128"/>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Named, inspectable RunnableSequence workflows</a:t>
            </a:r>
            <a:endParaRPr lang="en-US" sz="920" dirty="0"/>
          </a:p>
        </p:txBody>
      </p:sp>
      <p:sp>
        <p:nvSpPr>
          <p:cNvPr id="27" name="Shape 25"/>
          <p:cNvSpPr/>
          <p:nvPr/>
        </p:nvSpPr>
        <p:spPr>
          <a:xfrm>
            <a:off x="566928" y="2953512"/>
            <a:ext cx="3502152" cy="1024128"/>
          </a:xfrm>
          <a:prstGeom prst="roundRect">
            <a:avLst>
              <a:gd name="adj" fmla="val 10714"/>
            </a:avLst>
          </a:prstGeom>
          <a:solidFill>
            <a:srgbClr val="FFFFFF"/>
          </a:solidFill>
          <a:ln w="12700">
            <a:solidFill>
              <a:srgbClr val="DDE3DD"/>
            </a:solidFill>
            <a:prstDash val="solid"/>
          </a:ln>
        </p:spPr>
      </p:sp>
      <p:sp>
        <p:nvSpPr>
          <p:cNvPr id="28" name="Shape 26"/>
          <p:cNvSpPr/>
          <p:nvPr/>
        </p:nvSpPr>
        <p:spPr>
          <a:xfrm>
            <a:off x="749808" y="3172968"/>
            <a:ext cx="420624" cy="420624"/>
          </a:xfrm>
          <a:prstGeom prst="ellipse">
            <a:avLst/>
          </a:prstGeom>
          <a:solidFill>
            <a:srgbClr val="2E6B4A"/>
          </a:solidFill>
          <a:ln w="12700">
            <a:solidFill>
              <a:srgbClr val="2E6B4A"/>
            </a:solidFill>
            <a:prstDash val="solid"/>
          </a:ln>
        </p:spPr>
      </p:sp>
      <p:sp>
        <p:nvSpPr>
          <p:cNvPr id="29" name="Text 27"/>
          <p:cNvSpPr/>
          <p:nvPr/>
        </p:nvSpPr>
        <p:spPr>
          <a:xfrm>
            <a:off x="749808" y="3172968"/>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Mo</a:t>
            </a:r>
            <a:endParaRPr lang="en-US" sz="800" dirty="0"/>
          </a:p>
        </p:txBody>
      </p:sp>
      <p:sp>
        <p:nvSpPr>
          <p:cNvPr id="30" name="Text 28"/>
          <p:cNvSpPr/>
          <p:nvPr/>
        </p:nvSpPr>
        <p:spPr>
          <a:xfrm>
            <a:off x="1316736" y="3118104"/>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OpenAI Chat Model</a:t>
            </a:r>
            <a:endParaRPr lang="en-US" sz="1250" dirty="0"/>
          </a:p>
        </p:txBody>
      </p:sp>
      <p:sp>
        <p:nvSpPr>
          <p:cNvPr id="31" name="Text 29"/>
          <p:cNvSpPr/>
          <p:nvPr/>
        </p:nvSpPr>
        <p:spPr>
          <a:xfrm>
            <a:off x="1316736" y="3429000"/>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Structured requirement proposals and grounded summaries</a:t>
            </a:r>
            <a:endParaRPr lang="en-US" sz="920" dirty="0"/>
          </a:p>
        </p:txBody>
      </p:sp>
      <p:sp>
        <p:nvSpPr>
          <p:cNvPr id="32" name="Shape 30"/>
          <p:cNvSpPr/>
          <p:nvPr/>
        </p:nvSpPr>
        <p:spPr>
          <a:xfrm>
            <a:off x="4315968" y="2953512"/>
            <a:ext cx="3502152" cy="1024128"/>
          </a:xfrm>
          <a:prstGeom prst="roundRect">
            <a:avLst>
              <a:gd name="adj" fmla="val 10714"/>
            </a:avLst>
          </a:prstGeom>
          <a:solidFill>
            <a:srgbClr val="FFFFFF"/>
          </a:solidFill>
          <a:ln w="12700">
            <a:solidFill>
              <a:srgbClr val="DDE3DD"/>
            </a:solidFill>
            <a:prstDash val="solid"/>
          </a:ln>
        </p:spPr>
      </p:sp>
      <p:sp>
        <p:nvSpPr>
          <p:cNvPr id="33" name="Shape 31"/>
          <p:cNvSpPr/>
          <p:nvPr/>
        </p:nvSpPr>
        <p:spPr>
          <a:xfrm>
            <a:off x="4498848" y="3172968"/>
            <a:ext cx="420624" cy="420624"/>
          </a:xfrm>
          <a:prstGeom prst="ellipse">
            <a:avLst/>
          </a:prstGeom>
          <a:solidFill>
            <a:srgbClr val="B07B25"/>
          </a:solidFill>
          <a:ln w="12700">
            <a:solidFill>
              <a:srgbClr val="B07B25"/>
            </a:solidFill>
            <a:prstDash val="solid"/>
          </a:ln>
        </p:spPr>
      </p:sp>
      <p:sp>
        <p:nvSpPr>
          <p:cNvPr id="34" name="Text 32"/>
          <p:cNvSpPr/>
          <p:nvPr/>
        </p:nvSpPr>
        <p:spPr>
          <a:xfrm>
            <a:off x="4498848" y="3172968"/>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Po</a:t>
            </a:r>
            <a:endParaRPr lang="en-US" sz="800" dirty="0"/>
          </a:p>
        </p:txBody>
      </p:sp>
      <p:sp>
        <p:nvSpPr>
          <p:cNvPr id="35" name="Text 33"/>
          <p:cNvSpPr/>
          <p:nvPr/>
        </p:nvSpPr>
        <p:spPr>
          <a:xfrm>
            <a:off x="5065776" y="3118104"/>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Zod + JavaScript rules</a:t>
            </a:r>
            <a:endParaRPr lang="en-US" sz="1250" dirty="0"/>
          </a:p>
        </p:txBody>
      </p:sp>
      <p:sp>
        <p:nvSpPr>
          <p:cNvPr id="36" name="Text 34"/>
          <p:cNvSpPr/>
          <p:nvPr/>
        </p:nvSpPr>
        <p:spPr>
          <a:xfrm>
            <a:off x="5065776" y="3429000"/>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Strict schemas, evidence scoring and contradictions</a:t>
            </a:r>
            <a:endParaRPr lang="en-US" sz="920" dirty="0"/>
          </a:p>
        </p:txBody>
      </p:sp>
      <p:sp>
        <p:nvSpPr>
          <p:cNvPr id="37" name="Shape 35"/>
          <p:cNvSpPr/>
          <p:nvPr/>
        </p:nvSpPr>
        <p:spPr>
          <a:xfrm>
            <a:off x="8065008" y="2953512"/>
            <a:ext cx="3502152" cy="1024128"/>
          </a:xfrm>
          <a:prstGeom prst="roundRect">
            <a:avLst>
              <a:gd name="adj" fmla="val 10714"/>
            </a:avLst>
          </a:prstGeom>
          <a:solidFill>
            <a:srgbClr val="FFFFFF"/>
          </a:solidFill>
          <a:ln w="12700">
            <a:solidFill>
              <a:srgbClr val="DDE3DD"/>
            </a:solidFill>
            <a:prstDash val="solid"/>
          </a:ln>
        </p:spPr>
      </p:sp>
      <p:sp>
        <p:nvSpPr>
          <p:cNvPr id="38" name="Shape 36"/>
          <p:cNvSpPr/>
          <p:nvPr/>
        </p:nvSpPr>
        <p:spPr>
          <a:xfrm>
            <a:off x="8247888" y="3172968"/>
            <a:ext cx="420624" cy="420624"/>
          </a:xfrm>
          <a:prstGeom prst="ellipse">
            <a:avLst/>
          </a:prstGeom>
          <a:solidFill>
            <a:srgbClr val="426B87"/>
          </a:solidFill>
          <a:ln w="12700">
            <a:solidFill>
              <a:srgbClr val="426B87"/>
            </a:solidFill>
            <a:prstDash val="solid"/>
          </a:ln>
        </p:spPr>
      </p:sp>
      <p:sp>
        <p:nvSpPr>
          <p:cNvPr id="39" name="Text 37"/>
          <p:cNvSpPr/>
          <p:nvPr/>
        </p:nvSpPr>
        <p:spPr>
          <a:xfrm>
            <a:off x="8247888" y="3172968"/>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Do</a:t>
            </a:r>
            <a:endParaRPr lang="en-US" sz="800" dirty="0"/>
          </a:p>
        </p:txBody>
      </p:sp>
      <p:sp>
        <p:nvSpPr>
          <p:cNvPr id="40" name="Text 38"/>
          <p:cNvSpPr/>
          <p:nvPr/>
        </p:nvSpPr>
        <p:spPr>
          <a:xfrm>
            <a:off x="8814816" y="3118104"/>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PDF.js + Mammoth</a:t>
            </a:r>
            <a:endParaRPr lang="en-US" sz="1250" dirty="0"/>
          </a:p>
        </p:txBody>
      </p:sp>
      <p:sp>
        <p:nvSpPr>
          <p:cNvPr id="41" name="Text 39"/>
          <p:cNvSpPr/>
          <p:nvPr/>
        </p:nvSpPr>
        <p:spPr>
          <a:xfrm>
            <a:off x="8814816" y="3429000"/>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Browser extraction from PDF and DOCX files</a:t>
            </a:r>
            <a:endParaRPr lang="en-US" sz="920" dirty="0"/>
          </a:p>
        </p:txBody>
      </p:sp>
      <p:sp>
        <p:nvSpPr>
          <p:cNvPr id="42" name="Shape 40"/>
          <p:cNvSpPr/>
          <p:nvPr/>
        </p:nvSpPr>
        <p:spPr>
          <a:xfrm>
            <a:off x="566928" y="4215384"/>
            <a:ext cx="3502152" cy="1024128"/>
          </a:xfrm>
          <a:prstGeom prst="roundRect">
            <a:avLst>
              <a:gd name="adj" fmla="val 10714"/>
            </a:avLst>
          </a:prstGeom>
          <a:solidFill>
            <a:srgbClr val="FFFFFF"/>
          </a:solidFill>
          <a:ln w="12700">
            <a:solidFill>
              <a:srgbClr val="DDE3DD"/>
            </a:solidFill>
            <a:prstDash val="solid"/>
          </a:ln>
        </p:spPr>
      </p:sp>
      <p:sp>
        <p:nvSpPr>
          <p:cNvPr id="43" name="Shape 41"/>
          <p:cNvSpPr/>
          <p:nvPr/>
        </p:nvSpPr>
        <p:spPr>
          <a:xfrm>
            <a:off x="749808" y="4434840"/>
            <a:ext cx="420624" cy="420624"/>
          </a:xfrm>
          <a:prstGeom prst="ellipse">
            <a:avLst/>
          </a:prstGeom>
          <a:solidFill>
            <a:srgbClr val="C12E60"/>
          </a:solidFill>
          <a:ln w="12700">
            <a:solidFill>
              <a:srgbClr val="C12E60"/>
            </a:solidFill>
            <a:prstDash val="solid"/>
          </a:ln>
        </p:spPr>
      </p:sp>
      <p:sp>
        <p:nvSpPr>
          <p:cNvPr id="44" name="Text 42"/>
          <p:cNvSpPr/>
          <p:nvPr/>
        </p:nvSpPr>
        <p:spPr>
          <a:xfrm>
            <a:off x="749808" y="4434840"/>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Ev</a:t>
            </a:r>
            <a:endParaRPr lang="en-US" sz="800" dirty="0"/>
          </a:p>
        </p:txBody>
      </p:sp>
      <p:sp>
        <p:nvSpPr>
          <p:cNvPr id="45" name="Text 43"/>
          <p:cNvSpPr/>
          <p:nvPr/>
        </p:nvSpPr>
        <p:spPr>
          <a:xfrm>
            <a:off x="1316736" y="4379976"/>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GitHub REST + LinkedIn OIDC</a:t>
            </a:r>
            <a:endParaRPr lang="en-US" sz="1250" dirty="0"/>
          </a:p>
        </p:txBody>
      </p:sp>
      <p:sp>
        <p:nvSpPr>
          <p:cNvPr id="46" name="Text 44"/>
          <p:cNvSpPr/>
          <p:nvPr/>
        </p:nvSpPr>
        <p:spPr>
          <a:xfrm>
            <a:off x="1316736" y="4690872"/>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Public metadata and consent-based identity flow</a:t>
            </a:r>
            <a:endParaRPr lang="en-US" sz="920" dirty="0"/>
          </a:p>
        </p:txBody>
      </p:sp>
      <p:sp>
        <p:nvSpPr>
          <p:cNvPr id="47" name="Shape 45"/>
          <p:cNvSpPr/>
          <p:nvPr/>
        </p:nvSpPr>
        <p:spPr>
          <a:xfrm>
            <a:off x="4315968" y="4215384"/>
            <a:ext cx="3502152" cy="1024128"/>
          </a:xfrm>
          <a:prstGeom prst="roundRect">
            <a:avLst>
              <a:gd name="adj" fmla="val 10714"/>
            </a:avLst>
          </a:prstGeom>
          <a:solidFill>
            <a:srgbClr val="FFFFFF"/>
          </a:solidFill>
          <a:ln w="12700">
            <a:solidFill>
              <a:srgbClr val="DDE3DD"/>
            </a:solidFill>
            <a:prstDash val="solid"/>
          </a:ln>
        </p:spPr>
      </p:sp>
      <p:sp>
        <p:nvSpPr>
          <p:cNvPr id="48" name="Shape 46"/>
          <p:cNvSpPr/>
          <p:nvPr/>
        </p:nvSpPr>
        <p:spPr>
          <a:xfrm>
            <a:off x="4498848" y="4434840"/>
            <a:ext cx="420624" cy="420624"/>
          </a:xfrm>
          <a:prstGeom prst="ellipse">
            <a:avLst/>
          </a:prstGeom>
          <a:solidFill>
            <a:srgbClr val="B07B25"/>
          </a:solidFill>
          <a:ln w="12700">
            <a:solidFill>
              <a:srgbClr val="B07B25"/>
            </a:solidFill>
            <a:prstDash val="solid"/>
          </a:ln>
        </p:spPr>
      </p:sp>
      <p:sp>
        <p:nvSpPr>
          <p:cNvPr id="49" name="Text 47"/>
          <p:cNvSpPr/>
          <p:nvPr/>
        </p:nvSpPr>
        <p:spPr>
          <a:xfrm>
            <a:off x="4498848" y="4434840"/>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Re</a:t>
            </a:r>
            <a:endParaRPr lang="en-US" sz="800" dirty="0"/>
          </a:p>
        </p:txBody>
      </p:sp>
      <p:sp>
        <p:nvSpPr>
          <p:cNvPr id="50" name="Text 48"/>
          <p:cNvSpPr/>
          <p:nvPr/>
        </p:nvSpPr>
        <p:spPr>
          <a:xfrm>
            <a:off x="5065776" y="4379976"/>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ExcelJS</a:t>
            </a:r>
            <a:endParaRPr lang="en-US" sz="1250" dirty="0"/>
          </a:p>
        </p:txBody>
      </p:sp>
      <p:sp>
        <p:nvSpPr>
          <p:cNvPr id="51" name="Text 49"/>
          <p:cNvSpPr/>
          <p:nvPr/>
        </p:nvSpPr>
        <p:spPr>
          <a:xfrm>
            <a:off x="5065776" y="4690872"/>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Ten-sheet recruiter audit workbook</a:t>
            </a:r>
            <a:endParaRPr lang="en-US" sz="920" dirty="0"/>
          </a:p>
        </p:txBody>
      </p:sp>
      <p:sp>
        <p:nvSpPr>
          <p:cNvPr id="52" name="Shape 50"/>
          <p:cNvSpPr/>
          <p:nvPr/>
        </p:nvSpPr>
        <p:spPr>
          <a:xfrm>
            <a:off x="8065008" y="4215384"/>
            <a:ext cx="3502152" cy="1024128"/>
          </a:xfrm>
          <a:prstGeom prst="roundRect">
            <a:avLst>
              <a:gd name="adj" fmla="val 10714"/>
            </a:avLst>
          </a:prstGeom>
          <a:solidFill>
            <a:srgbClr val="FFFFFF"/>
          </a:solidFill>
          <a:ln w="12700">
            <a:solidFill>
              <a:srgbClr val="DDE3DD"/>
            </a:solidFill>
            <a:prstDash val="solid"/>
          </a:ln>
        </p:spPr>
      </p:sp>
      <p:sp>
        <p:nvSpPr>
          <p:cNvPr id="53" name="Shape 51"/>
          <p:cNvSpPr/>
          <p:nvPr/>
        </p:nvSpPr>
        <p:spPr>
          <a:xfrm>
            <a:off x="8247888" y="4434840"/>
            <a:ext cx="420624" cy="420624"/>
          </a:xfrm>
          <a:prstGeom prst="ellipse">
            <a:avLst/>
          </a:prstGeom>
          <a:solidFill>
            <a:srgbClr val="2E6B4A"/>
          </a:solidFill>
          <a:ln w="12700">
            <a:solidFill>
              <a:srgbClr val="2E6B4A"/>
            </a:solidFill>
            <a:prstDash val="solid"/>
          </a:ln>
        </p:spPr>
      </p:sp>
      <p:sp>
        <p:nvSpPr>
          <p:cNvPr id="54" name="Text 52"/>
          <p:cNvSpPr/>
          <p:nvPr/>
        </p:nvSpPr>
        <p:spPr>
          <a:xfrm>
            <a:off x="8247888" y="4434840"/>
            <a:ext cx="420624" cy="420624"/>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Qu</a:t>
            </a:r>
            <a:endParaRPr lang="en-US" sz="800" dirty="0"/>
          </a:p>
        </p:txBody>
      </p:sp>
      <p:sp>
        <p:nvSpPr>
          <p:cNvPr id="55" name="Text 53"/>
          <p:cNvSpPr/>
          <p:nvPr/>
        </p:nvSpPr>
        <p:spPr>
          <a:xfrm>
            <a:off x="8814816" y="4379976"/>
            <a:ext cx="2496312" cy="265176"/>
          </a:xfrm>
          <a:prstGeom prst="rect">
            <a:avLst/>
          </a:prstGeom>
          <a:noFill/>
          <a:ln/>
        </p:spPr>
        <p:txBody>
          <a:bodyPr wrap="square" lIns="0" tIns="0" rIns="0" bIns="0" rtlCol="0" anchor="ctr">
            <a:normAutofit/>
          </a:bodyPr>
          <a:lstStyle/>
          <a:p>
            <a:pPr algn="l" indent="0" marL="0">
              <a:buNone/>
            </a:pPr>
            <a:r>
              <a:rPr lang="en-US" sz="1250" b="1" dirty="0">
                <a:solidFill>
                  <a:srgbClr val="18221C"/>
                </a:solidFill>
                <a:latin typeface="Aptos" pitchFamily="34" charset="0"/>
                <a:ea typeface="Aptos" pitchFamily="34" charset="-122"/>
                <a:cs typeface="Aptos" pitchFamily="34" charset="-120"/>
              </a:rPr>
              <a:t>Node Test + ESLint</a:t>
            </a:r>
            <a:endParaRPr lang="en-US" sz="1250" dirty="0"/>
          </a:p>
        </p:txBody>
      </p:sp>
      <p:sp>
        <p:nvSpPr>
          <p:cNvPr id="56" name="Text 54"/>
          <p:cNvSpPr/>
          <p:nvPr/>
        </p:nvSpPr>
        <p:spPr>
          <a:xfrm>
            <a:off x="8814816" y="4690872"/>
            <a:ext cx="2487168" cy="384048"/>
          </a:xfrm>
          <a:prstGeom prst="rect">
            <a:avLst/>
          </a:prstGeom>
          <a:noFill/>
          <a:ln/>
        </p:spPr>
        <p:txBody>
          <a:bodyPr wrap="square" lIns="0" tIns="0" rIns="0" bIns="0" rtlCol="0" anchor="t">
            <a:normAutofit/>
          </a:bodyPr>
          <a:lstStyle/>
          <a:p>
            <a:pPr algn="l" indent="0" marL="0">
              <a:buNone/>
            </a:pPr>
            <a:r>
              <a:rPr lang="en-US" sz="920" dirty="0">
                <a:solidFill>
                  <a:srgbClr val="5D6A62"/>
                </a:solidFill>
                <a:latin typeface="Aptos" pitchFamily="34" charset="0"/>
                <a:ea typeface="Aptos" pitchFamily="34" charset="-122"/>
                <a:cs typeface="Aptos" pitchFamily="34" charset="-120"/>
              </a:rPr>
              <a:t>49 automated checks and code-quality validation</a:t>
            </a:r>
            <a:endParaRPr lang="en-US" sz="920" dirty="0"/>
          </a:p>
        </p:txBody>
      </p:sp>
      <p:sp>
        <p:nvSpPr>
          <p:cNvPr id="57" name="Shape 55"/>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8" name="Shape 56"/>
          <p:cNvSpPr/>
          <p:nvPr/>
        </p:nvSpPr>
        <p:spPr>
          <a:xfrm>
            <a:off x="685800" y="6044184"/>
            <a:ext cx="164592" cy="164592"/>
          </a:xfrm>
          <a:prstGeom prst="ellipse">
            <a:avLst/>
          </a:prstGeom>
          <a:solidFill>
            <a:srgbClr val="CDEB8B"/>
          </a:solidFill>
          <a:ln w="12700">
            <a:solidFill>
              <a:srgbClr val="CDEB8B"/>
            </a:solidFill>
            <a:prstDash val="solid"/>
          </a:ln>
        </p:spPr>
      </p:sp>
      <p:sp>
        <p:nvSpPr>
          <p:cNvPr id="59" name="Text 57"/>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60" name="Text 58"/>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If asked “where is the AI?”, answer: LangChain coordinates it; the OpenAI model only proposes or summarizes structured information.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AGENTIC AI</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09</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Requirement Intelligence Agent</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Any role can receive a terminology map without a permanent manual word bank.</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76072" y="1700784"/>
            <a:ext cx="2834640" cy="3886200"/>
          </a:xfrm>
          <a:prstGeom prst="roundRect">
            <a:avLst>
              <a:gd name="adj" fmla="val 3871"/>
            </a:avLst>
          </a:prstGeom>
          <a:solidFill>
            <a:srgbClr val="FFFFFF"/>
          </a:solidFill>
          <a:ln w="12700">
            <a:solidFill>
              <a:srgbClr val="DDE3DD"/>
            </a:solidFill>
            <a:prstDash val="solid"/>
          </a:ln>
        </p:spPr>
      </p:sp>
      <p:sp>
        <p:nvSpPr>
          <p:cNvPr id="13" name="Text 11"/>
          <p:cNvSpPr/>
          <p:nvPr/>
        </p:nvSpPr>
        <p:spPr>
          <a:xfrm>
            <a:off x="841248" y="1947672"/>
            <a:ext cx="731520" cy="228600"/>
          </a:xfrm>
          <a:prstGeom prst="rect">
            <a:avLst/>
          </a:prstGeom>
          <a:noFill/>
          <a:ln/>
        </p:spPr>
        <p:txBody>
          <a:bodyPr wrap="square" lIns="0" tIns="0" rIns="0" bIns="0" rtlCol="0" anchor="ctr">
            <a:normAutofit/>
          </a:bodyPr>
          <a:lstStyle/>
          <a:p>
            <a:pPr algn="l" indent="0" marL="0">
              <a:buNone/>
            </a:pPr>
            <a:r>
              <a:rPr lang="en-US" sz="800" b="1" spc="120" kern="0" dirty="0">
                <a:solidFill>
                  <a:srgbClr val="426B87"/>
                </a:solidFill>
                <a:latin typeface="Aptos" pitchFamily="34" charset="0"/>
                <a:ea typeface="Aptos" pitchFamily="34" charset="-122"/>
                <a:cs typeface="Aptos" pitchFamily="34" charset="-120"/>
              </a:rPr>
              <a:t>INPUT</a:t>
            </a:r>
            <a:endParaRPr lang="en-US" sz="800" dirty="0"/>
          </a:p>
        </p:txBody>
      </p:sp>
      <p:sp>
        <p:nvSpPr>
          <p:cNvPr id="14" name="Text 12"/>
          <p:cNvSpPr/>
          <p:nvPr/>
        </p:nvSpPr>
        <p:spPr>
          <a:xfrm>
            <a:off x="841248" y="2304288"/>
            <a:ext cx="2249424" cy="475488"/>
          </a:xfrm>
          <a:prstGeom prst="rect">
            <a:avLst/>
          </a:prstGeom>
          <a:noFill/>
          <a:ln/>
        </p:spPr>
        <p:txBody>
          <a:bodyPr wrap="square" lIns="0" tIns="0" rIns="0" bIns="0" rtlCol="0" anchor="ctr">
            <a:normAutofit/>
          </a:bodyPr>
          <a:lstStyle/>
          <a:p>
            <a:pPr algn="l" indent="0" marL="0">
              <a:buNone/>
            </a:pPr>
            <a:r>
              <a:rPr lang="en-US" sz="2000" b="1" dirty="0">
                <a:solidFill>
                  <a:srgbClr val="18221C"/>
                </a:solidFill>
                <a:latin typeface="Aptos Display" pitchFamily="34" charset="0"/>
                <a:ea typeface="Aptos Display" pitchFamily="34" charset="-122"/>
                <a:cs typeface="Aptos Display" pitchFamily="34" charset="-120"/>
              </a:rPr>
              <a:t>Unity Multiplayer Engineer</a:t>
            </a:r>
            <a:endParaRPr lang="en-US" sz="2000" dirty="0"/>
          </a:p>
        </p:txBody>
      </p:sp>
      <p:sp>
        <p:nvSpPr>
          <p:cNvPr id="15" name="Text 13"/>
          <p:cNvSpPr/>
          <p:nvPr/>
        </p:nvSpPr>
        <p:spPr>
          <a:xfrm>
            <a:off x="841248" y="2935224"/>
            <a:ext cx="2221992" cy="1024128"/>
          </a:xfrm>
          <a:prstGeom prst="rect">
            <a:avLst/>
          </a:prstGeom>
          <a:noFill/>
          <a:ln/>
        </p:spPr>
        <p:txBody>
          <a:bodyPr wrap="square" lIns="0" tIns="0" rIns="0" bIns="0" rtlCol="0" anchor="t">
            <a:normAutofit/>
          </a:bodyPr>
          <a:lstStyle/>
          <a:p>
            <a:pPr algn="l" indent="0" marL="0">
              <a:buNone/>
            </a:pPr>
            <a:r>
              <a:rPr lang="en-US" sz="1120" i="1" dirty="0">
                <a:solidFill>
                  <a:srgbClr val="5D6A62"/>
                </a:solidFill>
                <a:latin typeface="Aptos" pitchFamily="34" charset="0"/>
                <a:ea typeface="Aptos" pitchFamily="34" charset="-122"/>
                <a:cs typeface="Aptos" pitchFamily="34" charset="-120"/>
              </a:rPr>
              <a:t>“Build networked gameplay systems, optimize real-time state synchronization, and ship reliable Unity titles.”</a:t>
            </a:r>
            <a:endParaRPr lang="en-US" sz="1120" dirty="0"/>
          </a:p>
        </p:txBody>
      </p:sp>
      <p:sp>
        <p:nvSpPr>
          <p:cNvPr id="16" name="Shape 14"/>
          <p:cNvSpPr/>
          <p:nvPr/>
        </p:nvSpPr>
        <p:spPr>
          <a:xfrm>
            <a:off x="841248" y="4325112"/>
            <a:ext cx="868680" cy="310896"/>
          </a:xfrm>
          <a:prstGeom prst="roundRect">
            <a:avLst>
              <a:gd name="adj" fmla="val 50000"/>
            </a:avLst>
          </a:prstGeom>
          <a:solidFill>
            <a:srgbClr val="EAF2F7"/>
          </a:solidFill>
          <a:ln w="12700">
            <a:solidFill>
              <a:srgbClr val="EAF2F7"/>
            </a:solidFill>
            <a:prstDash val="solid"/>
          </a:ln>
        </p:spPr>
      </p:sp>
      <p:sp>
        <p:nvSpPr>
          <p:cNvPr id="17" name="Text 15"/>
          <p:cNvSpPr/>
          <p:nvPr/>
        </p:nvSpPr>
        <p:spPr>
          <a:xfrm>
            <a:off x="841248" y="4325112"/>
            <a:ext cx="868680" cy="310896"/>
          </a:xfrm>
          <a:prstGeom prst="rect">
            <a:avLst/>
          </a:prstGeom>
          <a:noFill/>
          <a:ln/>
        </p:spPr>
        <p:txBody>
          <a:bodyPr wrap="square" lIns="0" tIns="0" rIns="0" bIns="0" rtlCol="0" anchor="ctr">
            <a:normAutofit/>
          </a:bodyPr>
          <a:lstStyle/>
          <a:p>
            <a:pPr algn="ctr" indent="0" marL="0">
              <a:buNone/>
            </a:pPr>
            <a:r>
              <a:rPr lang="en-US" sz="780" b="1" spc="120" kern="0" dirty="0">
                <a:solidFill>
                  <a:srgbClr val="426B87"/>
                </a:solidFill>
                <a:latin typeface="Aptos" pitchFamily="34" charset="0"/>
                <a:ea typeface="Aptos" pitchFamily="34" charset="-122"/>
                <a:cs typeface="Aptos" pitchFamily="34" charset="-120"/>
              </a:rPr>
              <a:t>ENRICH</a:t>
            </a:r>
            <a:endParaRPr lang="en-US" sz="780" dirty="0"/>
          </a:p>
        </p:txBody>
      </p:sp>
      <p:sp>
        <p:nvSpPr>
          <p:cNvPr id="18" name="Shape 16"/>
          <p:cNvSpPr/>
          <p:nvPr/>
        </p:nvSpPr>
        <p:spPr>
          <a:xfrm>
            <a:off x="1810512" y="4325112"/>
            <a:ext cx="950976" cy="310896"/>
          </a:xfrm>
          <a:prstGeom prst="roundRect">
            <a:avLst>
              <a:gd name="adj" fmla="val 50000"/>
            </a:avLst>
          </a:prstGeom>
          <a:solidFill>
            <a:srgbClr val="F8E7ED"/>
          </a:solidFill>
          <a:ln w="12700">
            <a:solidFill>
              <a:srgbClr val="F8E7ED"/>
            </a:solidFill>
            <a:prstDash val="solid"/>
          </a:ln>
        </p:spPr>
      </p:sp>
      <p:sp>
        <p:nvSpPr>
          <p:cNvPr id="19" name="Text 17"/>
          <p:cNvSpPr/>
          <p:nvPr/>
        </p:nvSpPr>
        <p:spPr>
          <a:xfrm>
            <a:off x="1810512" y="4325112"/>
            <a:ext cx="950976" cy="310896"/>
          </a:xfrm>
          <a:prstGeom prst="rect">
            <a:avLst/>
          </a:prstGeom>
          <a:noFill/>
          <a:ln/>
        </p:spPr>
        <p:txBody>
          <a:bodyPr wrap="square" lIns="0" tIns="0" rIns="0" bIns="0" rtlCol="0" anchor="ctr">
            <a:normAutofit/>
          </a:bodyPr>
          <a:lstStyle/>
          <a:p>
            <a:pPr algn="ctr" indent="0" marL="0">
              <a:buNone/>
            </a:pPr>
            <a:r>
              <a:rPr lang="en-US" sz="780" b="1" spc="120" kern="0" dirty="0">
                <a:solidFill>
                  <a:srgbClr val="C12E60"/>
                </a:solidFill>
                <a:latin typeface="Aptos" pitchFamily="34" charset="0"/>
                <a:ea typeface="Aptos" pitchFamily="34" charset="-122"/>
                <a:cs typeface="Aptos" pitchFamily="34" charset="-120"/>
              </a:rPr>
              <a:t>NEW MAP</a:t>
            </a:r>
            <a:endParaRPr lang="en-US" sz="780" dirty="0"/>
          </a:p>
        </p:txBody>
      </p:sp>
      <p:sp>
        <p:nvSpPr>
          <p:cNvPr id="20" name="Text 18"/>
          <p:cNvSpPr/>
          <p:nvPr/>
        </p:nvSpPr>
        <p:spPr>
          <a:xfrm>
            <a:off x="841248" y="4837176"/>
            <a:ext cx="2194560" cy="402336"/>
          </a:xfrm>
          <a:prstGeom prst="rect">
            <a:avLst/>
          </a:prstGeom>
          <a:noFill/>
          <a:ln/>
        </p:spPr>
        <p:txBody>
          <a:bodyPr wrap="square" lIns="0" tIns="0" rIns="0" bIns="0" rtlCol="0" anchor="ctr">
            <a:normAutofit/>
          </a:bodyPr>
          <a:lstStyle/>
          <a:p>
            <a:pPr algn="l" indent="0" marL="0">
              <a:buNone/>
            </a:pPr>
            <a:r>
              <a:rPr lang="en-US" sz="940" dirty="0">
                <a:solidFill>
                  <a:srgbClr val="87928B"/>
                </a:solidFill>
                <a:latin typeface="Aptos" pitchFamily="34" charset="0"/>
                <a:ea typeface="Aptos" pitchFamily="34" charset="-122"/>
                <a:cs typeface="Aptos" pitchFamily="34" charset="-120"/>
              </a:rPr>
              <a:t>Mode controls whether existing criteria are preserved or replaced.</a:t>
            </a:r>
            <a:endParaRPr lang="en-US" sz="940" dirty="0"/>
          </a:p>
        </p:txBody>
      </p:sp>
      <p:sp>
        <p:nvSpPr>
          <p:cNvPr id="21" name="Shape 19"/>
          <p:cNvSpPr/>
          <p:nvPr/>
        </p:nvSpPr>
        <p:spPr>
          <a:xfrm>
            <a:off x="3438144" y="3602736"/>
            <a:ext cx="484632" cy="0"/>
          </a:xfrm>
          <a:prstGeom prst="line">
            <a:avLst/>
          </a:prstGeom>
          <a:noFill/>
          <a:ln w="19050">
            <a:solidFill>
              <a:srgbClr val="2E6B4A"/>
            </a:solidFill>
            <a:prstDash val="solid"/>
            <a:tailEnd type="triangle"/>
          </a:ln>
        </p:spPr>
      </p:sp>
      <p:sp>
        <p:nvSpPr>
          <p:cNvPr id="22" name="Shape 20"/>
          <p:cNvSpPr/>
          <p:nvPr/>
        </p:nvSpPr>
        <p:spPr>
          <a:xfrm>
            <a:off x="3941064" y="1700784"/>
            <a:ext cx="3822192" cy="3886200"/>
          </a:xfrm>
          <a:prstGeom prst="roundRect">
            <a:avLst>
              <a:gd name="adj" fmla="val 2871"/>
            </a:avLst>
          </a:prstGeom>
          <a:solidFill>
            <a:srgbClr val="EEF6F0"/>
          </a:solidFill>
          <a:ln w="12700">
            <a:solidFill>
              <a:srgbClr val="DDEDE2"/>
            </a:solidFill>
            <a:prstDash val="solid"/>
          </a:ln>
        </p:spPr>
      </p:sp>
      <p:sp>
        <p:nvSpPr>
          <p:cNvPr id="23" name="Shape 21"/>
          <p:cNvSpPr/>
          <p:nvPr/>
        </p:nvSpPr>
        <p:spPr>
          <a:xfrm>
            <a:off x="4270248" y="1947672"/>
            <a:ext cx="1572768" cy="310896"/>
          </a:xfrm>
          <a:prstGeom prst="roundRect">
            <a:avLst>
              <a:gd name="adj" fmla="val 50000"/>
            </a:avLst>
          </a:prstGeom>
          <a:solidFill>
            <a:srgbClr val="FFFFFF"/>
          </a:solidFill>
          <a:ln w="12700">
            <a:solidFill>
              <a:srgbClr val="FFFFFF"/>
            </a:solidFill>
            <a:prstDash val="solid"/>
          </a:ln>
        </p:spPr>
      </p:sp>
      <p:sp>
        <p:nvSpPr>
          <p:cNvPr id="24" name="Text 22"/>
          <p:cNvSpPr/>
          <p:nvPr/>
        </p:nvSpPr>
        <p:spPr>
          <a:xfrm>
            <a:off x="4270248" y="1947672"/>
            <a:ext cx="1572768" cy="310896"/>
          </a:xfrm>
          <a:prstGeom prst="rect">
            <a:avLst/>
          </a:prstGeom>
          <a:noFill/>
          <a:ln/>
        </p:spPr>
        <p:txBody>
          <a:bodyPr wrap="square" lIns="0" tIns="0" rIns="0" bIns="0" rtlCol="0" anchor="ctr">
            <a:normAutofit/>
          </a:bodyPr>
          <a:lstStyle/>
          <a:p>
            <a:pPr algn="ctr" indent="0" marL="0">
              <a:buNone/>
            </a:pPr>
            <a:r>
              <a:rPr lang="en-US" sz="750" b="1" spc="120" kern="0" dirty="0">
                <a:solidFill>
                  <a:srgbClr val="2E6B4A"/>
                </a:solidFill>
                <a:latin typeface="Aptos" pitchFamily="34" charset="0"/>
                <a:ea typeface="Aptos" pitchFamily="34" charset="-122"/>
                <a:cs typeface="Aptos" pitchFamily="34" charset="-120"/>
              </a:rPr>
              <a:t>LANGCHAIN WORKFLOW</a:t>
            </a:r>
            <a:endParaRPr lang="en-US" sz="750" dirty="0"/>
          </a:p>
        </p:txBody>
      </p:sp>
      <p:sp>
        <p:nvSpPr>
          <p:cNvPr id="25" name="Shape 23"/>
          <p:cNvSpPr/>
          <p:nvPr/>
        </p:nvSpPr>
        <p:spPr>
          <a:xfrm>
            <a:off x="4315968" y="2468880"/>
            <a:ext cx="329184" cy="329184"/>
          </a:xfrm>
          <a:prstGeom prst="ellipse">
            <a:avLst/>
          </a:prstGeom>
          <a:solidFill>
            <a:srgbClr val="2E6B4A"/>
          </a:solidFill>
          <a:ln w="12700">
            <a:solidFill>
              <a:srgbClr val="2E6B4A"/>
            </a:solidFill>
            <a:prstDash val="solid"/>
          </a:ln>
        </p:spPr>
      </p:sp>
      <p:sp>
        <p:nvSpPr>
          <p:cNvPr id="26" name="Text 24"/>
          <p:cNvSpPr/>
          <p:nvPr/>
        </p:nvSpPr>
        <p:spPr>
          <a:xfrm>
            <a:off x="4315968" y="2468880"/>
            <a:ext cx="329184"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27" name="Text 25"/>
          <p:cNvSpPr/>
          <p:nvPr/>
        </p:nvSpPr>
        <p:spPr>
          <a:xfrm>
            <a:off x="4809744" y="2450592"/>
            <a:ext cx="2542032" cy="338328"/>
          </a:xfrm>
          <a:prstGeom prst="rect">
            <a:avLst/>
          </a:prstGeom>
          <a:noFill/>
          <a:ln/>
        </p:spPr>
        <p:txBody>
          <a:bodyPr wrap="square" lIns="0" tIns="0" rIns="0" bIns="0" rtlCol="0" anchor="ctr">
            <a:normAutofit/>
          </a:bodyPr>
          <a:lstStyle/>
          <a:p>
            <a:pPr algn="l" indent="0" marL="0">
              <a:buNone/>
            </a:pPr>
            <a:r>
              <a:rPr lang="en-US" sz="1100" b="1" dirty="0">
                <a:solidFill>
                  <a:srgbClr val="18221C"/>
                </a:solidFill>
                <a:latin typeface="Aptos" pitchFamily="34" charset="0"/>
                <a:ea typeface="Aptos" pitchFamily="34" charset="-122"/>
                <a:cs typeface="Aptos" pitchFamily="34" charset="-120"/>
              </a:rPr>
              <a:t>Validate + minimize input</a:t>
            </a:r>
            <a:endParaRPr lang="en-US" sz="1100" dirty="0"/>
          </a:p>
        </p:txBody>
      </p:sp>
      <p:sp>
        <p:nvSpPr>
          <p:cNvPr id="28" name="Shape 26"/>
          <p:cNvSpPr/>
          <p:nvPr/>
        </p:nvSpPr>
        <p:spPr>
          <a:xfrm>
            <a:off x="4480560" y="2816352"/>
            <a:ext cx="0" cy="256032"/>
          </a:xfrm>
          <a:prstGeom prst="line">
            <a:avLst/>
          </a:prstGeom>
          <a:noFill/>
          <a:ln w="12700">
            <a:solidFill>
              <a:srgbClr val="2E6B4A"/>
            </a:solidFill>
            <a:prstDash val="solid"/>
          </a:ln>
        </p:spPr>
      </p:sp>
      <p:sp>
        <p:nvSpPr>
          <p:cNvPr id="29" name="Shape 27"/>
          <p:cNvSpPr/>
          <p:nvPr/>
        </p:nvSpPr>
        <p:spPr>
          <a:xfrm>
            <a:off x="4315968" y="3108960"/>
            <a:ext cx="329184" cy="329184"/>
          </a:xfrm>
          <a:prstGeom prst="ellipse">
            <a:avLst/>
          </a:prstGeom>
          <a:solidFill>
            <a:srgbClr val="2E6B4A"/>
          </a:solidFill>
          <a:ln w="12700">
            <a:solidFill>
              <a:srgbClr val="2E6B4A"/>
            </a:solidFill>
            <a:prstDash val="solid"/>
          </a:ln>
        </p:spPr>
      </p:sp>
      <p:sp>
        <p:nvSpPr>
          <p:cNvPr id="30" name="Text 28"/>
          <p:cNvSpPr/>
          <p:nvPr/>
        </p:nvSpPr>
        <p:spPr>
          <a:xfrm>
            <a:off x="4315968" y="3108960"/>
            <a:ext cx="329184"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31" name="Text 29"/>
          <p:cNvSpPr/>
          <p:nvPr/>
        </p:nvSpPr>
        <p:spPr>
          <a:xfrm>
            <a:off x="4809744" y="3090672"/>
            <a:ext cx="2542032" cy="338328"/>
          </a:xfrm>
          <a:prstGeom prst="rect">
            <a:avLst/>
          </a:prstGeom>
          <a:noFill/>
          <a:ln/>
        </p:spPr>
        <p:txBody>
          <a:bodyPr wrap="square" lIns="0" tIns="0" rIns="0" bIns="0" rtlCol="0" anchor="ctr">
            <a:normAutofit/>
          </a:bodyPr>
          <a:lstStyle/>
          <a:p>
            <a:pPr algn="l" indent="0" marL="0">
              <a:buNone/>
            </a:pPr>
            <a:r>
              <a:rPr lang="en-US" sz="1100" b="1" dirty="0">
                <a:solidFill>
                  <a:srgbClr val="18221C"/>
                </a:solidFill>
                <a:latin typeface="Aptos" pitchFamily="34" charset="0"/>
                <a:ea typeface="Aptos" pitchFamily="34" charset="-122"/>
                <a:cs typeface="Aptos" pitchFamily="34" charset="-120"/>
              </a:rPr>
              <a:t>Generate structured proposal</a:t>
            </a:r>
            <a:endParaRPr lang="en-US" sz="1100" dirty="0"/>
          </a:p>
        </p:txBody>
      </p:sp>
      <p:sp>
        <p:nvSpPr>
          <p:cNvPr id="32" name="Shape 30"/>
          <p:cNvSpPr/>
          <p:nvPr/>
        </p:nvSpPr>
        <p:spPr>
          <a:xfrm>
            <a:off x="4480560" y="3456432"/>
            <a:ext cx="0" cy="256032"/>
          </a:xfrm>
          <a:prstGeom prst="line">
            <a:avLst/>
          </a:prstGeom>
          <a:noFill/>
          <a:ln w="12700">
            <a:solidFill>
              <a:srgbClr val="2E6B4A"/>
            </a:solidFill>
            <a:prstDash val="solid"/>
          </a:ln>
        </p:spPr>
      </p:sp>
      <p:sp>
        <p:nvSpPr>
          <p:cNvPr id="33" name="Shape 31"/>
          <p:cNvSpPr/>
          <p:nvPr/>
        </p:nvSpPr>
        <p:spPr>
          <a:xfrm>
            <a:off x="4315968" y="3749040"/>
            <a:ext cx="329184" cy="329184"/>
          </a:xfrm>
          <a:prstGeom prst="ellipse">
            <a:avLst/>
          </a:prstGeom>
          <a:solidFill>
            <a:srgbClr val="2E6B4A"/>
          </a:solidFill>
          <a:ln w="12700">
            <a:solidFill>
              <a:srgbClr val="2E6B4A"/>
            </a:solidFill>
            <a:prstDash val="solid"/>
          </a:ln>
        </p:spPr>
      </p:sp>
      <p:sp>
        <p:nvSpPr>
          <p:cNvPr id="34" name="Text 32"/>
          <p:cNvSpPr/>
          <p:nvPr/>
        </p:nvSpPr>
        <p:spPr>
          <a:xfrm>
            <a:off x="4315968" y="3749040"/>
            <a:ext cx="329184"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35" name="Text 33"/>
          <p:cNvSpPr/>
          <p:nvPr/>
        </p:nvSpPr>
        <p:spPr>
          <a:xfrm>
            <a:off x="4809744" y="3730752"/>
            <a:ext cx="2542032" cy="338328"/>
          </a:xfrm>
          <a:prstGeom prst="rect">
            <a:avLst/>
          </a:prstGeom>
          <a:noFill/>
          <a:ln/>
        </p:spPr>
        <p:txBody>
          <a:bodyPr wrap="square" lIns="0" tIns="0" rIns="0" bIns="0" rtlCol="0" anchor="ctr">
            <a:normAutofit/>
          </a:bodyPr>
          <a:lstStyle/>
          <a:p>
            <a:pPr algn="l" indent="0" marL="0">
              <a:buNone/>
            </a:pPr>
            <a:r>
              <a:rPr lang="en-US" sz="1100" b="1" dirty="0">
                <a:solidFill>
                  <a:srgbClr val="18221C"/>
                </a:solidFill>
                <a:latin typeface="Aptos" pitchFamily="34" charset="0"/>
                <a:ea typeface="Aptos" pitchFamily="34" charset="-122"/>
                <a:cs typeface="Aptos" pitchFamily="34" charset="-120"/>
              </a:rPr>
              <a:t>Remove duplicates + broad terms</a:t>
            </a:r>
            <a:endParaRPr lang="en-US" sz="1100" dirty="0"/>
          </a:p>
        </p:txBody>
      </p:sp>
      <p:sp>
        <p:nvSpPr>
          <p:cNvPr id="36" name="Shape 34"/>
          <p:cNvSpPr/>
          <p:nvPr/>
        </p:nvSpPr>
        <p:spPr>
          <a:xfrm>
            <a:off x="4480560" y="4096512"/>
            <a:ext cx="0" cy="256032"/>
          </a:xfrm>
          <a:prstGeom prst="line">
            <a:avLst/>
          </a:prstGeom>
          <a:noFill/>
          <a:ln w="12700">
            <a:solidFill>
              <a:srgbClr val="2E6B4A"/>
            </a:solidFill>
            <a:prstDash val="solid"/>
          </a:ln>
        </p:spPr>
      </p:sp>
      <p:sp>
        <p:nvSpPr>
          <p:cNvPr id="37" name="Shape 35"/>
          <p:cNvSpPr/>
          <p:nvPr/>
        </p:nvSpPr>
        <p:spPr>
          <a:xfrm>
            <a:off x="4315968" y="4389120"/>
            <a:ext cx="329184" cy="329184"/>
          </a:xfrm>
          <a:prstGeom prst="ellipse">
            <a:avLst/>
          </a:prstGeom>
          <a:solidFill>
            <a:srgbClr val="2E6B4A"/>
          </a:solidFill>
          <a:ln w="12700">
            <a:solidFill>
              <a:srgbClr val="2E6B4A"/>
            </a:solidFill>
            <a:prstDash val="solid"/>
          </a:ln>
        </p:spPr>
      </p:sp>
      <p:sp>
        <p:nvSpPr>
          <p:cNvPr id="38" name="Text 36"/>
          <p:cNvSpPr/>
          <p:nvPr/>
        </p:nvSpPr>
        <p:spPr>
          <a:xfrm>
            <a:off x="4315968" y="4389120"/>
            <a:ext cx="329184" cy="329184"/>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39" name="Text 37"/>
          <p:cNvSpPr/>
          <p:nvPr/>
        </p:nvSpPr>
        <p:spPr>
          <a:xfrm>
            <a:off x="4809744" y="4370832"/>
            <a:ext cx="2542032" cy="338328"/>
          </a:xfrm>
          <a:prstGeom prst="rect">
            <a:avLst/>
          </a:prstGeom>
          <a:noFill/>
          <a:ln/>
        </p:spPr>
        <p:txBody>
          <a:bodyPr wrap="square" lIns="0" tIns="0" rIns="0" bIns="0" rtlCol="0" anchor="ctr">
            <a:normAutofit/>
          </a:bodyPr>
          <a:lstStyle/>
          <a:p>
            <a:pPr algn="l" indent="0" marL="0">
              <a:buNone/>
            </a:pPr>
            <a:r>
              <a:rPr lang="en-US" sz="1100" b="1" dirty="0">
                <a:solidFill>
                  <a:srgbClr val="18221C"/>
                </a:solidFill>
                <a:latin typeface="Aptos" pitchFamily="34" charset="0"/>
                <a:ea typeface="Aptos" pitchFamily="34" charset="-122"/>
                <a:cs typeface="Aptos" pitchFamily="34" charset="-120"/>
              </a:rPr>
              <a:t>Return proposal, never auto-save</a:t>
            </a:r>
            <a:endParaRPr lang="en-US" sz="1100" dirty="0"/>
          </a:p>
        </p:txBody>
      </p:sp>
      <p:sp>
        <p:nvSpPr>
          <p:cNvPr id="40" name="Shape 38"/>
          <p:cNvSpPr/>
          <p:nvPr/>
        </p:nvSpPr>
        <p:spPr>
          <a:xfrm>
            <a:off x="7808976" y="3602736"/>
            <a:ext cx="484632" cy="0"/>
          </a:xfrm>
          <a:prstGeom prst="line">
            <a:avLst/>
          </a:prstGeom>
          <a:noFill/>
          <a:ln w="19050">
            <a:solidFill>
              <a:srgbClr val="2E6B4A"/>
            </a:solidFill>
            <a:prstDash val="solid"/>
            <a:tailEnd type="triangle"/>
          </a:ln>
        </p:spPr>
      </p:sp>
      <p:sp>
        <p:nvSpPr>
          <p:cNvPr id="41" name="Shape 39"/>
          <p:cNvSpPr/>
          <p:nvPr/>
        </p:nvSpPr>
        <p:spPr>
          <a:xfrm>
            <a:off x="8311896" y="1700784"/>
            <a:ext cx="3300984" cy="3886200"/>
          </a:xfrm>
          <a:prstGeom prst="roundRect">
            <a:avLst>
              <a:gd name="adj" fmla="val 3324"/>
            </a:avLst>
          </a:prstGeom>
          <a:solidFill>
            <a:srgbClr val="FFFFFF"/>
          </a:solidFill>
          <a:ln w="12700">
            <a:solidFill>
              <a:srgbClr val="DDE3DD"/>
            </a:solidFill>
            <a:prstDash val="solid"/>
          </a:ln>
        </p:spPr>
      </p:sp>
      <p:sp>
        <p:nvSpPr>
          <p:cNvPr id="42" name="Text 40"/>
          <p:cNvSpPr/>
          <p:nvPr/>
        </p:nvSpPr>
        <p:spPr>
          <a:xfrm>
            <a:off x="8586216" y="1947672"/>
            <a:ext cx="1371600" cy="228600"/>
          </a:xfrm>
          <a:prstGeom prst="rect">
            <a:avLst/>
          </a:prstGeom>
          <a:noFill/>
          <a:ln/>
        </p:spPr>
        <p:txBody>
          <a:bodyPr wrap="square" lIns="0" tIns="0" rIns="0" bIns="0" rtlCol="0" anchor="ctr">
            <a:normAutofit/>
          </a:bodyPr>
          <a:lstStyle/>
          <a:p>
            <a:pPr algn="l" indent="0" marL="0">
              <a:buNone/>
            </a:pPr>
            <a:r>
              <a:rPr lang="en-US" sz="800" b="1" spc="110" kern="0" dirty="0">
                <a:solidFill>
                  <a:srgbClr val="C12E60"/>
                </a:solidFill>
                <a:latin typeface="Aptos" pitchFamily="34" charset="0"/>
                <a:ea typeface="Aptos" pitchFamily="34" charset="-122"/>
                <a:cs typeface="Aptos" pitchFamily="34" charset="-120"/>
              </a:rPr>
              <a:t>REVIEWABLE OUTPUT</a:t>
            </a:r>
            <a:endParaRPr lang="en-US" sz="800" dirty="0"/>
          </a:p>
        </p:txBody>
      </p:sp>
      <p:sp>
        <p:nvSpPr>
          <p:cNvPr id="43" name="Text 41"/>
          <p:cNvSpPr/>
          <p:nvPr/>
        </p:nvSpPr>
        <p:spPr>
          <a:xfrm>
            <a:off x="8586216" y="2340864"/>
            <a:ext cx="2194560" cy="274320"/>
          </a:xfrm>
          <a:prstGeom prst="rect">
            <a:avLst/>
          </a:prstGeom>
          <a:noFill/>
          <a:ln/>
        </p:spPr>
        <p:txBody>
          <a:bodyPr wrap="square" lIns="0" tIns="0" rIns="0" bIns="0" rtlCol="0" anchor="ctr">
            <a:normAutofit/>
          </a:bodyPr>
          <a:lstStyle/>
          <a:p>
            <a:pPr algn="l" indent="0" marL="0">
              <a:buNone/>
            </a:pPr>
            <a:r>
              <a:rPr lang="en-US" sz="1300" b="1" dirty="0">
                <a:solidFill>
                  <a:srgbClr val="18221C"/>
                </a:solidFill>
                <a:latin typeface="Aptos" pitchFamily="34" charset="0"/>
                <a:ea typeface="Aptos" pitchFamily="34" charset="-122"/>
                <a:cs typeface="Aptos" pitchFamily="34" charset="-120"/>
              </a:rPr>
              <a:t>Unity gameplay</a:t>
            </a:r>
            <a:endParaRPr lang="en-US" sz="1300" dirty="0"/>
          </a:p>
        </p:txBody>
      </p:sp>
      <p:sp>
        <p:nvSpPr>
          <p:cNvPr id="44" name="Shape 42"/>
          <p:cNvSpPr/>
          <p:nvPr/>
        </p:nvSpPr>
        <p:spPr>
          <a:xfrm>
            <a:off x="8586216" y="2761488"/>
            <a:ext cx="896112" cy="310896"/>
          </a:xfrm>
          <a:prstGeom prst="roundRect">
            <a:avLst>
              <a:gd name="adj" fmla="val 50000"/>
            </a:avLst>
          </a:prstGeom>
          <a:solidFill>
            <a:srgbClr val="EEF6F0"/>
          </a:solidFill>
          <a:ln w="12700">
            <a:solidFill>
              <a:srgbClr val="EEF6F0"/>
            </a:solidFill>
            <a:prstDash val="solid"/>
          </a:ln>
        </p:spPr>
      </p:sp>
      <p:sp>
        <p:nvSpPr>
          <p:cNvPr id="45" name="Text 43"/>
          <p:cNvSpPr/>
          <p:nvPr/>
        </p:nvSpPr>
        <p:spPr>
          <a:xfrm>
            <a:off x="8586216" y="2761488"/>
            <a:ext cx="896112"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2E6B4A"/>
                </a:solidFill>
                <a:latin typeface="Aptos" pitchFamily="34" charset="0"/>
                <a:ea typeface="Aptos" pitchFamily="34" charset="-122"/>
                <a:cs typeface="Aptos" pitchFamily="34" charset="-120"/>
              </a:rPr>
              <a:t>UNITY3D</a:t>
            </a:r>
            <a:endParaRPr lang="en-US" sz="720" dirty="0"/>
          </a:p>
        </p:txBody>
      </p:sp>
      <p:sp>
        <p:nvSpPr>
          <p:cNvPr id="46" name="Shape 44"/>
          <p:cNvSpPr/>
          <p:nvPr/>
        </p:nvSpPr>
        <p:spPr>
          <a:xfrm>
            <a:off x="9582912" y="2761488"/>
            <a:ext cx="512064" cy="310896"/>
          </a:xfrm>
          <a:prstGeom prst="roundRect">
            <a:avLst>
              <a:gd name="adj" fmla="val 50000"/>
            </a:avLst>
          </a:prstGeom>
          <a:solidFill>
            <a:srgbClr val="EAF2F7"/>
          </a:solidFill>
          <a:ln w="12700">
            <a:solidFill>
              <a:srgbClr val="EAF2F7"/>
            </a:solidFill>
            <a:prstDash val="solid"/>
          </a:ln>
        </p:spPr>
      </p:sp>
      <p:sp>
        <p:nvSpPr>
          <p:cNvPr id="47" name="Text 45"/>
          <p:cNvSpPr/>
          <p:nvPr/>
        </p:nvSpPr>
        <p:spPr>
          <a:xfrm>
            <a:off x="9582912" y="2761488"/>
            <a:ext cx="512064"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426B87"/>
                </a:solidFill>
                <a:latin typeface="Aptos" pitchFamily="34" charset="0"/>
                <a:ea typeface="Aptos" pitchFamily="34" charset="-122"/>
                <a:cs typeface="Aptos" pitchFamily="34" charset="-120"/>
              </a:rPr>
              <a:t>C#</a:t>
            </a:r>
            <a:endParaRPr lang="en-US" sz="720" dirty="0"/>
          </a:p>
        </p:txBody>
      </p:sp>
      <p:sp>
        <p:nvSpPr>
          <p:cNvPr id="48" name="Shape 46"/>
          <p:cNvSpPr/>
          <p:nvPr/>
        </p:nvSpPr>
        <p:spPr>
          <a:xfrm>
            <a:off x="10195560" y="2761488"/>
            <a:ext cx="1133856" cy="310896"/>
          </a:xfrm>
          <a:prstGeom prst="roundRect">
            <a:avLst>
              <a:gd name="adj" fmla="val 50000"/>
            </a:avLst>
          </a:prstGeom>
          <a:solidFill>
            <a:srgbClr val="EEF6F0"/>
          </a:solidFill>
          <a:ln w="12700">
            <a:solidFill>
              <a:srgbClr val="EEF6F0"/>
            </a:solidFill>
            <a:prstDash val="solid"/>
          </a:ln>
        </p:spPr>
      </p:sp>
      <p:sp>
        <p:nvSpPr>
          <p:cNvPr id="49" name="Text 47"/>
          <p:cNvSpPr/>
          <p:nvPr/>
        </p:nvSpPr>
        <p:spPr>
          <a:xfrm>
            <a:off x="10195560" y="2761488"/>
            <a:ext cx="1133856"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2E6B4A"/>
                </a:solidFill>
                <a:latin typeface="Aptos" pitchFamily="34" charset="0"/>
                <a:ea typeface="Aptos" pitchFamily="34" charset="-122"/>
                <a:cs typeface="Aptos" pitchFamily="34" charset="-120"/>
              </a:rPr>
              <a:t>GAMEPLAY CODE</a:t>
            </a:r>
            <a:endParaRPr lang="en-US" sz="720" dirty="0"/>
          </a:p>
        </p:txBody>
      </p:sp>
      <p:sp>
        <p:nvSpPr>
          <p:cNvPr id="50" name="Text 48"/>
          <p:cNvSpPr/>
          <p:nvPr/>
        </p:nvSpPr>
        <p:spPr>
          <a:xfrm>
            <a:off x="8586216" y="3410712"/>
            <a:ext cx="2148840" cy="237744"/>
          </a:xfrm>
          <a:prstGeom prst="rect">
            <a:avLst/>
          </a:prstGeom>
          <a:noFill/>
          <a:ln/>
        </p:spPr>
        <p:txBody>
          <a:bodyPr wrap="square" lIns="0" tIns="0" rIns="0" bIns="0" rtlCol="0" anchor="ctr">
            <a:normAutofit/>
          </a:bodyPr>
          <a:lstStyle/>
          <a:p>
            <a:pPr algn="l" indent="0" marL="0">
              <a:buNone/>
            </a:pPr>
            <a:r>
              <a:rPr lang="en-US" sz="900" b="1" dirty="0">
                <a:solidFill>
                  <a:srgbClr val="B07B25"/>
                </a:solidFill>
                <a:latin typeface="Aptos" pitchFamily="34" charset="0"/>
                <a:ea typeface="Aptos" pitchFamily="34" charset="-122"/>
                <a:cs typeface="Aptos" pitchFamily="34" charset="-120"/>
              </a:rPr>
              <a:t>Related, not equivalent</a:t>
            </a:r>
            <a:endParaRPr lang="en-US" sz="900" dirty="0"/>
          </a:p>
        </p:txBody>
      </p:sp>
      <p:sp>
        <p:nvSpPr>
          <p:cNvPr id="51" name="Shape 49"/>
          <p:cNvSpPr/>
          <p:nvPr/>
        </p:nvSpPr>
        <p:spPr>
          <a:xfrm>
            <a:off x="8586216" y="3776472"/>
            <a:ext cx="1170432" cy="310896"/>
          </a:xfrm>
          <a:prstGeom prst="roundRect">
            <a:avLst>
              <a:gd name="adj" fmla="val 50000"/>
            </a:avLst>
          </a:prstGeom>
          <a:solidFill>
            <a:srgbClr val="FBF0D9"/>
          </a:solidFill>
          <a:ln w="12700">
            <a:solidFill>
              <a:srgbClr val="FBF0D9"/>
            </a:solidFill>
            <a:prstDash val="solid"/>
          </a:ln>
        </p:spPr>
      </p:sp>
      <p:sp>
        <p:nvSpPr>
          <p:cNvPr id="52" name="Text 50"/>
          <p:cNvSpPr/>
          <p:nvPr/>
        </p:nvSpPr>
        <p:spPr>
          <a:xfrm>
            <a:off x="8586216" y="3776472"/>
            <a:ext cx="1170432"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B07B25"/>
                </a:solidFill>
                <a:latin typeface="Aptos" pitchFamily="34" charset="0"/>
                <a:ea typeface="Aptos" pitchFamily="34" charset="-122"/>
                <a:cs typeface="Aptos" pitchFamily="34" charset="-120"/>
              </a:rPr>
              <a:t>UNREAL ENGINE</a:t>
            </a:r>
            <a:endParaRPr lang="en-US" sz="720" dirty="0"/>
          </a:p>
        </p:txBody>
      </p:sp>
      <p:sp>
        <p:nvSpPr>
          <p:cNvPr id="53" name="Shape 51"/>
          <p:cNvSpPr/>
          <p:nvPr/>
        </p:nvSpPr>
        <p:spPr>
          <a:xfrm>
            <a:off x="9875520" y="3776472"/>
            <a:ext cx="685800" cy="310896"/>
          </a:xfrm>
          <a:prstGeom prst="roundRect">
            <a:avLst>
              <a:gd name="adj" fmla="val 50000"/>
            </a:avLst>
          </a:prstGeom>
          <a:solidFill>
            <a:srgbClr val="FBF0D9"/>
          </a:solidFill>
          <a:ln w="12700">
            <a:solidFill>
              <a:srgbClr val="FBF0D9"/>
            </a:solidFill>
            <a:prstDash val="solid"/>
          </a:ln>
        </p:spPr>
      </p:sp>
      <p:sp>
        <p:nvSpPr>
          <p:cNvPr id="54" name="Text 52"/>
          <p:cNvSpPr/>
          <p:nvPr/>
        </p:nvSpPr>
        <p:spPr>
          <a:xfrm>
            <a:off x="9875520" y="3776472"/>
            <a:ext cx="685800"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B07B25"/>
                </a:solidFill>
                <a:latin typeface="Aptos" pitchFamily="34" charset="0"/>
                <a:ea typeface="Aptos" pitchFamily="34" charset="-122"/>
                <a:cs typeface="Aptos" pitchFamily="34" charset="-120"/>
              </a:rPr>
              <a:t>GODOT</a:t>
            </a:r>
            <a:endParaRPr lang="en-US" sz="720" dirty="0"/>
          </a:p>
        </p:txBody>
      </p:sp>
      <p:sp>
        <p:nvSpPr>
          <p:cNvPr id="55" name="Text 53"/>
          <p:cNvSpPr/>
          <p:nvPr/>
        </p:nvSpPr>
        <p:spPr>
          <a:xfrm>
            <a:off x="8586216" y="4334256"/>
            <a:ext cx="2478024" cy="640080"/>
          </a:xfrm>
          <a:prstGeom prst="rect">
            <a:avLst/>
          </a:prstGeom>
          <a:noFill/>
          <a:ln/>
        </p:spPr>
        <p:txBody>
          <a:bodyPr wrap="square" lIns="0" tIns="0" rIns="0" bIns="0" rtlCol="0" anchor="t">
            <a:normAutofit/>
          </a:bodyPr>
          <a:lstStyle/>
          <a:p>
            <a:pPr algn="l" indent="0" marL="0">
              <a:buNone/>
            </a:pPr>
            <a:r>
              <a:rPr lang="en-US" sz="1000" dirty="0">
                <a:solidFill>
                  <a:srgbClr val="5D6A62"/>
                </a:solidFill>
                <a:latin typeface="Aptos" pitchFamily="34" charset="0"/>
                <a:ea typeface="Aptos" pitchFamily="34" charset="-122"/>
                <a:cs typeface="Aptos" pitchFamily="34" charset="-120"/>
              </a:rPr>
              <a:t>Related terms remain unselected so they cannot create false matches.</a:t>
            </a:r>
            <a:endParaRPr lang="en-US" sz="1000" dirty="0"/>
          </a:p>
        </p:txBody>
      </p:sp>
      <p:sp>
        <p:nvSpPr>
          <p:cNvPr id="56" name="Shape 54"/>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7" name="Shape 55"/>
          <p:cNvSpPr/>
          <p:nvPr/>
        </p:nvSpPr>
        <p:spPr>
          <a:xfrm>
            <a:off x="685800" y="6044184"/>
            <a:ext cx="164592" cy="164592"/>
          </a:xfrm>
          <a:prstGeom prst="ellipse">
            <a:avLst/>
          </a:prstGeom>
          <a:solidFill>
            <a:srgbClr val="CDEB8B"/>
          </a:solidFill>
          <a:ln w="12700">
            <a:solidFill>
              <a:srgbClr val="CDEB8B"/>
            </a:solidFill>
            <a:prstDash val="solid"/>
          </a:ln>
        </p:spPr>
      </p:sp>
      <p:sp>
        <p:nvSpPr>
          <p:cNvPr id="58" name="Text 56"/>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9" name="Text 57"/>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“The recruiter no longer writes the bank; the agent proposes it, policy cleans it, and the recruiter approves it.”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EVALUATION METHOD</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10</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How evidence quality is calculated</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The same keyword produces different confidence depending on the surrounding passage.</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19072"/>
            <a:ext cx="2039112" cy="1078992"/>
          </a:xfrm>
          <a:prstGeom prst="roundRect">
            <a:avLst>
              <a:gd name="adj" fmla="val 10169"/>
            </a:avLst>
          </a:prstGeom>
          <a:solidFill>
            <a:srgbClr val="EAF2F7"/>
          </a:solidFill>
          <a:ln w="12700">
            <a:solidFill>
              <a:srgbClr val="EAF2F7"/>
            </a:solidFill>
            <a:prstDash val="solid"/>
          </a:ln>
        </p:spPr>
      </p:sp>
      <p:sp>
        <p:nvSpPr>
          <p:cNvPr id="13" name="Shape 11"/>
          <p:cNvSpPr/>
          <p:nvPr/>
        </p:nvSpPr>
        <p:spPr>
          <a:xfrm>
            <a:off x="731520" y="1901952"/>
            <a:ext cx="685800" cy="310896"/>
          </a:xfrm>
          <a:prstGeom prst="roundRect">
            <a:avLst>
              <a:gd name="adj" fmla="val 50000"/>
            </a:avLst>
          </a:prstGeom>
          <a:solidFill>
            <a:srgbClr val="FFFFFF"/>
          </a:solidFill>
          <a:ln w="12700">
            <a:solidFill>
              <a:srgbClr val="FFFFFF"/>
            </a:solidFill>
            <a:prstDash val="solid"/>
          </a:ln>
        </p:spPr>
      </p:sp>
      <p:sp>
        <p:nvSpPr>
          <p:cNvPr id="14" name="Text 12"/>
          <p:cNvSpPr/>
          <p:nvPr/>
        </p:nvSpPr>
        <p:spPr>
          <a:xfrm>
            <a:off x="731520" y="1901952"/>
            <a:ext cx="685800"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426B87"/>
                </a:solidFill>
                <a:latin typeface="Aptos" pitchFamily="34" charset="0"/>
                <a:ea typeface="Aptos" pitchFamily="34" charset="-122"/>
                <a:cs typeface="Aptos" pitchFamily="34" charset="-120"/>
              </a:rPr>
              <a:t>TERM</a:t>
            </a:r>
            <a:endParaRPr lang="en-US" sz="720" dirty="0"/>
          </a:p>
        </p:txBody>
      </p:sp>
      <p:sp>
        <p:nvSpPr>
          <p:cNvPr id="15" name="Text 13"/>
          <p:cNvSpPr/>
          <p:nvPr/>
        </p:nvSpPr>
        <p:spPr>
          <a:xfrm>
            <a:off x="731520" y="2286000"/>
            <a:ext cx="1691640" cy="329184"/>
          </a:xfrm>
          <a:prstGeom prst="rect">
            <a:avLst/>
          </a:prstGeom>
          <a:noFill/>
          <a:ln/>
        </p:spPr>
        <p:txBody>
          <a:bodyPr wrap="square" lIns="0" tIns="0" rIns="0" bIns="0" rtlCol="0" anchor="t">
            <a:normAutofit/>
          </a:bodyPr>
          <a:lstStyle/>
          <a:p>
            <a:pPr algn="l" indent="0" marL="0">
              <a:buNone/>
            </a:pPr>
            <a:r>
              <a:rPr lang="en-US" sz="940" b="1" dirty="0">
                <a:solidFill>
                  <a:srgbClr val="18221C"/>
                </a:solidFill>
                <a:latin typeface="Aptos" pitchFamily="34" charset="0"/>
                <a:ea typeface="Aptos" pitchFamily="34" charset="-122"/>
                <a:cs typeface="Aptos" pitchFamily="34" charset="-120"/>
              </a:rPr>
              <a:t>Criterion or approved alias appears</a:t>
            </a:r>
            <a:endParaRPr lang="en-US" sz="940" dirty="0"/>
          </a:p>
        </p:txBody>
      </p:sp>
      <p:sp>
        <p:nvSpPr>
          <p:cNvPr id="16" name="Shape 14"/>
          <p:cNvSpPr/>
          <p:nvPr/>
        </p:nvSpPr>
        <p:spPr>
          <a:xfrm>
            <a:off x="2834640" y="1719072"/>
            <a:ext cx="2039112" cy="1078992"/>
          </a:xfrm>
          <a:prstGeom prst="roundRect">
            <a:avLst>
              <a:gd name="adj" fmla="val 10169"/>
            </a:avLst>
          </a:prstGeom>
          <a:solidFill>
            <a:srgbClr val="EEF6F0"/>
          </a:solidFill>
          <a:ln w="12700">
            <a:solidFill>
              <a:srgbClr val="EEF6F0"/>
            </a:solidFill>
            <a:prstDash val="solid"/>
          </a:ln>
        </p:spPr>
      </p:sp>
      <p:sp>
        <p:nvSpPr>
          <p:cNvPr id="17" name="Shape 15"/>
          <p:cNvSpPr/>
          <p:nvPr/>
        </p:nvSpPr>
        <p:spPr>
          <a:xfrm>
            <a:off x="2999232" y="1901952"/>
            <a:ext cx="685800" cy="310896"/>
          </a:xfrm>
          <a:prstGeom prst="roundRect">
            <a:avLst>
              <a:gd name="adj" fmla="val 50000"/>
            </a:avLst>
          </a:prstGeom>
          <a:solidFill>
            <a:srgbClr val="FFFFFF"/>
          </a:solidFill>
          <a:ln w="12700">
            <a:solidFill>
              <a:srgbClr val="FFFFFF"/>
            </a:solidFill>
            <a:prstDash val="solid"/>
          </a:ln>
        </p:spPr>
      </p:sp>
      <p:sp>
        <p:nvSpPr>
          <p:cNvPr id="18" name="Text 16"/>
          <p:cNvSpPr/>
          <p:nvPr/>
        </p:nvSpPr>
        <p:spPr>
          <a:xfrm>
            <a:off x="2999232" y="1901952"/>
            <a:ext cx="685800"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2E6B4A"/>
                </a:solidFill>
                <a:latin typeface="Aptos" pitchFamily="34" charset="0"/>
                <a:ea typeface="Aptos" pitchFamily="34" charset="-122"/>
                <a:cs typeface="Aptos" pitchFamily="34" charset="-120"/>
              </a:rPr>
              <a:t>ACTION</a:t>
            </a:r>
            <a:endParaRPr lang="en-US" sz="720" dirty="0"/>
          </a:p>
        </p:txBody>
      </p:sp>
      <p:sp>
        <p:nvSpPr>
          <p:cNvPr id="19" name="Text 17"/>
          <p:cNvSpPr/>
          <p:nvPr/>
        </p:nvSpPr>
        <p:spPr>
          <a:xfrm>
            <a:off x="2999232" y="2286000"/>
            <a:ext cx="1691640" cy="329184"/>
          </a:xfrm>
          <a:prstGeom prst="rect">
            <a:avLst/>
          </a:prstGeom>
          <a:noFill/>
          <a:ln/>
        </p:spPr>
        <p:txBody>
          <a:bodyPr wrap="square" lIns="0" tIns="0" rIns="0" bIns="0" rtlCol="0" anchor="t">
            <a:normAutofit/>
          </a:bodyPr>
          <a:lstStyle/>
          <a:p>
            <a:pPr algn="l" indent="0" marL="0">
              <a:buNone/>
            </a:pPr>
            <a:r>
              <a:rPr lang="en-US" sz="940" b="1" dirty="0">
                <a:solidFill>
                  <a:srgbClr val="18221C"/>
                </a:solidFill>
                <a:latin typeface="Aptos" pitchFamily="34" charset="0"/>
                <a:ea typeface="Aptos" pitchFamily="34" charset="-122"/>
                <a:cs typeface="Aptos" pitchFamily="34" charset="-120"/>
              </a:rPr>
              <a:t>Built, deployed, operated, led…</a:t>
            </a:r>
            <a:endParaRPr lang="en-US" sz="940" dirty="0"/>
          </a:p>
        </p:txBody>
      </p:sp>
      <p:sp>
        <p:nvSpPr>
          <p:cNvPr id="20" name="Shape 18"/>
          <p:cNvSpPr/>
          <p:nvPr/>
        </p:nvSpPr>
        <p:spPr>
          <a:xfrm>
            <a:off x="5102352" y="1719072"/>
            <a:ext cx="2039112" cy="1078992"/>
          </a:xfrm>
          <a:prstGeom prst="roundRect">
            <a:avLst>
              <a:gd name="adj" fmla="val 10169"/>
            </a:avLst>
          </a:prstGeom>
          <a:solidFill>
            <a:srgbClr val="F8E7ED"/>
          </a:solidFill>
          <a:ln w="12700">
            <a:solidFill>
              <a:srgbClr val="F8E7ED"/>
            </a:solidFill>
            <a:prstDash val="solid"/>
          </a:ln>
        </p:spPr>
      </p:sp>
      <p:sp>
        <p:nvSpPr>
          <p:cNvPr id="21" name="Shape 19"/>
          <p:cNvSpPr/>
          <p:nvPr/>
        </p:nvSpPr>
        <p:spPr>
          <a:xfrm>
            <a:off x="5266944" y="1901952"/>
            <a:ext cx="685800" cy="310896"/>
          </a:xfrm>
          <a:prstGeom prst="roundRect">
            <a:avLst>
              <a:gd name="adj" fmla="val 50000"/>
            </a:avLst>
          </a:prstGeom>
          <a:solidFill>
            <a:srgbClr val="FFFFFF"/>
          </a:solidFill>
          <a:ln w="12700">
            <a:solidFill>
              <a:srgbClr val="FFFFFF"/>
            </a:solidFill>
            <a:prstDash val="solid"/>
          </a:ln>
        </p:spPr>
      </p:sp>
      <p:sp>
        <p:nvSpPr>
          <p:cNvPr id="22" name="Text 20"/>
          <p:cNvSpPr/>
          <p:nvPr/>
        </p:nvSpPr>
        <p:spPr>
          <a:xfrm>
            <a:off x="5266944" y="1901952"/>
            <a:ext cx="685800"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C12E60"/>
                </a:solidFill>
                <a:latin typeface="Aptos" pitchFamily="34" charset="0"/>
                <a:ea typeface="Aptos" pitchFamily="34" charset="-122"/>
                <a:cs typeface="Aptos" pitchFamily="34" charset="-120"/>
              </a:rPr>
              <a:t>OUTCOME</a:t>
            </a:r>
            <a:endParaRPr lang="en-US" sz="720" dirty="0"/>
          </a:p>
        </p:txBody>
      </p:sp>
      <p:sp>
        <p:nvSpPr>
          <p:cNvPr id="23" name="Text 21"/>
          <p:cNvSpPr/>
          <p:nvPr/>
        </p:nvSpPr>
        <p:spPr>
          <a:xfrm>
            <a:off x="5266944" y="2286000"/>
            <a:ext cx="1691640" cy="329184"/>
          </a:xfrm>
          <a:prstGeom prst="rect">
            <a:avLst/>
          </a:prstGeom>
          <a:noFill/>
          <a:ln/>
        </p:spPr>
        <p:txBody>
          <a:bodyPr wrap="square" lIns="0" tIns="0" rIns="0" bIns="0" rtlCol="0" anchor="t">
            <a:normAutofit/>
          </a:bodyPr>
          <a:lstStyle/>
          <a:p>
            <a:pPr algn="l" indent="0" marL="0">
              <a:buNone/>
            </a:pPr>
            <a:r>
              <a:rPr lang="en-US" sz="940" b="1" dirty="0">
                <a:solidFill>
                  <a:srgbClr val="18221C"/>
                </a:solidFill>
                <a:latin typeface="Aptos" pitchFamily="34" charset="0"/>
                <a:ea typeface="Aptos" pitchFamily="34" charset="-122"/>
                <a:cs typeface="Aptos" pitchFamily="34" charset="-120"/>
              </a:rPr>
              <a:t>Numbers, scale, improvement or impact</a:t>
            </a:r>
            <a:endParaRPr lang="en-US" sz="940" dirty="0"/>
          </a:p>
        </p:txBody>
      </p:sp>
      <p:sp>
        <p:nvSpPr>
          <p:cNvPr id="24" name="Shape 22"/>
          <p:cNvSpPr/>
          <p:nvPr/>
        </p:nvSpPr>
        <p:spPr>
          <a:xfrm>
            <a:off x="7370064" y="1719072"/>
            <a:ext cx="2039112" cy="1078992"/>
          </a:xfrm>
          <a:prstGeom prst="roundRect">
            <a:avLst>
              <a:gd name="adj" fmla="val 10169"/>
            </a:avLst>
          </a:prstGeom>
          <a:solidFill>
            <a:srgbClr val="FBF0D9"/>
          </a:solidFill>
          <a:ln w="12700">
            <a:solidFill>
              <a:srgbClr val="FBF0D9"/>
            </a:solidFill>
            <a:prstDash val="solid"/>
          </a:ln>
        </p:spPr>
      </p:sp>
      <p:sp>
        <p:nvSpPr>
          <p:cNvPr id="25" name="Shape 23"/>
          <p:cNvSpPr/>
          <p:nvPr/>
        </p:nvSpPr>
        <p:spPr>
          <a:xfrm>
            <a:off x="7534656" y="1901952"/>
            <a:ext cx="685800" cy="310896"/>
          </a:xfrm>
          <a:prstGeom prst="roundRect">
            <a:avLst>
              <a:gd name="adj" fmla="val 50000"/>
            </a:avLst>
          </a:prstGeom>
          <a:solidFill>
            <a:srgbClr val="FFFFFF"/>
          </a:solidFill>
          <a:ln w="12700">
            <a:solidFill>
              <a:srgbClr val="FFFFFF"/>
            </a:solidFill>
            <a:prstDash val="solid"/>
          </a:ln>
        </p:spPr>
      </p:sp>
      <p:sp>
        <p:nvSpPr>
          <p:cNvPr id="26" name="Text 24"/>
          <p:cNvSpPr/>
          <p:nvPr/>
        </p:nvSpPr>
        <p:spPr>
          <a:xfrm>
            <a:off x="7534656" y="1901952"/>
            <a:ext cx="685800"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B07B25"/>
                </a:solidFill>
                <a:latin typeface="Aptos" pitchFamily="34" charset="0"/>
                <a:ea typeface="Aptos" pitchFamily="34" charset="-122"/>
                <a:cs typeface="Aptos" pitchFamily="34" charset="-120"/>
              </a:rPr>
              <a:t>CONTEXT</a:t>
            </a:r>
            <a:endParaRPr lang="en-US" sz="720" dirty="0"/>
          </a:p>
        </p:txBody>
      </p:sp>
      <p:sp>
        <p:nvSpPr>
          <p:cNvPr id="27" name="Text 25"/>
          <p:cNvSpPr/>
          <p:nvPr/>
        </p:nvSpPr>
        <p:spPr>
          <a:xfrm>
            <a:off x="7534656" y="2286000"/>
            <a:ext cx="1691640" cy="329184"/>
          </a:xfrm>
          <a:prstGeom prst="rect">
            <a:avLst/>
          </a:prstGeom>
          <a:noFill/>
          <a:ln/>
        </p:spPr>
        <p:txBody>
          <a:bodyPr wrap="square" lIns="0" tIns="0" rIns="0" bIns="0" rtlCol="0" anchor="t">
            <a:normAutofit/>
          </a:bodyPr>
          <a:lstStyle/>
          <a:p>
            <a:pPr algn="l" indent="0" marL="0">
              <a:buNone/>
            </a:pPr>
            <a:r>
              <a:rPr lang="en-US" sz="940" b="1" dirty="0">
                <a:solidFill>
                  <a:srgbClr val="18221C"/>
                </a:solidFill>
                <a:latin typeface="Aptos" pitchFamily="34" charset="0"/>
                <a:ea typeface="Aptos" pitchFamily="34" charset="-122"/>
                <a:cs typeface="Aptos" pitchFamily="34" charset="-120"/>
              </a:rPr>
              <a:t>Production, customer, incident or ownership</a:t>
            </a:r>
            <a:endParaRPr lang="en-US" sz="940" dirty="0"/>
          </a:p>
        </p:txBody>
      </p:sp>
      <p:sp>
        <p:nvSpPr>
          <p:cNvPr id="28" name="Shape 26"/>
          <p:cNvSpPr/>
          <p:nvPr/>
        </p:nvSpPr>
        <p:spPr>
          <a:xfrm>
            <a:off x="9637776" y="1719072"/>
            <a:ext cx="2039112" cy="1078992"/>
          </a:xfrm>
          <a:prstGeom prst="roundRect">
            <a:avLst>
              <a:gd name="adj" fmla="val 10169"/>
            </a:avLst>
          </a:prstGeom>
          <a:solidFill>
            <a:srgbClr val="F9EAE8"/>
          </a:solidFill>
          <a:ln w="12700">
            <a:solidFill>
              <a:srgbClr val="F9EAE8"/>
            </a:solidFill>
            <a:prstDash val="solid"/>
          </a:ln>
        </p:spPr>
      </p:sp>
      <p:sp>
        <p:nvSpPr>
          <p:cNvPr id="29" name="Shape 27"/>
          <p:cNvSpPr/>
          <p:nvPr/>
        </p:nvSpPr>
        <p:spPr>
          <a:xfrm>
            <a:off x="9802368" y="1901952"/>
            <a:ext cx="685800" cy="310896"/>
          </a:xfrm>
          <a:prstGeom prst="roundRect">
            <a:avLst>
              <a:gd name="adj" fmla="val 50000"/>
            </a:avLst>
          </a:prstGeom>
          <a:solidFill>
            <a:srgbClr val="FFFFFF"/>
          </a:solidFill>
          <a:ln w="12700">
            <a:solidFill>
              <a:srgbClr val="FFFFFF"/>
            </a:solidFill>
            <a:prstDash val="solid"/>
          </a:ln>
        </p:spPr>
      </p:sp>
      <p:sp>
        <p:nvSpPr>
          <p:cNvPr id="30" name="Text 28"/>
          <p:cNvSpPr/>
          <p:nvPr/>
        </p:nvSpPr>
        <p:spPr>
          <a:xfrm>
            <a:off x="9802368" y="1901952"/>
            <a:ext cx="685800" cy="310896"/>
          </a:xfrm>
          <a:prstGeom prst="rect">
            <a:avLst/>
          </a:prstGeom>
          <a:noFill/>
          <a:ln/>
        </p:spPr>
        <p:txBody>
          <a:bodyPr wrap="square" lIns="0" tIns="0" rIns="0" bIns="0" rtlCol="0" anchor="ctr">
            <a:normAutofit/>
          </a:bodyPr>
          <a:lstStyle/>
          <a:p>
            <a:pPr algn="ctr" indent="0" marL="0">
              <a:buNone/>
            </a:pPr>
            <a:r>
              <a:rPr lang="en-US" sz="720" b="1" spc="120" kern="0" dirty="0">
                <a:solidFill>
                  <a:srgbClr val="B4443B"/>
                </a:solidFill>
                <a:latin typeface="Aptos" pitchFamily="34" charset="0"/>
                <a:ea typeface="Aptos" pitchFamily="34" charset="-122"/>
                <a:cs typeface="Aptos" pitchFamily="34" charset="-120"/>
              </a:rPr>
              <a:t>CAVEAT</a:t>
            </a:r>
            <a:endParaRPr lang="en-US" sz="720" dirty="0"/>
          </a:p>
        </p:txBody>
      </p:sp>
      <p:sp>
        <p:nvSpPr>
          <p:cNvPr id="31" name="Text 29"/>
          <p:cNvSpPr/>
          <p:nvPr/>
        </p:nvSpPr>
        <p:spPr>
          <a:xfrm>
            <a:off x="9802368" y="2286000"/>
            <a:ext cx="1691640" cy="329184"/>
          </a:xfrm>
          <a:prstGeom prst="rect">
            <a:avLst/>
          </a:prstGeom>
          <a:noFill/>
          <a:ln/>
        </p:spPr>
        <p:txBody>
          <a:bodyPr wrap="square" lIns="0" tIns="0" rIns="0" bIns="0" rtlCol="0" anchor="t">
            <a:normAutofit/>
          </a:bodyPr>
          <a:lstStyle/>
          <a:p>
            <a:pPr algn="l" indent="0" marL="0">
              <a:buNone/>
            </a:pPr>
            <a:r>
              <a:rPr lang="en-US" sz="940" b="1" dirty="0">
                <a:solidFill>
                  <a:srgbClr val="18221C"/>
                </a:solidFill>
                <a:latin typeface="Aptos" pitchFamily="34" charset="0"/>
                <a:ea typeface="Aptos" pitchFamily="34" charset="-122"/>
                <a:cs typeface="Aptos" pitchFamily="34" charset="-120"/>
              </a:rPr>
              <a:t>Course, toy project, assisted, simulated</a:t>
            </a:r>
            <a:endParaRPr lang="en-US" sz="940" dirty="0"/>
          </a:p>
        </p:txBody>
      </p:sp>
      <p:sp>
        <p:nvSpPr>
          <p:cNvPr id="32" name="Text 30"/>
          <p:cNvSpPr/>
          <p:nvPr/>
        </p:nvSpPr>
        <p:spPr>
          <a:xfrm>
            <a:off x="585216" y="3236976"/>
            <a:ext cx="1554480" cy="274320"/>
          </a:xfrm>
          <a:prstGeom prst="rect">
            <a:avLst/>
          </a:prstGeom>
          <a:noFill/>
          <a:ln/>
        </p:spPr>
        <p:txBody>
          <a:bodyPr wrap="square" lIns="0" tIns="0" rIns="0" bIns="0" rtlCol="0" anchor="ctr">
            <a:normAutofit/>
          </a:bodyPr>
          <a:lstStyle/>
          <a:p>
            <a:pPr algn="l" indent="0" marL="0">
              <a:buNone/>
            </a:pPr>
            <a:r>
              <a:rPr lang="en-US" sz="1100" b="1" dirty="0">
                <a:solidFill>
                  <a:srgbClr val="87928B"/>
                </a:solidFill>
                <a:latin typeface="Aptos" pitchFamily="34" charset="0"/>
                <a:ea typeface="Aptos" pitchFamily="34" charset="-122"/>
                <a:cs typeface="Aptos" pitchFamily="34" charset="-120"/>
              </a:rPr>
              <a:t>Evidence ladder</a:t>
            </a:r>
            <a:endParaRPr lang="en-US" sz="1100" dirty="0"/>
          </a:p>
        </p:txBody>
      </p:sp>
      <p:sp>
        <p:nvSpPr>
          <p:cNvPr id="33" name="Shape 31"/>
          <p:cNvSpPr/>
          <p:nvPr/>
        </p:nvSpPr>
        <p:spPr>
          <a:xfrm>
            <a:off x="594360" y="3621024"/>
            <a:ext cx="2011680" cy="1152144"/>
          </a:xfrm>
          <a:prstGeom prst="roundRect">
            <a:avLst>
              <a:gd name="adj" fmla="val 9524"/>
            </a:avLst>
          </a:prstGeom>
          <a:solidFill>
            <a:srgbClr val="FFFFFF"/>
          </a:solidFill>
          <a:ln w="12700">
            <a:solidFill>
              <a:srgbClr val="DDE3DD"/>
            </a:solidFill>
            <a:prstDash val="solid"/>
          </a:ln>
        </p:spPr>
      </p:sp>
      <p:sp>
        <p:nvSpPr>
          <p:cNvPr id="34" name="Shape 32"/>
          <p:cNvSpPr/>
          <p:nvPr/>
        </p:nvSpPr>
        <p:spPr>
          <a:xfrm>
            <a:off x="594360" y="3621024"/>
            <a:ext cx="2011680" cy="73152"/>
          </a:xfrm>
          <a:prstGeom prst="rect">
            <a:avLst/>
          </a:prstGeom>
          <a:solidFill>
            <a:srgbClr val="C9D2CA"/>
          </a:solidFill>
          <a:ln w="12700">
            <a:solidFill>
              <a:srgbClr val="C9D2CA"/>
            </a:solidFill>
            <a:prstDash val="solid"/>
          </a:ln>
        </p:spPr>
      </p:sp>
      <p:sp>
        <p:nvSpPr>
          <p:cNvPr id="35" name="Text 33"/>
          <p:cNvSpPr/>
          <p:nvPr/>
        </p:nvSpPr>
        <p:spPr>
          <a:xfrm>
            <a:off x="740664" y="3840480"/>
            <a:ext cx="1709928" cy="219456"/>
          </a:xfrm>
          <a:prstGeom prst="rect">
            <a:avLst/>
          </a:prstGeom>
          <a:noFill/>
          <a:ln/>
        </p:spPr>
        <p:txBody>
          <a:bodyPr wrap="square" lIns="0" tIns="0" rIns="0" bIns="0" rtlCol="0" anchor="ctr">
            <a:normAutofit/>
          </a:bodyPr>
          <a:lstStyle/>
          <a:p>
            <a:pPr algn="ctr" indent="0" marL="0">
              <a:buNone/>
            </a:pPr>
            <a:r>
              <a:rPr lang="en-US" sz="800" b="1" spc="70" kern="0" dirty="0">
                <a:solidFill>
                  <a:srgbClr val="C9D2CA"/>
                </a:solidFill>
                <a:latin typeface="Aptos" pitchFamily="34" charset="0"/>
                <a:ea typeface="Aptos" pitchFamily="34" charset="-122"/>
                <a:cs typeface="Aptos" pitchFamily="34" charset="-120"/>
              </a:rPr>
              <a:t>NOT ADDRESSED</a:t>
            </a:r>
            <a:endParaRPr lang="en-US" sz="800" dirty="0"/>
          </a:p>
        </p:txBody>
      </p:sp>
      <p:sp>
        <p:nvSpPr>
          <p:cNvPr id="36" name="Text 34"/>
          <p:cNvSpPr/>
          <p:nvPr/>
        </p:nvSpPr>
        <p:spPr>
          <a:xfrm>
            <a:off x="740664" y="4178808"/>
            <a:ext cx="1709928" cy="292608"/>
          </a:xfrm>
          <a:prstGeom prst="rect">
            <a:avLst/>
          </a:prstGeom>
          <a:noFill/>
          <a:ln/>
        </p:spPr>
        <p:txBody>
          <a:bodyPr wrap="square" lIns="0" tIns="0" rIns="0" bIns="0" rtlCol="0" anchor="ctr">
            <a:normAutofit/>
          </a:bodyPr>
          <a:lstStyle/>
          <a:p>
            <a:pPr algn="ctr" indent="0" marL="0">
              <a:buNone/>
            </a:pPr>
            <a:r>
              <a:rPr lang="en-US" sz="950" dirty="0">
                <a:solidFill>
                  <a:srgbClr val="18221C"/>
                </a:solidFill>
                <a:latin typeface="Aptos" pitchFamily="34" charset="0"/>
                <a:ea typeface="Aptos" pitchFamily="34" charset="-122"/>
                <a:cs typeface="Aptos" pitchFamily="34" charset="-120"/>
              </a:rPr>
              <a:t>No relevant passage</a:t>
            </a:r>
            <a:endParaRPr lang="en-US" sz="950" dirty="0"/>
          </a:p>
        </p:txBody>
      </p:sp>
      <p:sp>
        <p:nvSpPr>
          <p:cNvPr id="37" name="Shape 35"/>
          <p:cNvSpPr/>
          <p:nvPr/>
        </p:nvSpPr>
        <p:spPr>
          <a:xfrm>
            <a:off x="2606040" y="4187952"/>
            <a:ext cx="192024" cy="0"/>
          </a:xfrm>
          <a:prstGeom prst="line">
            <a:avLst/>
          </a:prstGeom>
          <a:noFill/>
          <a:ln w="19050">
            <a:solidFill>
              <a:srgbClr val="C9D2CA"/>
            </a:solidFill>
            <a:prstDash val="solid"/>
            <a:tailEnd type="triangle"/>
          </a:ln>
        </p:spPr>
      </p:sp>
      <p:sp>
        <p:nvSpPr>
          <p:cNvPr id="38" name="Shape 36"/>
          <p:cNvSpPr/>
          <p:nvPr/>
        </p:nvSpPr>
        <p:spPr>
          <a:xfrm>
            <a:off x="2852928" y="3621024"/>
            <a:ext cx="2011680" cy="1152144"/>
          </a:xfrm>
          <a:prstGeom prst="roundRect">
            <a:avLst>
              <a:gd name="adj" fmla="val 9524"/>
            </a:avLst>
          </a:prstGeom>
          <a:solidFill>
            <a:srgbClr val="F9EAE8"/>
          </a:solidFill>
          <a:ln w="12700">
            <a:solidFill>
              <a:srgbClr val="F9EAE8"/>
            </a:solidFill>
            <a:prstDash val="solid"/>
          </a:ln>
        </p:spPr>
      </p:sp>
      <p:sp>
        <p:nvSpPr>
          <p:cNvPr id="39" name="Shape 37"/>
          <p:cNvSpPr/>
          <p:nvPr/>
        </p:nvSpPr>
        <p:spPr>
          <a:xfrm>
            <a:off x="2852928" y="3621024"/>
            <a:ext cx="2011680" cy="73152"/>
          </a:xfrm>
          <a:prstGeom prst="rect">
            <a:avLst/>
          </a:prstGeom>
          <a:solidFill>
            <a:srgbClr val="B4443B"/>
          </a:solidFill>
          <a:ln w="12700">
            <a:solidFill>
              <a:srgbClr val="B4443B"/>
            </a:solidFill>
            <a:prstDash val="solid"/>
          </a:ln>
        </p:spPr>
      </p:sp>
      <p:sp>
        <p:nvSpPr>
          <p:cNvPr id="40" name="Text 38"/>
          <p:cNvSpPr/>
          <p:nvPr/>
        </p:nvSpPr>
        <p:spPr>
          <a:xfrm>
            <a:off x="2999232" y="3840480"/>
            <a:ext cx="1709928" cy="219456"/>
          </a:xfrm>
          <a:prstGeom prst="rect">
            <a:avLst/>
          </a:prstGeom>
          <a:noFill/>
          <a:ln/>
        </p:spPr>
        <p:txBody>
          <a:bodyPr wrap="square" lIns="0" tIns="0" rIns="0" bIns="0" rtlCol="0" anchor="ctr">
            <a:normAutofit/>
          </a:bodyPr>
          <a:lstStyle/>
          <a:p>
            <a:pPr algn="ctr" indent="0" marL="0">
              <a:buNone/>
            </a:pPr>
            <a:r>
              <a:rPr lang="en-US" sz="800" b="1" spc="70" kern="0" dirty="0">
                <a:solidFill>
                  <a:srgbClr val="B4443B"/>
                </a:solidFill>
                <a:latin typeface="Aptos" pitchFamily="34" charset="0"/>
                <a:ea typeface="Aptos" pitchFamily="34" charset="-122"/>
                <a:cs typeface="Aptos" pitchFamily="34" charset="-120"/>
              </a:rPr>
              <a:t>CLAIM ONLY</a:t>
            </a:r>
            <a:endParaRPr lang="en-US" sz="800" dirty="0"/>
          </a:p>
        </p:txBody>
      </p:sp>
      <p:sp>
        <p:nvSpPr>
          <p:cNvPr id="41" name="Text 39"/>
          <p:cNvSpPr/>
          <p:nvPr/>
        </p:nvSpPr>
        <p:spPr>
          <a:xfrm>
            <a:off x="2999232" y="4178808"/>
            <a:ext cx="1709928" cy="292608"/>
          </a:xfrm>
          <a:prstGeom prst="rect">
            <a:avLst/>
          </a:prstGeom>
          <a:noFill/>
          <a:ln/>
        </p:spPr>
        <p:txBody>
          <a:bodyPr wrap="square" lIns="0" tIns="0" rIns="0" bIns="0" rtlCol="0" anchor="ctr">
            <a:normAutofit/>
          </a:bodyPr>
          <a:lstStyle/>
          <a:p>
            <a:pPr algn="ctr" indent="0" marL="0">
              <a:buNone/>
            </a:pPr>
            <a:r>
              <a:rPr lang="en-US" sz="950" dirty="0">
                <a:solidFill>
                  <a:srgbClr val="18221C"/>
                </a:solidFill>
                <a:latin typeface="Aptos" pitchFamily="34" charset="0"/>
                <a:ea typeface="Aptos" pitchFamily="34" charset="-122"/>
                <a:cs typeface="Aptos" pitchFamily="34" charset="-120"/>
              </a:rPr>
              <a:t>Skill stated; no example</a:t>
            </a:r>
            <a:endParaRPr lang="en-US" sz="950" dirty="0"/>
          </a:p>
        </p:txBody>
      </p:sp>
      <p:sp>
        <p:nvSpPr>
          <p:cNvPr id="42" name="Shape 40"/>
          <p:cNvSpPr/>
          <p:nvPr/>
        </p:nvSpPr>
        <p:spPr>
          <a:xfrm>
            <a:off x="4864608" y="4187952"/>
            <a:ext cx="192024" cy="0"/>
          </a:xfrm>
          <a:prstGeom prst="line">
            <a:avLst/>
          </a:prstGeom>
          <a:noFill/>
          <a:ln w="19050">
            <a:solidFill>
              <a:srgbClr val="C9D2CA"/>
            </a:solidFill>
            <a:prstDash val="solid"/>
            <a:tailEnd type="triangle"/>
          </a:ln>
        </p:spPr>
      </p:sp>
      <p:sp>
        <p:nvSpPr>
          <p:cNvPr id="43" name="Shape 41"/>
          <p:cNvSpPr/>
          <p:nvPr/>
        </p:nvSpPr>
        <p:spPr>
          <a:xfrm>
            <a:off x="5111496" y="3621024"/>
            <a:ext cx="2011680" cy="1152144"/>
          </a:xfrm>
          <a:prstGeom prst="roundRect">
            <a:avLst>
              <a:gd name="adj" fmla="val 9524"/>
            </a:avLst>
          </a:prstGeom>
          <a:solidFill>
            <a:srgbClr val="FBF0D9"/>
          </a:solidFill>
          <a:ln w="12700">
            <a:solidFill>
              <a:srgbClr val="FBF0D9"/>
            </a:solidFill>
            <a:prstDash val="solid"/>
          </a:ln>
        </p:spPr>
      </p:sp>
      <p:sp>
        <p:nvSpPr>
          <p:cNvPr id="44" name="Shape 42"/>
          <p:cNvSpPr/>
          <p:nvPr/>
        </p:nvSpPr>
        <p:spPr>
          <a:xfrm>
            <a:off x="5111496" y="3621024"/>
            <a:ext cx="2011680" cy="73152"/>
          </a:xfrm>
          <a:prstGeom prst="rect">
            <a:avLst/>
          </a:prstGeom>
          <a:solidFill>
            <a:srgbClr val="B07B25"/>
          </a:solidFill>
          <a:ln w="12700">
            <a:solidFill>
              <a:srgbClr val="B07B25"/>
            </a:solidFill>
            <a:prstDash val="solid"/>
          </a:ln>
        </p:spPr>
      </p:sp>
      <p:sp>
        <p:nvSpPr>
          <p:cNvPr id="45" name="Text 43"/>
          <p:cNvSpPr/>
          <p:nvPr/>
        </p:nvSpPr>
        <p:spPr>
          <a:xfrm>
            <a:off x="5257800" y="3840480"/>
            <a:ext cx="1709928" cy="219456"/>
          </a:xfrm>
          <a:prstGeom prst="rect">
            <a:avLst/>
          </a:prstGeom>
          <a:noFill/>
          <a:ln/>
        </p:spPr>
        <p:txBody>
          <a:bodyPr wrap="square" lIns="0" tIns="0" rIns="0" bIns="0" rtlCol="0" anchor="ctr">
            <a:normAutofit/>
          </a:bodyPr>
          <a:lstStyle/>
          <a:p>
            <a:pPr algn="ctr" indent="0" marL="0">
              <a:buNone/>
            </a:pPr>
            <a:r>
              <a:rPr lang="en-US" sz="800" b="1" spc="70" kern="0" dirty="0">
                <a:solidFill>
                  <a:srgbClr val="B07B25"/>
                </a:solidFill>
                <a:latin typeface="Aptos" pitchFamily="34" charset="0"/>
                <a:ea typeface="Aptos" pitchFamily="34" charset="-122"/>
                <a:cs typeface="Aptos" pitchFamily="34" charset="-120"/>
              </a:rPr>
              <a:t>EMERGING</a:t>
            </a:r>
            <a:endParaRPr lang="en-US" sz="800" dirty="0"/>
          </a:p>
        </p:txBody>
      </p:sp>
      <p:sp>
        <p:nvSpPr>
          <p:cNvPr id="46" name="Text 44"/>
          <p:cNvSpPr/>
          <p:nvPr/>
        </p:nvSpPr>
        <p:spPr>
          <a:xfrm>
            <a:off x="5257800" y="4178808"/>
            <a:ext cx="1709928" cy="292608"/>
          </a:xfrm>
          <a:prstGeom prst="rect">
            <a:avLst/>
          </a:prstGeom>
          <a:noFill/>
          <a:ln/>
        </p:spPr>
        <p:txBody>
          <a:bodyPr wrap="square" lIns="0" tIns="0" rIns="0" bIns="0" rtlCol="0" anchor="ctr">
            <a:normAutofit/>
          </a:bodyPr>
          <a:lstStyle/>
          <a:p>
            <a:pPr algn="ctr" indent="0" marL="0">
              <a:buNone/>
            </a:pPr>
            <a:r>
              <a:rPr lang="en-US" sz="950" dirty="0">
                <a:solidFill>
                  <a:srgbClr val="18221C"/>
                </a:solidFill>
                <a:latin typeface="Aptos" pitchFamily="34" charset="0"/>
                <a:ea typeface="Aptos" pitchFamily="34" charset="-122"/>
                <a:cs typeface="Aptos" pitchFamily="34" charset="-120"/>
              </a:rPr>
              <a:t>Indirect or introductory</a:t>
            </a:r>
            <a:endParaRPr lang="en-US" sz="950" dirty="0"/>
          </a:p>
        </p:txBody>
      </p:sp>
      <p:sp>
        <p:nvSpPr>
          <p:cNvPr id="47" name="Shape 45"/>
          <p:cNvSpPr/>
          <p:nvPr/>
        </p:nvSpPr>
        <p:spPr>
          <a:xfrm>
            <a:off x="7123176" y="4187952"/>
            <a:ext cx="192024" cy="0"/>
          </a:xfrm>
          <a:prstGeom prst="line">
            <a:avLst/>
          </a:prstGeom>
          <a:noFill/>
          <a:ln w="19050">
            <a:solidFill>
              <a:srgbClr val="C9D2CA"/>
            </a:solidFill>
            <a:prstDash val="solid"/>
            <a:tailEnd type="triangle"/>
          </a:ln>
        </p:spPr>
      </p:sp>
      <p:sp>
        <p:nvSpPr>
          <p:cNvPr id="48" name="Shape 46"/>
          <p:cNvSpPr/>
          <p:nvPr/>
        </p:nvSpPr>
        <p:spPr>
          <a:xfrm>
            <a:off x="7370064" y="3621024"/>
            <a:ext cx="2011680" cy="1152144"/>
          </a:xfrm>
          <a:prstGeom prst="roundRect">
            <a:avLst>
              <a:gd name="adj" fmla="val 9524"/>
            </a:avLst>
          </a:prstGeom>
          <a:solidFill>
            <a:srgbClr val="EAF2F7"/>
          </a:solidFill>
          <a:ln w="12700">
            <a:solidFill>
              <a:srgbClr val="EAF2F7"/>
            </a:solidFill>
            <a:prstDash val="solid"/>
          </a:ln>
        </p:spPr>
      </p:sp>
      <p:sp>
        <p:nvSpPr>
          <p:cNvPr id="49" name="Shape 47"/>
          <p:cNvSpPr/>
          <p:nvPr/>
        </p:nvSpPr>
        <p:spPr>
          <a:xfrm>
            <a:off x="7370064" y="3621024"/>
            <a:ext cx="2011680" cy="73152"/>
          </a:xfrm>
          <a:prstGeom prst="rect">
            <a:avLst/>
          </a:prstGeom>
          <a:solidFill>
            <a:srgbClr val="426B87"/>
          </a:solidFill>
          <a:ln w="12700">
            <a:solidFill>
              <a:srgbClr val="426B87"/>
            </a:solidFill>
            <a:prstDash val="solid"/>
          </a:ln>
        </p:spPr>
      </p:sp>
      <p:sp>
        <p:nvSpPr>
          <p:cNvPr id="50" name="Text 48"/>
          <p:cNvSpPr/>
          <p:nvPr/>
        </p:nvSpPr>
        <p:spPr>
          <a:xfrm>
            <a:off x="7516368" y="3840480"/>
            <a:ext cx="1709928" cy="219456"/>
          </a:xfrm>
          <a:prstGeom prst="rect">
            <a:avLst/>
          </a:prstGeom>
          <a:noFill/>
          <a:ln/>
        </p:spPr>
        <p:txBody>
          <a:bodyPr wrap="square" lIns="0" tIns="0" rIns="0" bIns="0" rtlCol="0" anchor="ctr">
            <a:normAutofit/>
          </a:bodyPr>
          <a:lstStyle/>
          <a:p>
            <a:pPr algn="ctr" indent="0" marL="0">
              <a:buNone/>
            </a:pPr>
            <a:r>
              <a:rPr lang="en-US" sz="800" b="1" spc="70" kern="0" dirty="0">
                <a:solidFill>
                  <a:srgbClr val="426B87"/>
                </a:solidFill>
                <a:latin typeface="Aptos" pitchFamily="34" charset="0"/>
                <a:ea typeface="Aptos" pitchFamily="34" charset="-122"/>
                <a:cs typeface="Aptos" pitchFamily="34" charset="-120"/>
              </a:rPr>
              <a:t>SUPPORTED</a:t>
            </a:r>
            <a:endParaRPr lang="en-US" sz="800" dirty="0"/>
          </a:p>
        </p:txBody>
      </p:sp>
      <p:sp>
        <p:nvSpPr>
          <p:cNvPr id="51" name="Text 49"/>
          <p:cNvSpPr/>
          <p:nvPr/>
        </p:nvSpPr>
        <p:spPr>
          <a:xfrm>
            <a:off x="7516368" y="4178808"/>
            <a:ext cx="1709928" cy="292608"/>
          </a:xfrm>
          <a:prstGeom prst="rect">
            <a:avLst/>
          </a:prstGeom>
          <a:noFill/>
          <a:ln/>
        </p:spPr>
        <p:txBody>
          <a:bodyPr wrap="square" lIns="0" tIns="0" rIns="0" bIns="0" rtlCol="0" anchor="ctr">
            <a:normAutofit/>
          </a:bodyPr>
          <a:lstStyle/>
          <a:p>
            <a:pPr algn="ctr" indent="0" marL="0">
              <a:buNone/>
            </a:pPr>
            <a:r>
              <a:rPr lang="en-US" sz="950" dirty="0">
                <a:solidFill>
                  <a:srgbClr val="18221C"/>
                </a:solidFill>
                <a:latin typeface="Aptos" pitchFamily="34" charset="0"/>
                <a:ea typeface="Aptos" pitchFamily="34" charset="-122"/>
                <a:cs typeface="Aptos" pitchFamily="34" charset="-120"/>
              </a:rPr>
              <a:t>Hands-on example exists</a:t>
            </a:r>
            <a:endParaRPr lang="en-US" sz="950" dirty="0"/>
          </a:p>
        </p:txBody>
      </p:sp>
      <p:sp>
        <p:nvSpPr>
          <p:cNvPr id="52" name="Shape 50"/>
          <p:cNvSpPr/>
          <p:nvPr/>
        </p:nvSpPr>
        <p:spPr>
          <a:xfrm>
            <a:off x="9381744" y="4187952"/>
            <a:ext cx="192024" cy="0"/>
          </a:xfrm>
          <a:prstGeom prst="line">
            <a:avLst/>
          </a:prstGeom>
          <a:noFill/>
          <a:ln w="19050">
            <a:solidFill>
              <a:srgbClr val="C9D2CA"/>
            </a:solidFill>
            <a:prstDash val="solid"/>
            <a:tailEnd type="triangle"/>
          </a:ln>
        </p:spPr>
      </p:sp>
      <p:sp>
        <p:nvSpPr>
          <p:cNvPr id="53" name="Shape 51"/>
          <p:cNvSpPr/>
          <p:nvPr/>
        </p:nvSpPr>
        <p:spPr>
          <a:xfrm>
            <a:off x="9628632" y="3621024"/>
            <a:ext cx="2011680" cy="1152144"/>
          </a:xfrm>
          <a:prstGeom prst="roundRect">
            <a:avLst>
              <a:gd name="adj" fmla="val 9524"/>
            </a:avLst>
          </a:prstGeom>
          <a:solidFill>
            <a:srgbClr val="EEF6F0"/>
          </a:solidFill>
          <a:ln w="12700">
            <a:solidFill>
              <a:srgbClr val="EEF6F0"/>
            </a:solidFill>
            <a:prstDash val="solid"/>
          </a:ln>
        </p:spPr>
      </p:sp>
      <p:sp>
        <p:nvSpPr>
          <p:cNvPr id="54" name="Shape 52"/>
          <p:cNvSpPr/>
          <p:nvPr/>
        </p:nvSpPr>
        <p:spPr>
          <a:xfrm>
            <a:off x="9628632" y="3621024"/>
            <a:ext cx="2011680" cy="73152"/>
          </a:xfrm>
          <a:prstGeom prst="rect">
            <a:avLst/>
          </a:prstGeom>
          <a:solidFill>
            <a:srgbClr val="2E6B4A"/>
          </a:solidFill>
          <a:ln w="12700">
            <a:solidFill>
              <a:srgbClr val="2E6B4A"/>
            </a:solidFill>
            <a:prstDash val="solid"/>
          </a:ln>
        </p:spPr>
      </p:sp>
      <p:sp>
        <p:nvSpPr>
          <p:cNvPr id="55" name="Text 53"/>
          <p:cNvSpPr/>
          <p:nvPr/>
        </p:nvSpPr>
        <p:spPr>
          <a:xfrm>
            <a:off x="9774936" y="3840480"/>
            <a:ext cx="1709928" cy="219456"/>
          </a:xfrm>
          <a:prstGeom prst="rect">
            <a:avLst/>
          </a:prstGeom>
          <a:noFill/>
          <a:ln/>
        </p:spPr>
        <p:txBody>
          <a:bodyPr wrap="square" lIns="0" tIns="0" rIns="0" bIns="0" rtlCol="0" anchor="ctr">
            <a:normAutofit/>
          </a:bodyPr>
          <a:lstStyle/>
          <a:p>
            <a:pPr algn="ctr" indent="0" marL="0">
              <a:buNone/>
            </a:pPr>
            <a:r>
              <a:rPr lang="en-US" sz="800" b="1" spc="70" kern="0" dirty="0">
                <a:solidFill>
                  <a:srgbClr val="2E6B4A"/>
                </a:solidFill>
                <a:latin typeface="Aptos" pitchFamily="34" charset="0"/>
                <a:ea typeface="Aptos" pitchFamily="34" charset="-122"/>
                <a:cs typeface="Aptos" pitchFamily="34" charset="-120"/>
              </a:rPr>
              <a:t>STRONG</a:t>
            </a:r>
            <a:endParaRPr lang="en-US" sz="800" dirty="0"/>
          </a:p>
        </p:txBody>
      </p:sp>
      <p:sp>
        <p:nvSpPr>
          <p:cNvPr id="56" name="Text 54"/>
          <p:cNvSpPr/>
          <p:nvPr/>
        </p:nvSpPr>
        <p:spPr>
          <a:xfrm>
            <a:off x="9774936" y="4178808"/>
            <a:ext cx="1709928" cy="292608"/>
          </a:xfrm>
          <a:prstGeom prst="rect">
            <a:avLst/>
          </a:prstGeom>
          <a:noFill/>
          <a:ln/>
        </p:spPr>
        <p:txBody>
          <a:bodyPr wrap="square" lIns="0" tIns="0" rIns="0" bIns="0" rtlCol="0" anchor="ctr">
            <a:normAutofit/>
          </a:bodyPr>
          <a:lstStyle/>
          <a:p>
            <a:pPr algn="ctr" indent="0" marL="0">
              <a:buNone/>
            </a:pPr>
            <a:r>
              <a:rPr lang="en-US" sz="950" dirty="0">
                <a:solidFill>
                  <a:srgbClr val="18221C"/>
                </a:solidFill>
                <a:latin typeface="Aptos" pitchFamily="34" charset="0"/>
                <a:ea typeface="Aptos" pitchFamily="34" charset="-122"/>
                <a:cs typeface="Aptos" pitchFamily="34" charset="-120"/>
              </a:rPr>
              <a:t>Outcome + real context</a:t>
            </a:r>
            <a:endParaRPr lang="en-US" sz="950" dirty="0"/>
          </a:p>
        </p:txBody>
      </p:sp>
      <p:sp>
        <p:nvSpPr>
          <p:cNvPr id="57" name="Shape 55"/>
          <p:cNvSpPr/>
          <p:nvPr/>
        </p:nvSpPr>
        <p:spPr>
          <a:xfrm>
            <a:off x="1865376" y="5074920"/>
            <a:ext cx="8467344" cy="438912"/>
          </a:xfrm>
          <a:prstGeom prst="roundRect">
            <a:avLst>
              <a:gd name="adj" fmla="val 25000"/>
            </a:avLst>
          </a:prstGeom>
          <a:solidFill>
            <a:srgbClr val="FFFFFF"/>
          </a:solidFill>
          <a:ln w="12700">
            <a:solidFill>
              <a:srgbClr val="DDE3DD"/>
            </a:solidFill>
            <a:prstDash val="solid"/>
          </a:ln>
        </p:spPr>
      </p:sp>
      <p:sp>
        <p:nvSpPr>
          <p:cNvPr id="58" name="Text 56"/>
          <p:cNvSpPr/>
          <p:nvPr/>
        </p:nvSpPr>
        <p:spPr>
          <a:xfrm>
            <a:off x="2075688" y="5175504"/>
            <a:ext cx="8046720" cy="201168"/>
          </a:xfrm>
          <a:prstGeom prst="rect">
            <a:avLst/>
          </a:prstGeom>
          <a:noFill/>
          <a:ln/>
        </p:spPr>
        <p:txBody>
          <a:bodyPr wrap="square" lIns="0" tIns="0" rIns="0" bIns="0" rtlCol="0" anchor="ctr">
            <a:normAutofit/>
          </a:bodyPr>
          <a:lstStyle/>
          <a:p>
            <a:pPr algn="ctr" indent="0" marL="0">
              <a:buNone/>
            </a:pPr>
            <a:r>
              <a:rPr lang="en-US" sz="1060" b="1" dirty="0">
                <a:solidFill>
                  <a:srgbClr val="C12E60"/>
                </a:solidFill>
                <a:latin typeface="Aptos" pitchFamily="34" charset="0"/>
                <a:ea typeface="Aptos" pitchFamily="34" charset="-122"/>
                <a:cs typeface="Aptos" pitchFamily="34" charset="-120"/>
              </a:rPr>
              <a:t>Confidence = strength of available evidence, not probability that the person is truthful.</a:t>
            </a:r>
            <a:endParaRPr lang="en-US" sz="1060" dirty="0"/>
          </a:p>
        </p:txBody>
      </p:sp>
      <p:sp>
        <p:nvSpPr>
          <p:cNvPr id="59" name="Shape 57"/>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60" name="Shape 58"/>
          <p:cNvSpPr/>
          <p:nvPr/>
        </p:nvSpPr>
        <p:spPr>
          <a:xfrm>
            <a:off x="685800" y="6044184"/>
            <a:ext cx="164592" cy="164592"/>
          </a:xfrm>
          <a:prstGeom prst="ellipse">
            <a:avLst/>
          </a:prstGeom>
          <a:solidFill>
            <a:srgbClr val="CDEB8B"/>
          </a:solidFill>
          <a:ln w="12700">
            <a:solidFill>
              <a:srgbClr val="CDEB8B"/>
            </a:solidFill>
            <a:prstDash val="solid"/>
          </a:ln>
        </p:spPr>
      </p:sp>
      <p:sp>
        <p:nvSpPr>
          <p:cNvPr id="61" name="Text 59"/>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62" name="Text 60"/>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Use two examples: “Python” in Skills = claim only; “Built a Python API serving 4,000 users” = supported/strong.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SURPRISE CHALLENGE 01</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11</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Contradiction detection with exact evidence</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Every flag must show the claim and the passage that caused the concern.</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19072"/>
            <a:ext cx="3154680" cy="1828800"/>
          </a:xfrm>
          <a:prstGeom prst="roundRect">
            <a:avLst>
              <a:gd name="adj" fmla="val 6000"/>
            </a:avLst>
          </a:prstGeom>
          <a:solidFill>
            <a:srgbClr val="F8E7ED"/>
          </a:solidFill>
          <a:ln w="12700">
            <a:solidFill>
              <a:srgbClr val="DDE3DD"/>
            </a:solidFill>
            <a:prstDash val="solid"/>
          </a:ln>
        </p:spPr>
      </p:sp>
      <p:sp>
        <p:nvSpPr>
          <p:cNvPr id="13" name="Shape 11"/>
          <p:cNvSpPr/>
          <p:nvPr/>
        </p:nvSpPr>
        <p:spPr>
          <a:xfrm>
            <a:off x="566928" y="1719072"/>
            <a:ext cx="64008" cy="1828800"/>
          </a:xfrm>
          <a:prstGeom prst="rect">
            <a:avLst/>
          </a:prstGeom>
          <a:solidFill>
            <a:srgbClr val="C12E60"/>
          </a:solidFill>
          <a:ln w="12700">
            <a:solidFill>
              <a:srgbClr val="C12E60"/>
            </a:solidFill>
            <a:prstDash val="solid"/>
          </a:ln>
        </p:spPr>
      </p:sp>
      <p:sp>
        <p:nvSpPr>
          <p:cNvPr id="14" name="Shape 12"/>
          <p:cNvSpPr/>
          <p:nvPr/>
        </p:nvSpPr>
        <p:spPr>
          <a:xfrm>
            <a:off x="786384" y="1929384"/>
            <a:ext cx="384048" cy="384048"/>
          </a:xfrm>
          <a:prstGeom prst="ellipse">
            <a:avLst/>
          </a:prstGeom>
          <a:solidFill>
            <a:srgbClr val="C12E60"/>
          </a:solidFill>
          <a:ln w="12700">
            <a:solidFill>
              <a:srgbClr val="C12E60"/>
            </a:solidFill>
            <a:prstDash val="solid"/>
          </a:ln>
        </p:spPr>
      </p:sp>
      <p:sp>
        <p:nvSpPr>
          <p:cNvPr id="15" name="Text 13"/>
          <p:cNvSpPr/>
          <p:nvPr/>
        </p:nvSpPr>
        <p:spPr>
          <a:xfrm>
            <a:off x="786384" y="1929384"/>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a:t>
            </a:r>
            <a:endParaRPr lang="en-US" sz="1100" dirty="0"/>
          </a:p>
        </p:txBody>
      </p:sp>
      <p:sp>
        <p:nvSpPr>
          <p:cNvPr id="16" name="Text 14"/>
          <p:cNvSpPr/>
          <p:nvPr/>
        </p:nvSpPr>
        <p:spPr>
          <a:xfrm>
            <a:off x="1298448" y="1883664"/>
            <a:ext cx="2240280" cy="201168"/>
          </a:xfrm>
          <a:prstGeom prst="rect">
            <a:avLst/>
          </a:prstGeom>
          <a:noFill/>
          <a:ln/>
        </p:spPr>
        <p:txBody>
          <a:bodyPr wrap="square" lIns="0" tIns="0" rIns="0" bIns="0" rtlCol="0" anchor="ctr">
            <a:normAutofit/>
          </a:bodyPr>
          <a:lstStyle/>
          <a:p>
            <a:pPr algn="l" indent="0" marL="0">
              <a:buNone/>
            </a:pPr>
            <a:r>
              <a:rPr lang="en-US" sz="750" b="1" spc="90" kern="0" dirty="0">
                <a:solidFill>
                  <a:srgbClr val="C12E60"/>
                </a:solidFill>
                <a:latin typeface="Aptos" pitchFamily="34" charset="0"/>
                <a:ea typeface="Aptos" pitchFamily="34" charset="-122"/>
                <a:cs typeface="Aptos" pitchFamily="34" charset="-120"/>
              </a:rPr>
              <a:t>CLAIM</a:t>
            </a:r>
            <a:endParaRPr lang="en-US" sz="750" dirty="0"/>
          </a:p>
        </p:txBody>
      </p:sp>
      <p:sp>
        <p:nvSpPr>
          <p:cNvPr id="17" name="Text 15"/>
          <p:cNvSpPr/>
          <p:nvPr/>
        </p:nvSpPr>
        <p:spPr>
          <a:xfrm>
            <a:off x="1298448" y="2112264"/>
            <a:ext cx="2221992"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“5 years of Python experience”</a:t>
            </a:r>
            <a:endParaRPr lang="en-US" sz="1500" dirty="0"/>
          </a:p>
        </p:txBody>
      </p:sp>
      <p:sp>
        <p:nvSpPr>
          <p:cNvPr id="18" name="Text 16"/>
          <p:cNvSpPr/>
          <p:nvPr/>
        </p:nvSpPr>
        <p:spPr>
          <a:xfrm>
            <a:off x="1298448" y="2542032"/>
            <a:ext cx="2203704" cy="841248"/>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A strong duration statement appears in the summary.</a:t>
            </a:r>
            <a:endParaRPr lang="en-US" sz="1050" dirty="0"/>
          </a:p>
        </p:txBody>
      </p:sp>
      <p:sp>
        <p:nvSpPr>
          <p:cNvPr id="19" name="Shape 17"/>
          <p:cNvSpPr/>
          <p:nvPr/>
        </p:nvSpPr>
        <p:spPr>
          <a:xfrm>
            <a:off x="3785616" y="2624328"/>
            <a:ext cx="530352" cy="0"/>
          </a:xfrm>
          <a:prstGeom prst="line">
            <a:avLst/>
          </a:prstGeom>
          <a:noFill/>
          <a:ln w="19050">
            <a:solidFill>
              <a:srgbClr val="B4443B"/>
            </a:solidFill>
            <a:prstDash val="solid"/>
            <a:tailEnd type="triangle"/>
          </a:ln>
        </p:spPr>
      </p:sp>
      <p:sp>
        <p:nvSpPr>
          <p:cNvPr id="20" name="Shape 18"/>
          <p:cNvSpPr/>
          <p:nvPr/>
        </p:nvSpPr>
        <p:spPr>
          <a:xfrm>
            <a:off x="4352544" y="1719072"/>
            <a:ext cx="3154680" cy="1828800"/>
          </a:xfrm>
          <a:prstGeom prst="roundRect">
            <a:avLst>
              <a:gd name="adj" fmla="val 6000"/>
            </a:avLst>
          </a:prstGeom>
          <a:solidFill>
            <a:srgbClr val="EAF2F7"/>
          </a:solidFill>
          <a:ln w="12700">
            <a:solidFill>
              <a:srgbClr val="DDE3DD"/>
            </a:solidFill>
            <a:prstDash val="solid"/>
          </a:ln>
        </p:spPr>
      </p:sp>
      <p:sp>
        <p:nvSpPr>
          <p:cNvPr id="21" name="Shape 19"/>
          <p:cNvSpPr/>
          <p:nvPr/>
        </p:nvSpPr>
        <p:spPr>
          <a:xfrm>
            <a:off x="4352544" y="1719072"/>
            <a:ext cx="64008" cy="1828800"/>
          </a:xfrm>
          <a:prstGeom prst="rect">
            <a:avLst/>
          </a:prstGeom>
          <a:solidFill>
            <a:srgbClr val="426B87"/>
          </a:solidFill>
          <a:ln w="12700">
            <a:solidFill>
              <a:srgbClr val="426B87"/>
            </a:solidFill>
            <a:prstDash val="solid"/>
          </a:ln>
        </p:spPr>
      </p:sp>
      <p:sp>
        <p:nvSpPr>
          <p:cNvPr id="22" name="Shape 20"/>
          <p:cNvSpPr/>
          <p:nvPr/>
        </p:nvSpPr>
        <p:spPr>
          <a:xfrm>
            <a:off x="4572000" y="1929384"/>
            <a:ext cx="384048" cy="384048"/>
          </a:xfrm>
          <a:prstGeom prst="ellipse">
            <a:avLst/>
          </a:prstGeom>
          <a:solidFill>
            <a:srgbClr val="426B87"/>
          </a:solidFill>
          <a:ln w="12700">
            <a:solidFill>
              <a:srgbClr val="426B87"/>
            </a:solidFill>
            <a:prstDash val="solid"/>
          </a:ln>
        </p:spPr>
      </p:sp>
      <p:sp>
        <p:nvSpPr>
          <p:cNvPr id="23" name="Text 21"/>
          <p:cNvSpPr/>
          <p:nvPr/>
        </p:nvSpPr>
        <p:spPr>
          <a:xfrm>
            <a:off x="4572000" y="1929384"/>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B</a:t>
            </a:r>
            <a:endParaRPr lang="en-US" sz="1100" dirty="0"/>
          </a:p>
        </p:txBody>
      </p:sp>
      <p:sp>
        <p:nvSpPr>
          <p:cNvPr id="24" name="Text 22"/>
          <p:cNvSpPr/>
          <p:nvPr/>
        </p:nvSpPr>
        <p:spPr>
          <a:xfrm>
            <a:off x="5084064" y="1883664"/>
            <a:ext cx="2240280" cy="201168"/>
          </a:xfrm>
          <a:prstGeom prst="rect">
            <a:avLst/>
          </a:prstGeom>
          <a:noFill/>
          <a:ln/>
        </p:spPr>
        <p:txBody>
          <a:bodyPr wrap="square" lIns="0" tIns="0" rIns="0" bIns="0" rtlCol="0" anchor="ctr">
            <a:normAutofit/>
          </a:bodyPr>
          <a:lstStyle/>
          <a:p>
            <a:pPr algn="l" indent="0" marL="0">
              <a:buNone/>
            </a:pPr>
            <a:r>
              <a:rPr lang="en-US" sz="750" b="1" spc="90" kern="0" dirty="0">
                <a:solidFill>
                  <a:srgbClr val="426B87"/>
                </a:solidFill>
                <a:latin typeface="Aptos" pitchFamily="34" charset="0"/>
                <a:ea typeface="Aptos" pitchFamily="34" charset="-122"/>
                <a:cs typeface="Aptos" pitchFamily="34" charset="-120"/>
              </a:rPr>
              <a:t>DOCUMENTED TIMELINE</a:t>
            </a:r>
            <a:endParaRPr lang="en-US" sz="750" dirty="0"/>
          </a:p>
        </p:txBody>
      </p:sp>
      <p:sp>
        <p:nvSpPr>
          <p:cNvPr id="25" name="Text 23"/>
          <p:cNvSpPr/>
          <p:nvPr/>
        </p:nvSpPr>
        <p:spPr>
          <a:xfrm>
            <a:off x="5084064" y="2112264"/>
            <a:ext cx="2221992"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Intern • 2024–2025</a:t>
            </a:r>
            <a:endParaRPr lang="en-US" sz="1500" dirty="0"/>
          </a:p>
        </p:txBody>
      </p:sp>
      <p:sp>
        <p:nvSpPr>
          <p:cNvPr id="26" name="Text 24"/>
          <p:cNvSpPr/>
          <p:nvPr/>
        </p:nvSpPr>
        <p:spPr>
          <a:xfrm>
            <a:off x="5084064" y="2542032"/>
            <a:ext cx="2203704" cy="841248"/>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No earlier dated work or independent Python project is provided.</a:t>
            </a:r>
            <a:endParaRPr lang="en-US" sz="1050" dirty="0"/>
          </a:p>
        </p:txBody>
      </p:sp>
      <p:sp>
        <p:nvSpPr>
          <p:cNvPr id="27" name="Shape 25"/>
          <p:cNvSpPr/>
          <p:nvPr/>
        </p:nvSpPr>
        <p:spPr>
          <a:xfrm>
            <a:off x="7571232" y="2624328"/>
            <a:ext cx="530352" cy="0"/>
          </a:xfrm>
          <a:prstGeom prst="line">
            <a:avLst/>
          </a:prstGeom>
          <a:noFill/>
          <a:ln w="19050">
            <a:solidFill>
              <a:srgbClr val="B4443B"/>
            </a:solidFill>
            <a:prstDash val="solid"/>
            <a:tailEnd type="triangle"/>
          </a:ln>
        </p:spPr>
      </p:sp>
      <p:sp>
        <p:nvSpPr>
          <p:cNvPr id="28" name="Shape 26"/>
          <p:cNvSpPr/>
          <p:nvPr/>
        </p:nvSpPr>
        <p:spPr>
          <a:xfrm>
            <a:off x="8138160" y="1719072"/>
            <a:ext cx="3474720" cy="1828800"/>
          </a:xfrm>
          <a:prstGeom prst="roundRect">
            <a:avLst>
              <a:gd name="adj" fmla="val 6000"/>
            </a:avLst>
          </a:prstGeom>
          <a:solidFill>
            <a:srgbClr val="F9EAE8"/>
          </a:solidFill>
          <a:ln w="12700">
            <a:solidFill>
              <a:srgbClr val="DDE3DD"/>
            </a:solidFill>
            <a:prstDash val="solid"/>
          </a:ln>
        </p:spPr>
      </p:sp>
      <p:sp>
        <p:nvSpPr>
          <p:cNvPr id="29" name="Shape 27"/>
          <p:cNvSpPr/>
          <p:nvPr/>
        </p:nvSpPr>
        <p:spPr>
          <a:xfrm>
            <a:off x="8138160" y="1719072"/>
            <a:ext cx="64008" cy="1828800"/>
          </a:xfrm>
          <a:prstGeom prst="rect">
            <a:avLst/>
          </a:prstGeom>
          <a:solidFill>
            <a:srgbClr val="B4443B"/>
          </a:solidFill>
          <a:ln w="12700">
            <a:solidFill>
              <a:srgbClr val="B4443B"/>
            </a:solidFill>
            <a:prstDash val="solid"/>
          </a:ln>
        </p:spPr>
      </p:sp>
      <p:sp>
        <p:nvSpPr>
          <p:cNvPr id="30" name="Shape 28"/>
          <p:cNvSpPr/>
          <p:nvPr/>
        </p:nvSpPr>
        <p:spPr>
          <a:xfrm>
            <a:off x="8357616" y="1929384"/>
            <a:ext cx="384048" cy="384048"/>
          </a:xfrm>
          <a:prstGeom prst="ellipse">
            <a:avLst/>
          </a:prstGeom>
          <a:solidFill>
            <a:srgbClr val="B4443B"/>
          </a:solidFill>
          <a:ln w="12700">
            <a:solidFill>
              <a:srgbClr val="B4443B"/>
            </a:solidFill>
            <a:prstDash val="solid"/>
          </a:ln>
        </p:spPr>
      </p:sp>
      <p:sp>
        <p:nvSpPr>
          <p:cNvPr id="31" name="Text 29"/>
          <p:cNvSpPr/>
          <p:nvPr/>
        </p:nvSpPr>
        <p:spPr>
          <a:xfrm>
            <a:off x="8357616" y="1929384"/>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t>
            </a:r>
            <a:endParaRPr lang="en-US" sz="1100" dirty="0"/>
          </a:p>
        </p:txBody>
      </p:sp>
      <p:sp>
        <p:nvSpPr>
          <p:cNvPr id="32" name="Text 30"/>
          <p:cNvSpPr/>
          <p:nvPr/>
        </p:nvSpPr>
        <p:spPr>
          <a:xfrm>
            <a:off x="8869680" y="1883664"/>
            <a:ext cx="2560320" cy="201168"/>
          </a:xfrm>
          <a:prstGeom prst="rect">
            <a:avLst/>
          </a:prstGeom>
          <a:noFill/>
          <a:ln/>
        </p:spPr>
        <p:txBody>
          <a:bodyPr wrap="square" lIns="0" tIns="0" rIns="0" bIns="0" rtlCol="0" anchor="ctr">
            <a:normAutofit/>
          </a:bodyPr>
          <a:lstStyle/>
          <a:p>
            <a:pPr algn="l" indent="0" marL="0">
              <a:buNone/>
            </a:pPr>
            <a:r>
              <a:rPr lang="en-US" sz="750" b="1" spc="90" kern="0" dirty="0">
                <a:solidFill>
                  <a:srgbClr val="B4443B"/>
                </a:solidFill>
                <a:latin typeface="Aptos" pitchFamily="34" charset="0"/>
                <a:ea typeface="Aptos" pitchFamily="34" charset="-122"/>
                <a:cs typeface="Aptos" pitchFamily="34" charset="-120"/>
              </a:rPr>
              <a:t>ASSESSMENT</a:t>
            </a:r>
            <a:endParaRPr lang="en-US" sz="750" dirty="0"/>
          </a:p>
        </p:txBody>
      </p:sp>
      <p:sp>
        <p:nvSpPr>
          <p:cNvPr id="33" name="Text 31"/>
          <p:cNvSpPr/>
          <p:nvPr/>
        </p:nvSpPr>
        <p:spPr>
          <a:xfrm>
            <a:off x="8869680" y="2112264"/>
            <a:ext cx="2542032"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Unsupported duration claim</a:t>
            </a:r>
            <a:endParaRPr lang="en-US" sz="1500" dirty="0"/>
          </a:p>
        </p:txBody>
      </p:sp>
      <p:sp>
        <p:nvSpPr>
          <p:cNvPr id="34" name="Text 32"/>
          <p:cNvSpPr/>
          <p:nvPr/>
        </p:nvSpPr>
        <p:spPr>
          <a:xfrm>
            <a:off x="8869680" y="2542032"/>
            <a:ext cx="2523744" cy="841248"/>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Confidence is capped. The system requests human validation and never invents the missing years.</a:t>
            </a:r>
            <a:endParaRPr lang="en-US" sz="1050" dirty="0"/>
          </a:p>
        </p:txBody>
      </p:sp>
      <p:sp>
        <p:nvSpPr>
          <p:cNvPr id="35" name="Shape 33"/>
          <p:cNvSpPr/>
          <p:nvPr/>
        </p:nvSpPr>
        <p:spPr>
          <a:xfrm>
            <a:off x="576072" y="3867912"/>
            <a:ext cx="11027664" cy="1490472"/>
          </a:xfrm>
          <a:prstGeom prst="roundRect">
            <a:avLst>
              <a:gd name="adj" fmla="val 7362"/>
            </a:avLst>
          </a:prstGeom>
          <a:solidFill>
            <a:srgbClr val="FFFFFF"/>
          </a:solidFill>
          <a:ln w="12700">
            <a:solidFill>
              <a:srgbClr val="DDE3DD"/>
            </a:solidFill>
            <a:prstDash val="solid"/>
          </a:ln>
        </p:spPr>
      </p:sp>
      <p:sp>
        <p:nvSpPr>
          <p:cNvPr id="36" name="Text 34"/>
          <p:cNvSpPr/>
          <p:nvPr/>
        </p:nvSpPr>
        <p:spPr>
          <a:xfrm>
            <a:off x="841248" y="4096512"/>
            <a:ext cx="1481328" cy="201168"/>
          </a:xfrm>
          <a:prstGeom prst="rect">
            <a:avLst/>
          </a:prstGeom>
          <a:noFill/>
          <a:ln/>
        </p:spPr>
        <p:txBody>
          <a:bodyPr wrap="square" lIns="0" tIns="0" rIns="0" bIns="0" rtlCol="0" anchor="ctr">
            <a:normAutofit/>
          </a:bodyPr>
          <a:lstStyle/>
          <a:p>
            <a:pPr algn="l" indent="0" marL="0">
              <a:buNone/>
            </a:pPr>
            <a:r>
              <a:rPr lang="en-US" sz="800" b="1" spc="110" kern="0" dirty="0">
                <a:solidFill>
                  <a:srgbClr val="2E6B4A"/>
                </a:solidFill>
                <a:latin typeface="Aptos" pitchFamily="34" charset="0"/>
                <a:ea typeface="Aptos" pitchFamily="34" charset="-122"/>
                <a:cs typeface="Aptos" pitchFamily="34" charset="-120"/>
              </a:rPr>
              <a:t>TECHNICAL APPROACH</a:t>
            </a:r>
            <a:endParaRPr lang="en-US" sz="800" dirty="0"/>
          </a:p>
        </p:txBody>
      </p:sp>
      <p:sp>
        <p:nvSpPr>
          <p:cNvPr id="37" name="Shape 35"/>
          <p:cNvSpPr/>
          <p:nvPr/>
        </p:nvSpPr>
        <p:spPr>
          <a:xfrm>
            <a:off x="859536" y="4507992"/>
            <a:ext cx="310896" cy="310896"/>
          </a:xfrm>
          <a:prstGeom prst="ellipse">
            <a:avLst/>
          </a:prstGeom>
          <a:solidFill>
            <a:srgbClr val="2E6B4A"/>
          </a:solidFill>
          <a:ln w="12700">
            <a:solidFill>
              <a:srgbClr val="2E6B4A"/>
            </a:solidFill>
            <a:prstDash val="solid"/>
          </a:ln>
        </p:spPr>
      </p:sp>
      <p:sp>
        <p:nvSpPr>
          <p:cNvPr id="38" name="Text 36"/>
          <p:cNvSpPr/>
          <p:nvPr/>
        </p:nvSpPr>
        <p:spPr>
          <a:xfrm>
            <a:off x="859536" y="4507992"/>
            <a:ext cx="310896"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1</a:t>
            </a:r>
            <a:endParaRPr lang="en-US" sz="800" dirty="0"/>
          </a:p>
        </p:txBody>
      </p:sp>
      <p:sp>
        <p:nvSpPr>
          <p:cNvPr id="39" name="Text 37"/>
          <p:cNvSpPr/>
          <p:nvPr/>
        </p:nvSpPr>
        <p:spPr>
          <a:xfrm>
            <a:off x="1289304" y="4471416"/>
            <a:ext cx="1508760" cy="40233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Split application into passages</a:t>
            </a:r>
            <a:endParaRPr lang="en-US" sz="920" dirty="0"/>
          </a:p>
        </p:txBody>
      </p:sp>
      <p:sp>
        <p:nvSpPr>
          <p:cNvPr id="40" name="Shape 38"/>
          <p:cNvSpPr/>
          <p:nvPr/>
        </p:nvSpPr>
        <p:spPr>
          <a:xfrm>
            <a:off x="2980944" y="4507992"/>
            <a:ext cx="310896" cy="310896"/>
          </a:xfrm>
          <a:prstGeom prst="ellipse">
            <a:avLst/>
          </a:prstGeom>
          <a:solidFill>
            <a:srgbClr val="2E6B4A"/>
          </a:solidFill>
          <a:ln w="12700">
            <a:solidFill>
              <a:srgbClr val="2E6B4A"/>
            </a:solidFill>
            <a:prstDash val="solid"/>
          </a:ln>
        </p:spPr>
      </p:sp>
      <p:sp>
        <p:nvSpPr>
          <p:cNvPr id="41" name="Text 39"/>
          <p:cNvSpPr/>
          <p:nvPr/>
        </p:nvSpPr>
        <p:spPr>
          <a:xfrm>
            <a:off x="2980944" y="4507992"/>
            <a:ext cx="310896"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2</a:t>
            </a:r>
            <a:endParaRPr lang="en-US" sz="800" dirty="0"/>
          </a:p>
        </p:txBody>
      </p:sp>
      <p:sp>
        <p:nvSpPr>
          <p:cNvPr id="42" name="Text 40"/>
          <p:cNvSpPr/>
          <p:nvPr/>
        </p:nvSpPr>
        <p:spPr>
          <a:xfrm>
            <a:off x="3410712" y="4471416"/>
            <a:ext cx="1508760" cy="40233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Store section, line and offsets</a:t>
            </a:r>
            <a:endParaRPr lang="en-US" sz="920" dirty="0"/>
          </a:p>
        </p:txBody>
      </p:sp>
      <p:sp>
        <p:nvSpPr>
          <p:cNvPr id="43" name="Shape 41"/>
          <p:cNvSpPr/>
          <p:nvPr/>
        </p:nvSpPr>
        <p:spPr>
          <a:xfrm>
            <a:off x="5102352" y="4507992"/>
            <a:ext cx="310896" cy="310896"/>
          </a:xfrm>
          <a:prstGeom prst="ellipse">
            <a:avLst/>
          </a:prstGeom>
          <a:solidFill>
            <a:srgbClr val="2E6B4A"/>
          </a:solidFill>
          <a:ln w="12700">
            <a:solidFill>
              <a:srgbClr val="2E6B4A"/>
            </a:solidFill>
            <a:prstDash val="solid"/>
          </a:ln>
        </p:spPr>
      </p:sp>
      <p:sp>
        <p:nvSpPr>
          <p:cNvPr id="44" name="Text 42"/>
          <p:cNvSpPr/>
          <p:nvPr/>
        </p:nvSpPr>
        <p:spPr>
          <a:xfrm>
            <a:off x="5102352" y="4507992"/>
            <a:ext cx="310896"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3</a:t>
            </a:r>
            <a:endParaRPr lang="en-US" sz="800" dirty="0"/>
          </a:p>
        </p:txBody>
      </p:sp>
      <p:sp>
        <p:nvSpPr>
          <p:cNvPr id="45" name="Text 43"/>
          <p:cNvSpPr/>
          <p:nvPr/>
        </p:nvSpPr>
        <p:spPr>
          <a:xfrm>
            <a:off x="5532120" y="4471416"/>
            <a:ext cx="1508760" cy="40233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Extract dates and duration claims</a:t>
            </a:r>
            <a:endParaRPr lang="en-US" sz="920" dirty="0"/>
          </a:p>
        </p:txBody>
      </p:sp>
      <p:sp>
        <p:nvSpPr>
          <p:cNvPr id="46" name="Shape 44"/>
          <p:cNvSpPr/>
          <p:nvPr/>
        </p:nvSpPr>
        <p:spPr>
          <a:xfrm>
            <a:off x="7223760" y="4507992"/>
            <a:ext cx="310896" cy="310896"/>
          </a:xfrm>
          <a:prstGeom prst="ellipse">
            <a:avLst/>
          </a:prstGeom>
          <a:solidFill>
            <a:srgbClr val="2E6B4A"/>
          </a:solidFill>
          <a:ln w="12700">
            <a:solidFill>
              <a:srgbClr val="2E6B4A"/>
            </a:solidFill>
            <a:prstDash val="solid"/>
          </a:ln>
        </p:spPr>
      </p:sp>
      <p:sp>
        <p:nvSpPr>
          <p:cNvPr id="47" name="Text 45"/>
          <p:cNvSpPr/>
          <p:nvPr/>
        </p:nvSpPr>
        <p:spPr>
          <a:xfrm>
            <a:off x="7223760" y="4507992"/>
            <a:ext cx="310896"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4</a:t>
            </a:r>
            <a:endParaRPr lang="en-US" sz="800" dirty="0"/>
          </a:p>
        </p:txBody>
      </p:sp>
      <p:sp>
        <p:nvSpPr>
          <p:cNvPr id="48" name="Text 46"/>
          <p:cNvSpPr/>
          <p:nvPr/>
        </p:nvSpPr>
        <p:spPr>
          <a:xfrm>
            <a:off x="7653528" y="4471416"/>
            <a:ext cx="1508760" cy="40233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Compare positive claims vs limits</a:t>
            </a:r>
            <a:endParaRPr lang="en-US" sz="920" dirty="0"/>
          </a:p>
        </p:txBody>
      </p:sp>
      <p:sp>
        <p:nvSpPr>
          <p:cNvPr id="49" name="Shape 47"/>
          <p:cNvSpPr/>
          <p:nvPr/>
        </p:nvSpPr>
        <p:spPr>
          <a:xfrm>
            <a:off x="9345168" y="4507992"/>
            <a:ext cx="310896" cy="310896"/>
          </a:xfrm>
          <a:prstGeom prst="ellipse">
            <a:avLst/>
          </a:prstGeom>
          <a:solidFill>
            <a:srgbClr val="2E6B4A"/>
          </a:solidFill>
          <a:ln w="12700">
            <a:solidFill>
              <a:srgbClr val="2E6B4A"/>
            </a:solidFill>
            <a:prstDash val="solid"/>
          </a:ln>
        </p:spPr>
      </p:sp>
      <p:sp>
        <p:nvSpPr>
          <p:cNvPr id="50" name="Text 48"/>
          <p:cNvSpPr/>
          <p:nvPr/>
        </p:nvSpPr>
        <p:spPr>
          <a:xfrm>
            <a:off x="9345168" y="4507992"/>
            <a:ext cx="310896" cy="310896"/>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5</a:t>
            </a:r>
            <a:endParaRPr lang="en-US" sz="800" dirty="0"/>
          </a:p>
        </p:txBody>
      </p:sp>
      <p:sp>
        <p:nvSpPr>
          <p:cNvPr id="51" name="Text 49"/>
          <p:cNvSpPr/>
          <p:nvPr/>
        </p:nvSpPr>
        <p:spPr>
          <a:xfrm>
            <a:off x="9774936" y="4471416"/>
            <a:ext cx="1508760" cy="40233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Return cited flag + confidence cap</a:t>
            </a:r>
            <a:endParaRPr lang="en-US" sz="920" dirty="0"/>
          </a:p>
        </p:txBody>
      </p:sp>
      <p:sp>
        <p:nvSpPr>
          <p:cNvPr id="52" name="Shape 50"/>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3" name="Shape 51"/>
          <p:cNvSpPr/>
          <p:nvPr/>
        </p:nvSpPr>
        <p:spPr>
          <a:xfrm>
            <a:off x="685800" y="6044184"/>
            <a:ext cx="164592" cy="164592"/>
          </a:xfrm>
          <a:prstGeom prst="ellipse">
            <a:avLst/>
          </a:prstGeom>
          <a:solidFill>
            <a:srgbClr val="CDEB8B"/>
          </a:solidFill>
          <a:ln w="12700">
            <a:solidFill>
              <a:srgbClr val="CDEB8B"/>
            </a:solidFill>
            <a:prstDash val="solid"/>
          </a:ln>
        </p:spPr>
      </p:sp>
      <p:sp>
        <p:nvSpPr>
          <p:cNvPr id="54" name="Text 52"/>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5" name="Text 53"/>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Clarify: missing proof is “unsupported”; two incompatible passages are “contradictory.”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SURPRISE CHALLENGE 02</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12</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Requirement conflicts and trade-off shortlisting</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When no applicant satisfies everything, the system says so explicitly.</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00784"/>
            <a:ext cx="3794760" cy="3931920"/>
          </a:xfrm>
          <a:prstGeom prst="roundRect">
            <a:avLst>
              <a:gd name="adj" fmla="val 2892"/>
            </a:avLst>
          </a:prstGeom>
          <a:solidFill>
            <a:srgbClr val="FFFFFF"/>
          </a:solidFill>
          <a:ln w="12700">
            <a:solidFill>
              <a:srgbClr val="DDE3DD"/>
            </a:solidFill>
            <a:prstDash val="solid"/>
          </a:ln>
        </p:spPr>
      </p:sp>
      <p:sp>
        <p:nvSpPr>
          <p:cNvPr id="13" name="Text 11"/>
          <p:cNvSpPr/>
          <p:nvPr/>
        </p:nvSpPr>
        <p:spPr>
          <a:xfrm>
            <a:off x="832104" y="1947672"/>
            <a:ext cx="1280160" cy="201168"/>
          </a:xfrm>
          <a:prstGeom prst="rect">
            <a:avLst/>
          </a:prstGeom>
          <a:noFill/>
          <a:ln/>
        </p:spPr>
        <p:txBody>
          <a:bodyPr wrap="square" lIns="0" tIns="0" rIns="0" bIns="0" rtlCol="0" anchor="ctr">
            <a:normAutofit/>
          </a:bodyPr>
          <a:lstStyle/>
          <a:p>
            <a:pPr algn="l" indent="0" marL="0">
              <a:buNone/>
            </a:pPr>
            <a:r>
              <a:rPr lang="en-US" sz="800" b="1" spc="110" kern="0" dirty="0">
                <a:solidFill>
                  <a:srgbClr val="2E6B4A"/>
                </a:solidFill>
                <a:latin typeface="Aptos" pitchFamily="34" charset="0"/>
                <a:ea typeface="Aptos" pitchFamily="34" charset="-122"/>
                <a:cs typeface="Aptos" pitchFamily="34" charset="-120"/>
              </a:rPr>
              <a:t>POOL COVERAGE</a:t>
            </a:r>
            <a:endParaRPr lang="en-US" sz="800" dirty="0"/>
          </a:p>
        </p:txBody>
      </p:sp>
      <p:sp>
        <p:nvSpPr>
          <p:cNvPr id="14" name="Text 12"/>
          <p:cNvSpPr/>
          <p:nvPr/>
        </p:nvSpPr>
        <p:spPr>
          <a:xfrm>
            <a:off x="832104" y="2423160"/>
            <a:ext cx="1664208" cy="219456"/>
          </a:xfrm>
          <a:prstGeom prst="rect">
            <a:avLst/>
          </a:prstGeom>
          <a:noFill/>
          <a:ln/>
        </p:spPr>
        <p:txBody>
          <a:bodyPr wrap="square" lIns="0" tIns="0" rIns="0" bIns="0" rtlCol="0" anchor="ctr">
            <a:normAutofit/>
          </a:bodyPr>
          <a:lstStyle/>
          <a:p>
            <a:pPr algn="l" indent="0" marL="0">
              <a:buNone/>
            </a:pPr>
            <a:r>
              <a:rPr lang="en-US" sz="970" b="1" dirty="0">
                <a:solidFill>
                  <a:srgbClr val="18221C"/>
                </a:solidFill>
                <a:latin typeface="Aptos" pitchFamily="34" charset="0"/>
                <a:ea typeface="Aptos" pitchFamily="34" charset="-122"/>
                <a:cs typeface="Aptos" pitchFamily="34" charset="-120"/>
              </a:rPr>
              <a:t>5+ years experience</a:t>
            </a:r>
            <a:endParaRPr lang="en-US" sz="970" dirty="0"/>
          </a:p>
        </p:txBody>
      </p:sp>
      <p:sp>
        <p:nvSpPr>
          <p:cNvPr id="15" name="Shape 13"/>
          <p:cNvSpPr/>
          <p:nvPr/>
        </p:nvSpPr>
        <p:spPr>
          <a:xfrm>
            <a:off x="2523744" y="2441448"/>
            <a:ext cx="1078992" cy="164592"/>
          </a:xfrm>
          <a:prstGeom prst="roundRect">
            <a:avLst>
              <a:gd name="adj" fmla="val 50000"/>
            </a:avLst>
          </a:prstGeom>
          <a:solidFill>
            <a:srgbClr val="DDE3DD"/>
          </a:solidFill>
          <a:ln w="12700">
            <a:solidFill>
              <a:srgbClr val="DDE3DD"/>
            </a:solidFill>
            <a:prstDash val="solid"/>
          </a:ln>
        </p:spPr>
      </p:sp>
      <p:sp>
        <p:nvSpPr>
          <p:cNvPr id="16" name="Shape 14"/>
          <p:cNvSpPr/>
          <p:nvPr/>
        </p:nvSpPr>
        <p:spPr>
          <a:xfrm>
            <a:off x="2523744" y="2441448"/>
            <a:ext cx="215798" cy="164592"/>
          </a:xfrm>
          <a:prstGeom prst="roundRect">
            <a:avLst>
              <a:gd name="adj" fmla="val 50000"/>
            </a:avLst>
          </a:prstGeom>
          <a:solidFill>
            <a:srgbClr val="B4443B"/>
          </a:solidFill>
          <a:ln w="12700">
            <a:solidFill>
              <a:srgbClr val="B4443B"/>
            </a:solidFill>
            <a:prstDash val="solid"/>
          </a:ln>
        </p:spPr>
      </p:sp>
      <p:sp>
        <p:nvSpPr>
          <p:cNvPr id="17" name="Text 15"/>
          <p:cNvSpPr/>
          <p:nvPr/>
        </p:nvSpPr>
        <p:spPr>
          <a:xfrm>
            <a:off x="3675888" y="2404872"/>
            <a:ext cx="393192" cy="228600"/>
          </a:xfrm>
          <a:prstGeom prst="rect">
            <a:avLst/>
          </a:prstGeom>
          <a:noFill/>
          <a:ln/>
        </p:spPr>
        <p:txBody>
          <a:bodyPr wrap="square" lIns="0" tIns="0" rIns="0" bIns="0" rtlCol="0" anchor="ctr">
            <a:normAutofit/>
          </a:bodyPr>
          <a:lstStyle/>
          <a:p>
            <a:pPr algn="r" indent="0" marL="0">
              <a:buNone/>
            </a:pPr>
            <a:r>
              <a:rPr lang="en-US" sz="900" b="1" dirty="0">
                <a:solidFill>
                  <a:srgbClr val="B4443B"/>
                </a:solidFill>
                <a:latin typeface="Aptos" pitchFamily="34" charset="0"/>
                <a:ea typeface="Aptos" pitchFamily="34" charset="-122"/>
                <a:cs typeface="Aptos" pitchFamily="34" charset="-120"/>
              </a:rPr>
              <a:t>2/10</a:t>
            </a:r>
            <a:endParaRPr lang="en-US" sz="900" dirty="0"/>
          </a:p>
        </p:txBody>
      </p:sp>
      <p:sp>
        <p:nvSpPr>
          <p:cNvPr id="18" name="Text 16"/>
          <p:cNvSpPr/>
          <p:nvPr/>
        </p:nvSpPr>
        <p:spPr>
          <a:xfrm>
            <a:off x="832104" y="3081528"/>
            <a:ext cx="1664208" cy="219456"/>
          </a:xfrm>
          <a:prstGeom prst="rect">
            <a:avLst/>
          </a:prstGeom>
          <a:noFill/>
          <a:ln/>
        </p:spPr>
        <p:txBody>
          <a:bodyPr wrap="square" lIns="0" tIns="0" rIns="0" bIns="0" rtlCol="0" anchor="ctr">
            <a:normAutofit/>
          </a:bodyPr>
          <a:lstStyle/>
          <a:p>
            <a:pPr algn="l" indent="0" marL="0">
              <a:buNone/>
            </a:pPr>
            <a:r>
              <a:rPr lang="en-US" sz="970" b="1" dirty="0">
                <a:solidFill>
                  <a:srgbClr val="18221C"/>
                </a:solidFill>
                <a:latin typeface="Aptos" pitchFamily="34" charset="0"/>
                <a:ea typeface="Aptos" pitchFamily="34" charset="-122"/>
                <a:cs typeface="Aptos" pitchFamily="34" charset="-120"/>
              </a:rPr>
              <a:t>Kubernetes</a:t>
            </a:r>
            <a:endParaRPr lang="en-US" sz="970" dirty="0"/>
          </a:p>
        </p:txBody>
      </p:sp>
      <p:sp>
        <p:nvSpPr>
          <p:cNvPr id="19" name="Shape 17"/>
          <p:cNvSpPr/>
          <p:nvPr/>
        </p:nvSpPr>
        <p:spPr>
          <a:xfrm>
            <a:off x="2523744" y="3099816"/>
            <a:ext cx="1078992" cy="164592"/>
          </a:xfrm>
          <a:prstGeom prst="roundRect">
            <a:avLst>
              <a:gd name="adj" fmla="val 50000"/>
            </a:avLst>
          </a:prstGeom>
          <a:solidFill>
            <a:srgbClr val="DDE3DD"/>
          </a:solidFill>
          <a:ln w="12700">
            <a:solidFill>
              <a:srgbClr val="DDE3DD"/>
            </a:solidFill>
            <a:prstDash val="solid"/>
          </a:ln>
        </p:spPr>
      </p:sp>
      <p:sp>
        <p:nvSpPr>
          <p:cNvPr id="20" name="Shape 18"/>
          <p:cNvSpPr/>
          <p:nvPr/>
        </p:nvSpPr>
        <p:spPr>
          <a:xfrm>
            <a:off x="2523744" y="3099816"/>
            <a:ext cx="431597" cy="164592"/>
          </a:xfrm>
          <a:prstGeom prst="roundRect">
            <a:avLst>
              <a:gd name="adj" fmla="val 50000"/>
            </a:avLst>
          </a:prstGeom>
          <a:solidFill>
            <a:srgbClr val="426B87"/>
          </a:solidFill>
          <a:ln w="12700">
            <a:solidFill>
              <a:srgbClr val="426B87"/>
            </a:solidFill>
            <a:prstDash val="solid"/>
          </a:ln>
        </p:spPr>
      </p:sp>
      <p:sp>
        <p:nvSpPr>
          <p:cNvPr id="21" name="Text 19"/>
          <p:cNvSpPr/>
          <p:nvPr/>
        </p:nvSpPr>
        <p:spPr>
          <a:xfrm>
            <a:off x="3675888" y="3063240"/>
            <a:ext cx="393192" cy="228600"/>
          </a:xfrm>
          <a:prstGeom prst="rect">
            <a:avLst/>
          </a:prstGeom>
          <a:noFill/>
          <a:ln/>
        </p:spPr>
        <p:txBody>
          <a:bodyPr wrap="square" lIns="0" tIns="0" rIns="0" bIns="0" rtlCol="0" anchor="ctr">
            <a:normAutofit/>
          </a:bodyPr>
          <a:lstStyle/>
          <a:p>
            <a:pPr algn="r" indent="0" marL="0">
              <a:buNone/>
            </a:pPr>
            <a:r>
              <a:rPr lang="en-US" sz="900" b="1" dirty="0">
                <a:solidFill>
                  <a:srgbClr val="426B87"/>
                </a:solidFill>
                <a:latin typeface="Aptos" pitchFamily="34" charset="0"/>
                <a:ea typeface="Aptos" pitchFamily="34" charset="-122"/>
                <a:cs typeface="Aptos" pitchFamily="34" charset="-120"/>
              </a:rPr>
              <a:t>4/10</a:t>
            </a:r>
            <a:endParaRPr lang="en-US" sz="900" dirty="0"/>
          </a:p>
        </p:txBody>
      </p:sp>
      <p:sp>
        <p:nvSpPr>
          <p:cNvPr id="22" name="Text 20"/>
          <p:cNvSpPr/>
          <p:nvPr/>
        </p:nvSpPr>
        <p:spPr>
          <a:xfrm>
            <a:off x="832104" y="3739896"/>
            <a:ext cx="1664208" cy="219456"/>
          </a:xfrm>
          <a:prstGeom prst="rect">
            <a:avLst/>
          </a:prstGeom>
          <a:noFill/>
          <a:ln/>
        </p:spPr>
        <p:txBody>
          <a:bodyPr wrap="square" lIns="0" tIns="0" rIns="0" bIns="0" rtlCol="0" anchor="ctr">
            <a:normAutofit/>
          </a:bodyPr>
          <a:lstStyle/>
          <a:p>
            <a:pPr algn="l" indent="0" marL="0">
              <a:buNone/>
            </a:pPr>
            <a:r>
              <a:rPr lang="en-US" sz="970" b="1" dirty="0">
                <a:solidFill>
                  <a:srgbClr val="18221C"/>
                </a:solidFill>
                <a:latin typeface="Aptos" pitchFamily="34" charset="0"/>
                <a:ea typeface="Aptos" pitchFamily="34" charset="-122"/>
                <a:cs typeface="Aptos" pitchFamily="34" charset="-120"/>
              </a:rPr>
              <a:t>AI / ML</a:t>
            </a:r>
            <a:endParaRPr lang="en-US" sz="970" dirty="0"/>
          </a:p>
        </p:txBody>
      </p:sp>
      <p:sp>
        <p:nvSpPr>
          <p:cNvPr id="23" name="Shape 21"/>
          <p:cNvSpPr/>
          <p:nvPr/>
        </p:nvSpPr>
        <p:spPr>
          <a:xfrm>
            <a:off x="2523744" y="3758184"/>
            <a:ext cx="1078992" cy="164592"/>
          </a:xfrm>
          <a:prstGeom prst="roundRect">
            <a:avLst>
              <a:gd name="adj" fmla="val 50000"/>
            </a:avLst>
          </a:prstGeom>
          <a:solidFill>
            <a:srgbClr val="DDE3DD"/>
          </a:solidFill>
          <a:ln w="12700">
            <a:solidFill>
              <a:srgbClr val="DDE3DD"/>
            </a:solidFill>
            <a:prstDash val="solid"/>
          </a:ln>
        </p:spPr>
      </p:sp>
      <p:sp>
        <p:nvSpPr>
          <p:cNvPr id="24" name="Shape 22"/>
          <p:cNvSpPr/>
          <p:nvPr/>
        </p:nvSpPr>
        <p:spPr>
          <a:xfrm>
            <a:off x="2523744" y="3758184"/>
            <a:ext cx="755294" cy="164592"/>
          </a:xfrm>
          <a:prstGeom prst="roundRect">
            <a:avLst>
              <a:gd name="adj" fmla="val 50000"/>
            </a:avLst>
          </a:prstGeom>
          <a:solidFill>
            <a:srgbClr val="2E6B4A"/>
          </a:solidFill>
          <a:ln w="12700">
            <a:solidFill>
              <a:srgbClr val="2E6B4A"/>
            </a:solidFill>
            <a:prstDash val="solid"/>
          </a:ln>
        </p:spPr>
      </p:sp>
      <p:sp>
        <p:nvSpPr>
          <p:cNvPr id="25" name="Text 23"/>
          <p:cNvSpPr/>
          <p:nvPr/>
        </p:nvSpPr>
        <p:spPr>
          <a:xfrm>
            <a:off x="3675888" y="3721608"/>
            <a:ext cx="393192" cy="228600"/>
          </a:xfrm>
          <a:prstGeom prst="rect">
            <a:avLst/>
          </a:prstGeom>
          <a:noFill/>
          <a:ln/>
        </p:spPr>
        <p:txBody>
          <a:bodyPr wrap="square" lIns="0" tIns="0" rIns="0" bIns="0" rtlCol="0" anchor="ctr">
            <a:normAutofit/>
          </a:bodyPr>
          <a:lstStyle/>
          <a:p>
            <a:pPr algn="r" indent="0" marL="0">
              <a:buNone/>
            </a:pPr>
            <a:r>
              <a:rPr lang="en-US" sz="900" b="1" dirty="0">
                <a:solidFill>
                  <a:srgbClr val="2E6B4A"/>
                </a:solidFill>
                <a:latin typeface="Aptos" pitchFamily="34" charset="0"/>
                <a:ea typeface="Aptos" pitchFamily="34" charset="-122"/>
                <a:cs typeface="Aptos" pitchFamily="34" charset="-120"/>
              </a:rPr>
              <a:t>7/10</a:t>
            </a:r>
            <a:endParaRPr lang="en-US" sz="900" dirty="0"/>
          </a:p>
        </p:txBody>
      </p:sp>
      <p:sp>
        <p:nvSpPr>
          <p:cNvPr id="26" name="Text 24"/>
          <p:cNvSpPr/>
          <p:nvPr/>
        </p:nvSpPr>
        <p:spPr>
          <a:xfrm>
            <a:off x="832104" y="4398264"/>
            <a:ext cx="1664208" cy="219456"/>
          </a:xfrm>
          <a:prstGeom prst="rect">
            <a:avLst/>
          </a:prstGeom>
          <a:noFill/>
          <a:ln/>
        </p:spPr>
        <p:txBody>
          <a:bodyPr wrap="square" lIns="0" tIns="0" rIns="0" bIns="0" rtlCol="0" anchor="ctr">
            <a:normAutofit/>
          </a:bodyPr>
          <a:lstStyle/>
          <a:p>
            <a:pPr algn="l" indent="0" marL="0">
              <a:buNone/>
            </a:pPr>
            <a:r>
              <a:rPr lang="en-US" sz="970" b="1" dirty="0">
                <a:solidFill>
                  <a:srgbClr val="18221C"/>
                </a:solidFill>
                <a:latin typeface="Aptos" pitchFamily="34" charset="0"/>
                <a:ea typeface="Aptos" pitchFamily="34" charset="-122"/>
                <a:cs typeface="Aptos" pitchFamily="34" charset="-120"/>
              </a:rPr>
              <a:t>Salary ≤ ₹8 LPA</a:t>
            </a:r>
            <a:endParaRPr lang="en-US" sz="970" dirty="0"/>
          </a:p>
        </p:txBody>
      </p:sp>
      <p:sp>
        <p:nvSpPr>
          <p:cNvPr id="27" name="Shape 25"/>
          <p:cNvSpPr/>
          <p:nvPr/>
        </p:nvSpPr>
        <p:spPr>
          <a:xfrm>
            <a:off x="2523744" y="4416552"/>
            <a:ext cx="1078992" cy="164592"/>
          </a:xfrm>
          <a:prstGeom prst="roundRect">
            <a:avLst>
              <a:gd name="adj" fmla="val 50000"/>
            </a:avLst>
          </a:prstGeom>
          <a:solidFill>
            <a:srgbClr val="DDE3DD"/>
          </a:solidFill>
          <a:ln w="12700">
            <a:solidFill>
              <a:srgbClr val="DDE3DD"/>
            </a:solidFill>
            <a:prstDash val="solid"/>
          </a:ln>
        </p:spPr>
      </p:sp>
      <p:sp>
        <p:nvSpPr>
          <p:cNvPr id="28" name="Shape 26"/>
          <p:cNvSpPr/>
          <p:nvPr/>
        </p:nvSpPr>
        <p:spPr>
          <a:xfrm>
            <a:off x="2523744" y="4416552"/>
            <a:ext cx="647395" cy="164592"/>
          </a:xfrm>
          <a:prstGeom prst="roundRect">
            <a:avLst>
              <a:gd name="adj" fmla="val 50000"/>
            </a:avLst>
          </a:prstGeom>
          <a:solidFill>
            <a:srgbClr val="B07B25"/>
          </a:solidFill>
          <a:ln w="12700">
            <a:solidFill>
              <a:srgbClr val="B07B25"/>
            </a:solidFill>
            <a:prstDash val="solid"/>
          </a:ln>
        </p:spPr>
      </p:sp>
      <p:sp>
        <p:nvSpPr>
          <p:cNvPr id="29" name="Text 27"/>
          <p:cNvSpPr/>
          <p:nvPr/>
        </p:nvSpPr>
        <p:spPr>
          <a:xfrm>
            <a:off x="3675888" y="4379976"/>
            <a:ext cx="393192" cy="228600"/>
          </a:xfrm>
          <a:prstGeom prst="rect">
            <a:avLst/>
          </a:prstGeom>
          <a:noFill/>
          <a:ln/>
        </p:spPr>
        <p:txBody>
          <a:bodyPr wrap="square" lIns="0" tIns="0" rIns="0" bIns="0" rtlCol="0" anchor="ctr">
            <a:normAutofit/>
          </a:bodyPr>
          <a:lstStyle/>
          <a:p>
            <a:pPr algn="r" indent="0" marL="0">
              <a:buNone/>
            </a:pPr>
            <a:r>
              <a:rPr lang="en-US" sz="900" b="1" dirty="0">
                <a:solidFill>
                  <a:srgbClr val="B07B25"/>
                </a:solidFill>
                <a:latin typeface="Aptos" pitchFamily="34" charset="0"/>
                <a:ea typeface="Aptos" pitchFamily="34" charset="-122"/>
                <a:cs typeface="Aptos" pitchFamily="34" charset="-120"/>
              </a:rPr>
              <a:t>6/10</a:t>
            </a:r>
            <a:endParaRPr lang="en-US" sz="900" dirty="0"/>
          </a:p>
        </p:txBody>
      </p:sp>
      <p:sp>
        <p:nvSpPr>
          <p:cNvPr id="30" name="Shape 28"/>
          <p:cNvSpPr/>
          <p:nvPr/>
        </p:nvSpPr>
        <p:spPr>
          <a:xfrm>
            <a:off x="832104" y="4956048"/>
            <a:ext cx="3255264" cy="438912"/>
          </a:xfrm>
          <a:prstGeom prst="roundRect">
            <a:avLst>
              <a:gd name="adj" fmla="val 25000"/>
            </a:avLst>
          </a:prstGeom>
          <a:solidFill>
            <a:srgbClr val="F9EAE8"/>
          </a:solidFill>
          <a:ln w="12700">
            <a:solidFill>
              <a:srgbClr val="F9EAE8"/>
            </a:solidFill>
            <a:prstDash val="solid"/>
          </a:ln>
        </p:spPr>
      </p:sp>
      <p:sp>
        <p:nvSpPr>
          <p:cNvPr id="31" name="Text 29"/>
          <p:cNvSpPr/>
          <p:nvPr/>
        </p:nvSpPr>
        <p:spPr>
          <a:xfrm>
            <a:off x="987552" y="5056632"/>
            <a:ext cx="2935224" cy="201168"/>
          </a:xfrm>
          <a:prstGeom prst="rect">
            <a:avLst/>
          </a:prstGeom>
          <a:noFill/>
          <a:ln/>
        </p:spPr>
        <p:txBody>
          <a:bodyPr wrap="square" lIns="0" tIns="0" rIns="0" bIns="0" rtlCol="0" anchor="ctr">
            <a:normAutofit/>
          </a:bodyPr>
          <a:lstStyle/>
          <a:p>
            <a:pPr algn="ctr" indent="0" marL="0">
              <a:buNone/>
            </a:pPr>
            <a:r>
              <a:rPr lang="en-US" sz="950" b="1" dirty="0">
                <a:solidFill>
                  <a:srgbClr val="B4443B"/>
                </a:solidFill>
                <a:latin typeface="Aptos" pitchFamily="34" charset="0"/>
                <a:ea typeface="Aptos" pitchFamily="34" charset="-122"/>
                <a:cs typeface="Aptos" pitchFamily="34" charset="-120"/>
              </a:rPr>
              <a:t>No candidate fully satisfies all required criteria.</a:t>
            </a:r>
            <a:endParaRPr lang="en-US" sz="950" dirty="0"/>
          </a:p>
        </p:txBody>
      </p:sp>
      <p:sp>
        <p:nvSpPr>
          <p:cNvPr id="32" name="Shape 30"/>
          <p:cNvSpPr/>
          <p:nvPr/>
        </p:nvSpPr>
        <p:spPr>
          <a:xfrm>
            <a:off x="4645152" y="1700784"/>
            <a:ext cx="6967728" cy="1078992"/>
          </a:xfrm>
          <a:prstGeom prst="roundRect">
            <a:avLst>
              <a:gd name="adj" fmla="val 10169"/>
            </a:avLst>
          </a:prstGeom>
          <a:solidFill>
            <a:srgbClr val="F8E7ED"/>
          </a:solidFill>
          <a:ln w="12700">
            <a:solidFill>
              <a:srgbClr val="DDE3DD"/>
            </a:solidFill>
            <a:prstDash val="solid"/>
          </a:ln>
        </p:spPr>
      </p:sp>
      <p:sp>
        <p:nvSpPr>
          <p:cNvPr id="33" name="Shape 31"/>
          <p:cNvSpPr/>
          <p:nvPr/>
        </p:nvSpPr>
        <p:spPr>
          <a:xfrm>
            <a:off x="4645152" y="1700784"/>
            <a:ext cx="64008" cy="1078992"/>
          </a:xfrm>
          <a:prstGeom prst="rect">
            <a:avLst/>
          </a:prstGeom>
          <a:solidFill>
            <a:srgbClr val="C12E60"/>
          </a:solidFill>
          <a:ln w="12700">
            <a:solidFill>
              <a:srgbClr val="C12E60"/>
            </a:solidFill>
            <a:prstDash val="solid"/>
          </a:ln>
        </p:spPr>
      </p:sp>
      <p:sp>
        <p:nvSpPr>
          <p:cNvPr id="34" name="Shape 32"/>
          <p:cNvSpPr/>
          <p:nvPr/>
        </p:nvSpPr>
        <p:spPr>
          <a:xfrm>
            <a:off x="4864608" y="1911096"/>
            <a:ext cx="384048" cy="384048"/>
          </a:xfrm>
          <a:prstGeom prst="ellipse">
            <a:avLst/>
          </a:prstGeom>
          <a:solidFill>
            <a:srgbClr val="C12E60"/>
          </a:solidFill>
          <a:ln w="12700">
            <a:solidFill>
              <a:srgbClr val="C12E60"/>
            </a:solidFill>
            <a:prstDash val="solid"/>
          </a:ln>
        </p:spPr>
      </p:sp>
      <p:sp>
        <p:nvSpPr>
          <p:cNvPr id="35" name="Text 33"/>
          <p:cNvSpPr/>
          <p:nvPr/>
        </p:nvSpPr>
        <p:spPr>
          <a:xfrm>
            <a:off x="4864608" y="1911096"/>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A</a:t>
            </a:r>
            <a:endParaRPr lang="en-US" sz="1100" dirty="0"/>
          </a:p>
        </p:txBody>
      </p:sp>
      <p:sp>
        <p:nvSpPr>
          <p:cNvPr id="36" name="Text 34"/>
          <p:cNvSpPr/>
          <p:nvPr/>
        </p:nvSpPr>
        <p:spPr>
          <a:xfrm>
            <a:off x="5376672" y="1865376"/>
            <a:ext cx="6053328" cy="201168"/>
          </a:xfrm>
          <a:prstGeom prst="rect">
            <a:avLst/>
          </a:prstGeom>
          <a:noFill/>
          <a:ln/>
        </p:spPr>
        <p:txBody>
          <a:bodyPr wrap="square" lIns="0" tIns="0" rIns="0" bIns="0" rtlCol="0" anchor="ctr">
            <a:normAutofit/>
          </a:bodyPr>
          <a:lstStyle/>
          <a:p>
            <a:pPr algn="l" indent="0" marL="0">
              <a:buNone/>
            </a:pPr>
            <a:r>
              <a:rPr lang="en-US" sz="750" b="1" spc="90" kern="0" dirty="0">
                <a:solidFill>
                  <a:srgbClr val="C12E60"/>
                </a:solidFill>
                <a:latin typeface="Aptos" pitchFamily="34" charset="0"/>
                <a:ea typeface="Aptos" pitchFamily="34" charset="-122"/>
                <a:cs typeface="Aptos" pitchFamily="34" charset="-120"/>
              </a:rPr>
              <a:t>CANDIDATE A</a:t>
            </a:r>
            <a:endParaRPr lang="en-US" sz="750" dirty="0"/>
          </a:p>
        </p:txBody>
      </p:sp>
      <p:sp>
        <p:nvSpPr>
          <p:cNvPr id="37" name="Text 35"/>
          <p:cNvSpPr/>
          <p:nvPr/>
        </p:nvSpPr>
        <p:spPr>
          <a:xfrm>
            <a:off x="5376672" y="2093976"/>
            <a:ext cx="6035040"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6 yrs • strong AI/ML</a:t>
            </a:r>
            <a:endParaRPr lang="en-US" sz="1500" dirty="0"/>
          </a:p>
        </p:txBody>
      </p:sp>
      <p:sp>
        <p:nvSpPr>
          <p:cNvPr id="38" name="Text 36"/>
          <p:cNvSpPr/>
          <p:nvPr/>
        </p:nvSpPr>
        <p:spPr>
          <a:xfrm>
            <a:off x="5376672" y="2523744"/>
            <a:ext cx="6016752" cy="9144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Trade-off: ₹11 LPA • no Kubernetes</a:t>
            </a:r>
            <a:endParaRPr lang="en-US" sz="1050" dirty="0"/>
          </a:p>
        </p:txBody>
      </p:sp>
      <p:sp>
        <p:nvSpPr>
          <p:cNvPr id="39" name="Shape 37"/>
          <p:cNvSpPr/>
          <p:nvPr/>
        </p:nvSpPr>
        <p:spPr>
          <a:xfrm>
            <a:off x="4645152" y="3008376"/>
            <a:ext cx="6967728" cy="1078992"/>
          </a:xfrm>
          <a:prstGeom prst="roundRect">
            <a:avLst>
              <a:gd name="adj" fmla="val 10169"/>
            </a:avLst>
          </a:prstGeom>
          <a:solidFill>
            <a:srgbClr val="EEF6F0"/>
          </a:solidFill>
          <a:ln w="12700">
            <a:solidFill>
              <a:srgbClr val="DDE3DD"/>
            </a:solidFill>
            <a:prstDash val="solid"/>
          </a:ln>
        </p:spPr>
      </p:sp>
      <p:sp>
        <p:nvSpPr>
          <p:cNvPr id="40" name="Shape 38"/>
          <p:cNvSpPr/>
          <p:nvPr/>
        </p:nvSpPr>
        <p:spPr>
          <a:xfrm>
            <a:off x="4645152" y="3008376"/>
            <a:ext cx="64008" cy="1078992"/>
          </a:xfrm>
          <a:prstGeom prst="rect">
            <a:avLst/>
          </a:prstGeom>
          <a:solidFill>
            <a:srgbClr val="2E6B4A"/>
          </a:solidFill>
          <a:ln w="12700">
            <a:solidFill>
              <a:srgbClr val="2E6B4A"/>
            </a:solidFill>
            <a:prstDash val="solid"/>
          </a:ln>
        </p:spPr>
      </p:sp>
      <p:sp>
        <p:nvSpPr>
          <p:cNvPr id="41" name="Shape 39"/>
          <p:cNvSpPr/>
          <p:nvPr/>
        </p:nvSpPr>
        <p:spPr>
          <a:xfrm>
            <a:off x="4864608" y="3218688"/>
            <a:ext cx="384048" cy="384048"/>
          </a:xfrm>
          <a:prstGeom prst="ellipse">
            <a:avLst/>
          </a:prstGeom>
          <a:solidFill>
            <a:srgbClr val="2E6B4A"/>
          </a:solidFill>
          <a:ln w="12700">
            <a:solidFill>
              <a:srgbClr val="2E6B4A"/>
            </a:solidFill>
            <a:prstDash val="solid"/>
          </a:ln>
        </p:spPr>
      </p:sp>
      <p:sp>
        <p:nvSpPr>
          <p:cNvPr id="42" name="Text 40"/>
          <p:cNvSpPr/>
          <p:nvPr/>
        </p:nvSpPr>
        <p:spPr>
          <a:xfrm>
            <a:off x="4864608" y="321868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B</a:t>
            </a:r>
            <a:endParaRPr lang="en-US" sz="1100" dirty="0"/>
          </a:p>
        </p:txBody>
      </p:sp>
      <p:sp>
        <p:nvSpPr>
          <p:cNvPr id="43" name="Text 41"/>
          <p:cNvSpPr/>
          <p:nvPr/>
        </p:nvSpPr>
        <p:spPr>
          <a:xfrm>
            <a:off x="5376672" y="3172968"/>
            <a:ext cx="6053328" cy="201168"/>
          </a:xfrm>
          <a:prstGeom prst="rect">
            <a:avLst/>
          </a:prstGeom>
          <a:noFill/>
          <a:ln/>
        </p:spPr>
        <p:txBody>
          <a:bodyPr wrap="square" lIns="0" tIns="0" rIns="0" bIns="0" rtlCol="0" anchor="ctr">
            <a:normAutofit/>
          </a:bodyPr>
          <a:lstStyle/>
          <a:p>
            <a:pPr algn="l" indent="0" marL="0">
              <a:buNone/>
            </a:pPr>
            <a:r>
              <a:rPr lang="en-US" sz="750" b="1" spc="90" kern="0" dirty="0">
                <a:solidFill>
                  <a:srgbClr val="2E6B4A"/>
                </a:solidFill>
                <a:latin typeface="Aptos" pitchFamily="34" charset="0"/>
                <a:ea typeface="Aptos" pitchFamily="34" charset="-122"/>
                <a:cs typeface="Aptos" pitchFamily="34" charset="-120"/>
              </a:rPr>
              <a:t>CANDIDATE B</a:t>
            </a:r>
            <a:endParaRPr lang="en-US" sz="750" dirty="0"/>
          </a:p>
        </p:txBody>
      </p:sp>
      <p:sp>
        <p:nvSpPr>
          <p:cNvPr id="44" name="Text 42"/>
          <p:cNvSpPr/>
          <p:nvPr/>
        </p:nvSpPr>
        <p:spPr>
          <a:xfrm>
            <a:off x="5376672" y="3401568"/>
            <a:ext cx="6035040"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AI/ML • Kubernetes • ₹7L</a:t>
            </a:r>
            <a:endParaRPr lang="en-US" sz="1500" dirty="0"/>
          </a:p>
        </p:txBody>
      </p:sp>
      <p:sp>
        <p:nvSpPr>
          <p:cNvPr id="45" name="Text 43"/>
          <p:cNvSpPr/>
          <p:nvPr/>
        </p:nvSpPr>
        <p:spPr>
          <a:xfrm>
            <a:off x="5376672" y="3831336"/>
            <a:ext cx="6016752" cy="9144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Trade-off: Only 2 years experience</a:t>
            </a:r>
            <a:endParaRPr lang="en-US" sz="1050" dirty="0"/>
          </a:p>
        </p:txBody>
      </p:sp>
      <p:sp>
        <p:nvSpPr>
          <p:cNvPr id="46" name="Shape 44"/>
          <p:cNvSpPr/>
          <p:nvPr/>
        </p:nvSpPr>
        <p:spPr>
          <a:xfrm>
            <a:off x="4645152" y="4315968"/>
            <a:ext cx="6967728" cy="1078992"/>
          </a:xfrm>
          <a:prstGeom prst="roundRect">
            <a:avLst>
              <a:gd name="adj" fmla="val 10169"/>
            </a:avLst>
          </a:prstGeom>
          <a:solidFill>
            <a:srgbClr val="EAF2F7"/>
          </a:solidFill>
          <a:ln w="12700">
            <a:solidFill>
              <a:srgbClr val="DDE3DD"/>
            </a:solidFill>
            <a:prstDash val="solid"/>
          </a:ln>
        </p:spPr>
      </p:sp>
      <p:sp>
        <p:nvSpPr>
          <p:cNvPr id="47" name="Shape 45"/>
          <p:cNvSpPr/>
          <p:nvPr/>
        </p:nvSpPr>
        <p:spPr>
          <a:xfrm>
            <a:off x="4645152" y="4315968"/>
            <a:ext cx="64008" cy="1078992"/>
          </a:xfrm>
          <a:prstGeom prst="rect">
            <a:avLst/>
          </a:prstGeom>
          <a:solidFill>
            <a:srgbClr val="426B87"/>
          </a:solidFill>
          <a:ln w="12700">
            <a:solidFill>
              <a:srgbClr val="426B87"/>
            </a:solidFill>
            <a:prstDash val="solid"/>
          </a:ln>
        </p:spPr>
      </p:sp>
      <p:sp>
        <p:nvSpPr>
          <p:cNvPr id="48" name="Shape 46"/>
          <p:cNvSpPr/>
          <p:nvPr/>
        </p:nvSpPr>
        <p:spPr>
          <a:xfrm>
            <a:off x="4864608" y="4526280"/>
            <a:ext cx="384048" cy="384048"/>
          </a:xfrm>
          <a:prstGeom prst="ellipse">
            <a:avLst/>
          </a:prstGeom>
          <a:solidFill>
            <a:srgbClr val="426B87"/>
          </a:solidFill>
          <a:ln w="12700">
            <a:solidFill>
              <a:srgbClr val="426B87"/>
            </a:solidFill>
            <a:prstDash val="solid"/>
          </a:ln>
        </p:spPr>
      </p:sp>
      <p:sp>
        <p:nvSpPr>
          <p:cNvPr id="49" name="Text 47"/>
          <p:cNvSpPr/>
          <p:nvPr/>
        </p:nvSpPr>
        <p:spPr>
          <a:xfrm>
            <a:off x="4864608" y="4526280"/>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C</a:t>
            </a:r>
            <a:endParaRPr lang="en-US" sz="1100" dirty="0"/>
          </a:p>
        </p:txBody>
      </p:sp>
      <p:sp>
        <p:nvSpPr>
          <p:cNvPr id="50" name="Text 48"/>
          <p:cNvSpPr/>
          <p:nvPr/>
        </p:nvSpPr>
        <p:spPr>
          <a:xfrm>
            <a:off x="5376672" y="4480560"/>
            <a:ext cx="6053328" cy="201168"/>
          </a:xfrm>
          <a:prstGeom prst="rect">
            <a:avLst/>
          </a:prstGeom>
          <a:noFill/>
          <a:ln/>
        </p:spPr>
        <p:txBody>
          <a:bodyPr wrap="square" lIns="0" tIns="0" rIns="0" bIns="0" rtlCol="0" anchor="ctr">
            <a:normAutofit/>
          </a:bodyPr>
          <a:lstStyle/>
          <a:p>
            <a:pPr algn="l" indent="0" marL="0">
              <a:buNone/>
            </a:pPr>
            <a:r>
              <a:rPr lang="en-US" sz="750" b="1" spc="90" kern="0" dirty="0">
                <a:solidFill>
                  <a:srgbClr val="426B87"/>
                </a:solidFill>
                <a:latin typeface="Aptos" pitchFamily="34" charset="0"/>
                <a:ea typeface="Aptos" pitchFamily="34" charset="-122"/>
                <a:cs typeface="Aptos" pitchFamily="34" charset="-120"/>
              </a:rPr>
              <a:t>CANDIDATE C</a:t>
            </a:r>
            <a:endParaRPr lang="en-US" sz="750" dirty="0"/>
          </a:p>
        </p:txBody>
      </p:sp>
      <p:sp>
        <p:nvSpPr>
          <p:cNvPr id="51" name="Text 49"/>
          <p:cNvSpPr/>
          <p:nvPr/>
        </p:nvSpPr>
        <p:spPr>
          <a:xfrm>
            <a:off x="5376672" y="4709160"/>
            <a:ext cx="6035040"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5 yrs • Kubernetes • ₹8L</a:t>
            </a:r>
            <a:endParaRPr lang="en-US" sz="1500" dirty="0"/>
          </a:p>
        </p:txBody>
      </p:sp>
      <p:sp>
        <p:nvSpPr>
          <p:cNvPr id="52" name="Text 50"/>
          <p:cNvSpPr/>
          <p:nvPr/>
        </p:nvSpPr>
        <p:spPr>
          <a:xfrm>
            <a:off x="5376672" y="5138928"/>
            <a:ext cx="6016752" cy="9144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Trade-off: AI/ML evidence is moderate</a:t>
            </a:r>
            <a:endParaRPr lang="en-US" sz="1050" dirty="0"/>
          </a:p>
        </p:txBody>
      </p:sp>
      <p:sp>
        <p:nvSpPr>
          <p:cNvPr id="53" name="Shape 51"/>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4" name="Shape 52"/>
          <p:cNvSpPr/>
          <p:nvPr/>
        </p:nvSpPr>
        <p:spPr>
          <a:xfrm>
            <a:off x="685800" y="6044184"/>
            <a:ext cx="164592" cy="164592"/>
          </a:xfrm>
          <a:prstGeom prst="ellipse">
            <a:avLst/>
          </a:prstGeom>
          <a:solidFill>
            <a:srgbClr val="CDEB8B"/>
          </a:solidFill>
          <a:ln w="12700">
            <a:solidFill>
              <a:srgbClr val="CDEB8B"/>
            </a:solidFill>
            <a:prstDash val="solid"/>
          </a:ln>
        </p:spPr>
      </p:sp>
      <p:sp>
        <p:nvSpPr>
          <p:cNvPr id="55" name="Text 53"/>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6" name="Text 54"/>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“We rank closeness for review, but we never convert an impossible requisition into a fake 100% match.”</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EVIDENCE TOOLS</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13</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GitHub and LinkedIn, with honest limits</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External signals corroborate; they never become an automatic background check.</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00784"/>
            <a:ext cx="5321808" cy="3474720"/>
          </a:xfrm>
          <a:prstGeom prst="roundRect">
            <a:avLst>
              <a:gd name="adj" fmla="val 3158"/>
            </a:avLst>
          </a:prstGeom>
          <a:solidFill>
            <a:srgbClr val="EAF2F7"/>
          </a:solidFill>
          <a:ln w="12700">
            <a:solidFill>
              <a:srgbClr val="DDE3DD"/>
            </a:solidFill>
            <a:prstDash val="solid"/>
          </a:ln>
        </p:spPr>
      </p:sp>
      <p:sp>
        <p:nvSpPr>
          <p:cNvPr id="13" name="Shape 11"/>
          <p:cNvSpPr/>
          <p:nvPr/>
        </p:nvSpPr>
        <p:spPr>
          <a:xfrm>
            <a:off x="566928" y="1700784"/>
            <a:ext cx="64008" cy="3474720"/>
          </a:xfrm>
          <a:prstGeom prst="rect">
            <a:avLst/>
          </a:prstGeom>
          <a:solidFill>
            <a:srgbClr val="426B87"/>
          </a:solidFill>
          <a:ln w="12700">
            <a:solidFill>
              <a:srgbClr val="426B87"/>
            </a:solidFill>
            <a:prstDash val="solid"/>
          </a:ln>
        </p:spPr>
      </p:sp>
      <p:sp>
        <p:nvSpPr>
          <p:cNvPr id="14" name="Shape 12"/>
          <p:cNvSpPr/>
          <p:nvPr/>
        </p:nvSpPr>
        <p:spPr>
          <a:xfrm>
            <a:off x="786384" y="1911096"/>
            <a:ext cx="384048" cy="384048"/>
          </a:xfrm>
          <a:prstGeom prst="ellipse">
            <a:avLst/>
          </a:prstGeom>
          <a:solidFill>
            <a:srgbClr val="426B87"/>
          </a:solidFill>
          <a:ln w="12700">
            <a:solidFill>
              <a:srgbClr val="426B87"/>
            </a:solidFill>
            <a:prstDash val="solid"/>
          </a:ln>
        </p:spPr>
      </p:sp>
      <p:sp>
        <p:nvSpPr>
          <p:cNvPr id="15" name="Text 13"/>
          <p:cNvSpPr/>
          <p:nvPr/>
        </p:nvSpPr>
        <p:spPr>
          <a:xfrm>
            <a:off x="786384" y="1911096"/>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GH</a:t>
            </a:r>
            <a:endParaRPr lang="en-US" sz="1100" dirty="0"/>
          </a:p>
        </p:txBody>
      </p:sp>
      <p:sp>
        <p:nvSpPr>
          <p:cNvPr id="16" name="Text 14"/>
          <p:cNvSpPr/>
          <p:nvPr/>
        </p:nvSpPr>
        <p:spPr>
          <a:xfrm>
            <a:off x="1298448" y="1865376"/>
            <a:ext cx="4407408" cy="201168"/>
          </a:xfrm>
          <a:prstGeom prst="rect">
            <a:avLst/>
          </a:prstGeom>
          <a:noFill/>
          <a:ln/>
        </p:spPr>
        <p:txBody>
          <a:bodyPr wrap="square" lIns="0" tIns="0" rIns="0" bIns="0" rtlCol="0" anchor="ctr">
            <a:normAutofit/>
          </a:bodyPr>
          <a:lstStyle/>
          <a:p>
            <a:pPr algn="l" indent="0" marL="0">
              <a:buNone/>
            </a:pPr>
            <a:r>
              <a:rPr lang="en-US" sz="750" b="1" spc="90" kern="0" dirty="0">
                <a:solidFill>
                  <a:srgbClr val="426B87"/>
                </a:solidFill>
                <a:latin typeface="Aptos" pitchFamily="34" charset="0"/>
                <a:ea typeface="Aptos" pitchFamily="34" charset="-122"/>
                <a:cs typeface="Aptos" pitchFamily="34" charset="-120"/>
              </a:rPr>
              <a:t>GITHUB PUBLIC API</a:t>
            </a:r>
            <a:endParaRPr lang="en-US" sz="750" dirty="0"/>
          </a:p>
        </p:txBody>
      </p:sp>
      <p:sp>
        <p:nvSpPr>
          <p:cNvPr id="17" name="Text 15"/>
          <p:cNvSpPr/>
          <p:nvPr/>
        </p:nvSpPr>
        <p:spPr>
          <a:xfrm>
            <a:off x="1298448" y="2093976"/>
            <a:ext cx="4389120"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Repository metadata for recruiter review</a:t>
            </a:r>
            <a:endParaRPr lang="en-US" sz="1500" dirty="0"/>
          </a:p>
        </p:txBody>
      </p:sp>
      <p:sp>
        <p:nvSpPr>
          <p:cNvPr id="18" name="Text 16"/>
          <p:cNvSpPr/>
          <p:nvPr/>
        </p:nvSpPr>
        <p:spPr>
          <a:xfrm>
            <a:off x="1298448" y="2523744"/>
            <a:ext cx="4370832" cy="2487168"/>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 Candidate-provided handle or recruiter-confirmed search result</a:t>
            </a: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 Public non-fork repository names, descriptions, languages and topics</a:t>
            </a: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 Observable activity window and criterion signals</a:t>
            </a: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 May raise one criterion by one step, capped at Supported</a:t>
            </a:r>
            <a:endParaRPr lang="en-US" sz="1050" dirty="0"/>
          </a:p>
          <a:p>
            <a:pPr algn="l" indent="0" marL="0">
              <a:buNone/>
            </a:pP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Does not prove identity, authorship, employment or proficiency.</a:t>
            </a:r>
            <a:endParaRPr lang="en-US" sz="1050" dirty="0"/>
          </a:p>
        </p:txBody>
      </p:sp>
      <p:sp>
        <p:nvSpPr>
          <p:cNvPr id="19" name="Shape 17"/>
          <p:cNvSpPr/>
          <p:nvPr/>
        </p:nvSpPr>
        <p:spPr>
          <a:xfrm>
            <a:off x="6153912" y="1700784"/>
            <a:ext cx="5468112" cy="3474720"/>
          </a:xfrm>
          <a:prstGeom prst="roundRect">
            <a:avLst>
              <a:gd name="adj" fmla="val 3158"/>
            </a:avLst>
          </a:prstGeom>
          <a:solidFill>
            <a:srgbClr val="F8E7ED"/>
          </a:solidFill>
          <a:ln w="12700">
            <a:solidFill>
              <a:srgbClr val="DDE3DD"/>
            </a:solidFill>
            <a:prstDash val="solid"/>
          </a:ln>
        </p:spPr>
      </p:sp>
      <p:sp>
        <p:nvSpPr>
          <p:cNvPr id="20" name="Shape 18"/>
          <p:cNvSpPr/>
          <p:nvPr/>
        </p:nvSpPr>
        <p:spPr>
          <a:xfrm>
            <a:off x="6153912" y="1700784"/>
            <a:ext cx="64008" cy="3474720"/>
          </a:xfrm>
          <a:prstGeom prst="rect">
            <a:avLst/>
          </a:prstGeom>
          <a:solidFill>
            <a:srgbClr val="C12E60"/>
          </a:solidFill>
          <a:ln w="12700">
            <a:solidFill>
              <a:srgbClr val="C12E60"/>
            </a:solidFill>
            <a:prstDash val="solid"/>
          </a:ln>
        </p:spPr>
      </p:sp>
      <p:sp>
        <p:nvSpPr>
          <p:cNvPr id="21" name="Shape 19"/>
          <p:cNvSpPr/>
          <p:nvPr/>
        </p:nvSpPr>
        <p:spPr>
          <a:xfrm>
            <a:off x="6373368" y="1911096"/>
            <a:ext cx="384048" cy="384048"/>
          </a:xfrm>
          <a:prstGeom prst="ellipse">
            <a:avLst/>
          </a:prstGeom>
          <a:solidFill>
            <a:srgbClr val="C12E60"/>
          </a:solidFill>
          <a:ln w="12700">
            <a:solidFill>
              <a:srgbClr val="C12E60"/>
            </a:solidFill>
            <a:prstDash val="solid"/>
          </a:ln>
        </p:spPr>
      </p:sp>
      <p:sp>
        <p:nvSpPr>
          <p:cNvPr id="22" name="Text 20"/>
          <p:cNvSpPr/>
          <p:nvPr/>
        </p:nvSpPr>
        <p:spPr>
          <a:xfrm>
            <a:off x="6373368" y="1911096"/>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LI</a:t>
            </a:r>
            <a:endParaRPr lang="en-US" sz="1100" dirty="0"/>
          </a:p>
        </p:txBody>
      </p:sp>
      <p:sp>
        <p:nvSpPr>
          <p:cNvPr id="23" name="Text 21"/>
          <p:cNvSpPr/>
          <p:nvPr/>
        </p:nvSpPr>
        <p:spPr>
          <a:xfrm>
            <a:off x="6885432" y="1865376"/>
            <a:ext cx="455371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C12E60"/>
                </a:solidFill>
                <a:latin typeface="Aptos" pitchFamily="34" charset="0"/>
                <a:ea typeface="Aptos" pitchFamily="34" charset="-122"/>
                <a:cs typeface="Aptos" pitchFamily="34" charset="-120"/>
              </a:rPr>
              <a:t>LINKEDIN CONSENT FLOW</a:t>
            </a:r>
            <a:endParaRPr lang="en-US" sz="750" dirty="0"/>
          </a:p>
        </p:txBody>
      </p:sp>
      <p:sp>
        <p:nvSpPr>
          <p:cNvPr id="24" name="Text 22"/>
          <p:cNvSpPr/>
          <p:nvPr/>
        </p:nvSpPr>
        <p:spPr>
          <a:xfrm>
            <a:off x="6885432" y="2093976"/>
            <a:ext cx="453542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Authorized evidence, never page scraping</a:t>
            </a:r>
            <a:endParaRPr lang="en-US" sz="1500" dirty="0"/>
          </a:p>
        </p:txBody>
      </p:sp>
      <p:sp>
        <p:nvSpPr>
          <p:cNvPr id="25" name="Text 23"/>
          <p:cNvSpPr/>
          <p:nvPr/>
        </p:nvSpPr>
        <p:spPr>
          <a:xfrm>
            <a:off x="6885432" y="2523744"/>
            <a:ext cx="4517136" cy="2487168"/>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 Standard OIDC can confirm basic identity with consent</a:t>
            </a: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 URL alone is not scraped</a:t>
            </a: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 Candidate-authorized export/text can be compared</a:t>
            </a: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 Advanced talent data requires LinkedIn approval</a:t>
            </a:r>
            <a:endParaRPr lang="en-US" sz="1050" dirty="0"/>
          </a:p>
          <a:p>
            <a:pPr algn="l" indent="0" marL="0">
              <a:buNone/>
            </a:pPr>
            <a:endParaRPr lang="en-US" sz="1050" dirty="0"/>
          </a:p>
          <a:p>
            <a:pPr algn="l" indent="0" marL="0">
              <a:buNone/>
            </a:pPr>
            <a:r>
              <a:rPr lang="en-US" sz="1050" dirty="0">
                <a:solidFill>
                  <a:srgbClr val="5D6A62"/>
                </a:solidFill>
                <a:latin typeface="Aptos" pitchFamily="34" charset="0"/>
                <a:ea typeface="Aptos" pitchFamily="34" charset="-122"/>
                <a:cs typeface="Aptos" pitchFamily="34" charset="-120"/>
              </a:rPr>
              <a:t>Does not claim that ordinary login provides complete employment or skills data.</a:t>
            </a:r>
            <a:endParaRPr lang="en-US" sz="1050" dirty="0"/>
          </a:p>
        </p:txBody>
      </p:sp>
      <p:sp>
        <p:nvSpPr>
          <p:cNvPr id="26" name="Shape 24"/>
          <p:cNvSpPr/>
          <p:nvPr/>
        </p:nvSpPr>
        <p:spPr>
          <a:xfrm>
            <a:off x="2029968" y="5330952"/>
            <a:ext cx="8119872" cy="347472"/>
          </a:xfrm>
          <a:prstGeom prst="roundRect">
            <a:avLst>
              <a:gd name="adj" fmla="val 31579"/>
            </a:avLst>
          </a:prstGeom>
          <a:solidFill>
            <a:srgbClr val="FFFFFF"/>
          </a:solidFill>
          <a:ln w="12700">
            <a:solidFill>
              <a:srgbClr val="DDE3DD"/>
            </a:solidFill>
            <a:prstDash val="solid"/>
          </a:ln>
        </p:spPr>
      </p:sp>
      <p:sp>
        <p:nvSpPr>
          <p:cNvPr id="27" name="Text 25"/>
          <p:cNvSpPr/>
          <p:nvPr/>
        </p:nvSpPr>
        <p:spPr>
          <a:xfrm>
            <a:off x="2212848" y="5385816"/>
            <a:ext cx="7754112" cy="182880"/>
          </a:xfrm>
          <a:prstGeom prst="rect">
            <a:avLst/>
          </a:prstGeom>
          <a:noFill/>
          <a:ln/>
        </p:spPr>
        <p:txBody>
          <a:bodyPr wrap="square" lIns="0" tIns="0" rIns="0" bIns="0" rtlCol="0" anchor="ctr">
            <a:normAutofit/>
          </a:bodyPr>
          <a:lstStyle/>
          <a:p>
            <a:pPr algn="ctr" indent="0" marL="0">
              <a:buNone/>
            </a:pPr>
            <a:r>
              <a:rPr lang="en-US" sz="950" b="1" dirty="0">
                <a:solidFill>
                  <a:srgbClr val="B4443B"/>
                </a:solidFill>
                <a:latin typeface="Aptos" pitchFamily="34" charset="0"/>
                <a:ea typeface="Aptos" pitchFamily="34" charset="-122"/>
                <a:cs typeface="Aptos" pitchFamily="34" charset="-120"/>
              </a:rPr>
              <a:t>External evidence never erases a contradiction and cannot create a Strong rating on its own.</a:t>
            </a:r>
            <a:endParaRPr lang="en-US" sz="950" dirty="0"/>
          </a:p>
        </p:txBody>
      </p:sp>
      <p:sp>
        <p:nvSpPr>
          <p:cNvPr id="28" name="Shape 26"/>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29" name="Shape 27"/>
          <p:cNvSpPr/>
          <p:nvPr/>
        </p:nvSpPr>
        <p:spPr>
          <a:xfrm>
            <a:off x="685800" y="6044184"/>
            <a:ext cx="164592" cy="164592"/>
          </a:xfrm>
          <a:prstGeom prst="ellipse">
            <a:avLst/>
          </a:prstGeom>
          <a:solidFill>
            <a:srgbClr val="CDEB8B"/>
          </a:solidFill>
          <a:ln w="12700">
            <a:solidFill>
              <a:srgbClr val="CDEB8B"/>
            </a:solidFill>
            <a:prstDash val="solid"/>
          </a:ln>
        </p:spPr>
      </p:sp>
      <p:sp>
        <p:nvSpPr>
          <p:cNvPr id="30" name="Text 28"/>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31" name="Text 29"/>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Avoid saying “LinkedIn verifies every skill.” Say: “We support consented evidence within LinkedIn’s approved access.”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EXPLAINABILITY</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14</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A shortlist without an opaque score</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Recruiters compare dimensions instead of trusting a single number.</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700784"/>
            <a:ext cx="11045952" cy="512064"/>
          </a:xfrm>
          <a:prstGeom prst="roundRect">
            <a:avLst>
              <a:gd name="adj" fmla="val 21429"/>
            </a:avLst>
          </a:prstGeom>
          <a:solidFill>
            <a:srgbClr val="18221C"/>
          </a:solidFill>
          <a:ln w="12700">
            <a:solidFill>
              <a:srgbClr val="18221C"/>
            </a:solidFill>
            <a:prstDash val="solid"/>
          </a:ln>
        </p:spPr>
      </p:sp>
      <p:sp>
        <p:nvSpPr>
          <p:cNvPr id="13" name="Text 11"/>
          <p:cNvSpPr/>
          <p:nvPr/>
        </p:nvSpPr>
        <p:spPr>
          <a:xfrm>
            <a:off x="585216" y="1847088"/>
            <a:ext cx="1600200" cy="201168"/>
          </a:xfrm>
          <a:prstGeom prst="rect">
            <a:avLst/>
          </a:prstGeom>
          <a:noFill/>
          <a:ln/>
        </p:spPr>
        <p:txBody>
          <a:bodyPr wrap="square" lIns="0" tIns="0" rIns="0" bIns="0" rtlCol="0" anchor="ctr">
            <a:normAutofit/>
          </a:bodyPr>
          <a:lstStyle/>
          <a:p>
            <a:pPr algn="l" indent="0" marL="0">
              <a:buNone/>
            </a:pPr>
            <a:r>
              <a:rPr lang="en-US" sz="750" b="1" spc="70" kern="0" dirty="0">
                <a:solidFill>
                  <a:srgbClr val="FFFFFF"/>
                </a:solidFill>
                <a:latin typeface="Aptos" pitchFamily="34" charset="0"/>
                <a:ea typeface="Aptos" pitchFamily="34" charset="-122"/>
                <a:cs typeface="Aptos" pitchFamily="34" charset="-120"/>
              </a:rPr>
              <a:t>CANDIDATE</a:t>
            </a:r>
            <a:endParaRPr lang="en-US" sz="750" dirty="0"/>
          </a:p>
        </p:txBody>
      </p:sp>
      <p:sp>
        <p:nvSpPr>
          <p:cNvPr id="14" name="Text 12"/>
          <p:cNvSpPr/>
          <p:nvPr/>
        </p:nvSpPr>
        <p:spPr>
          <a:xfrm>
            <a:off x="2331720" y="1847088"/>
            <a:ext cx="1060704" cy="201168"/>
          </a:xfrm>
          <a:prstGeom prst="rect">
            <a:avLst/>
          </a:prstGeom>
          <a:noFill/>
          <a:ln/>
        </p:spPr>
        <p:txBody>
          <a:bodyPr wrap="square" lIns="0" tIns="0" rIns="0" bIns="0" rtlCol="0" anchor="ctr">
            <a:normAutofit/>
          </a:bodyPr>
          <a:lstStyle/>
          <a:p>
            <a:pPr algn="l" indent="0" marL="0">
              <a:buNone/>
            </a:pPr>
            <a:r>
              <a:rPr lang="en-US" sz="750" b="1" spc="70" kern="0" dirty="0">
                <a:solidFill>
                  <a:srgbClr val="FFFFFF"/>
                </a:solidFill>
                <a:latin typeface="Aptos" pitchFamily="34" charset="0"/>
                <a:ea typeface="Aptos" pitchFamily="34" charset="-122"/>
                <a:cs typeface="Aptos" pitchFamily="34" charset="-120"/>
              </a:rPr>
              <a:t>REQUIRED</a:t>
            </a:r>
            <a:endParaRPr lang="en-US" sz="750" dirty="0"/>
          </a:p>
        </p:txBody>
      </p:sp>
      <p:sp>
        <p:nvSpPr>
          <p:cNvPr id="15" name="Text 13"/>
          <p:cNvSpPr/>
          <p:nvPr/>
        </p:nvSpPr>
        <p:spPr>
          <a:xfrm>
            <a:off x="3529584" y="1847088"/>
            <a:ext cx="1115568" cy="201168"/>
          </a:xfrm>
          <a:prstGeom prst="rect">
            <a:avLst/>
          </a:prstGeom>
          <a:noFill/>
          <a:ln/>
        </p:spPr>
        <p:txBody>
          <a:bodyPr wrap="square" lIns="0" tIns="0" rIns="0" bIns="0" rtlCol="0" anchor="ctr">
            <a:normAutofit/>
          </a:bodyPr>
          <a:lstStyle/>
          <a:p>
            <a:pPr algn="l" indent="0" marL="0">
              <a:buNone/>
            </a:pPr>
            <a:r>
              <a:rPr lang="en-US" sz="750" b="1" spc="70" kern="0" dirty="0">
                <a:solidFill>
                  <a:srgbClr val="FFFFFF"/>
                </a:solidFill>
                <a:latin typeface="Aptos" pitchFamily="34" charset="0"/>
                <a:ea typeface="Aptos" pitchFamily="34" charset="-122"/>
                <a:cs typeface="Aptos" pitchFamily="34" charset="-120"/>
              </a:rPr>
              <a:t>EVIDENCE</a:t>
            </a:r>
            <a:endParaRPr lang="en-US" sz="750" dirty="0"/>
          </a:p>
        </p:txBody>
      </p:sp>
      <p:sp>
        <p:nvSpPr>
          <p:cNvPr id="16" name="Text 14"/>
          <p:cNvSpPr/>
          <p:nvPr/>
        </p:nvSpPr>
        <p:spPr>
          <a:xfrm>
            <a:off x="4800600" y="1847088"/>
            <a:ext cx="1115568" cy="201168"/>
          </a:xfrm>
          <a:prstGeom prst="rect">
            <a:avLst/>
          </a:prstGeom>
          <a:noFill/>
          <a:ln/>
        </p:spPr>
        <p:txBody>
          <a:bodyPr wrap="square" lIns="0" tIns="0" rIns="0" bIns="0" rtlCol="0" anchor="ctr">
            <a:normAutofit/>
          </a:bodyPr>
          <a:lstStyle/>
          <a:p>
            <a:pPr algn="l" indent="0" marL="0">
              <a:buNone/>
            </a:pPr>
            <a:r>
              <a:rPr lang="en-US" sz="750" b="1" spc="70" kern="0" dirty="0">
                <a:solidFill>
                  <a:srgbClr val="FFFFFF"/>
                </a:solidFill>
                <a:latin typeface="Aptos" pitchFamily="34" charset="0"/>
                <a:ea typeface="Aptos" pitchFamily="34" charset="-122"/>
                <a:cs typeface="Aptos" pitchFamily="34" charset="-120"/>
              </a:rPr>
              <a:t>SALARY</a:t>
            </a:r>
            <a:endParaRPr lang="en-US" sz="750" dirty="0"/>
          </a:p>
        </p:txBody>
      </p:sp>
      <p:sp>
        <p:nvSpPr>
          <p:cNvPr id="17" name="Text 15"/>
          <p:cNvSpPr/>
          <p:nvPr/>
        </p:nvSpPr>
        <p:spPr>
          <a:xfrm>
            <a:off x="6080760" y="1847088"/>
            <a:ext cx="2395728" cy="201168"/>
          </a:xfrm>
          <a:prstGeom prst="rect">
            <a:avLst/>
          </a:prstGeom>
          <a:noFill/>
          <a:ln/>
        </p:spPr>
        <p:txBody>
          <a:bodyPr wrap="square" lIns="0" tIns="0" rIns="0" bIns="0" rtlCol="0" anchor="ctr">
            <a:normAutofit/>
          </a:bodyPr>
          <a:lstStyle/>
          <a:p>
            <a:pPr algn="l" indent="0" marL="0">
              <a:buNone/>
            </a:pPr>
            <a:r>
              <a:rPr lang="en-US" sz="750" b="1" spc="70" kern="0" dirty="0">
                <a:solidFill>
                  <a:srgbClr val="FFFFFF"/>
                </a:solidFill>
                <a:latin typeface="Aptos" pitchFamily="34" charset="0"/>
                <a:ea typeface="Aptos" pitchFamily="34" charset="-122"/>
                <a:cs typeface="Aptos" pitchFamily="34" charset="-120"/>
              </a:rPr>
              <a:t>STRENGTHS</a:t>
            </a:r>
            <a:endParaRPr lang="en-US" sz="750" dirty="0"/>
          </a:p>
        </p:txBody>
      </p:sp>
      <p:sp>
        <p:nvSpPr>
          <p:cNvPr id="18" name="Text 16"/>
          <p:cNvSpPr/>
          <p:nvPr/>
        </p:nvSpPr>
        <p:spPr>
          <a:xfrm>
            <a:off x="8622792" y="1847088"/>
            <a:ext cx="2432304" cy="201168"/>
          </a:xfrm>
          <a:prstGeom prst="rect">
            <a:avLst/>
          </a:prstGeom>
          <a:noFill/>
          <a:ln/>
        </p:spPr>
        <p:txBody>
          <a:bodyPr wrap="square" lIns="0" tIns="0" rIns="0" bIns="0" rtlCol="0" anchor="ctr">
            <a:normAutofit/>
          </a:bodyPr>
          <a:lstStyle/>
          <a:p>
            <a:pPr algn="l" indent="0" marL="0">
              <a:buNone/>
            </a:pPr>
            <a:r>
              <a:rPr lang="en-US" sz="750" b="1" spc="70" kern="0" dirty="0">
                <a:solidFill>
                  <a:srgbClr val="FFFFFF"/>
                </a:solidFill>
                <a:latin typeface="Aptos" pitchFamily="34" charset="0"/>
                <a:ea typeface="Aptos" pitchFamily="34" charset="-122"/>
                <a:cs typeface="Aptos" pitchFamily="34" charset="-120"/>
              </a:rPr>
              <a:t>TRADE-OFFS</a:t>
            </a:r>
            <a:endParaRPr lang="en-US" sz="750" dirty="0"/>
          </a:p>
        </p:txBody>
      </p:sp>
      <p:sp>
        <p:nvSpPr>
          <p:cNvPr id="19" name="Shape 17"/>
          <p:cNvSpPr/>
          <p:nvPr/>
        </p:nvSpPr>
        <p:spPr>
          <a:xfrm>
            <a:off x="566928" y="2295144"/>
            <a:ext cx="11045952" cy="640080"/>
          </a:xfrm>
          <a:prstGeom prst="rect">
            <a:avLst/>
          </a:prstGeom>
          <a:solidFill>
            <a:srgbClr val="FFFFFF"/>
          </a:solidFill>
          <a:ln w="6350">
            <a:solidFill>
              <a:srgbClr val="DDE3DD"/>
            </a:solidFill>
            <a:prstDash val="solid"/>
          </a:ln>
        </p:spPr>
      </p:sp>
      <p:sp>
        <p:nvSpPr>
          <p:cNvPr id="20" name="Text 18"/>
          <p:cNvSpPr/>
          <p:nvPr/>
        </p:nvSpPr>
        <p:spPr>
          <a:xfrm>
            <a:off x="585216" y="2414016"/>
            <a:ext cx="1600200" cy="356616"/>
          </a:xfrm>
          <a:prstGeom prst="rect">
            <a:avLst/>
          </a:prstGeom>
          <a:noFill/>
          <a:ln/>
        </p:spPr>
        <p:txBody>
          <a:bodyPr wrap="square" lIns="0" tIns="0" rIns="0" bIns="0" rtlCol="0" anchor="t">
            <a:normAutofit/>
          </a:bodyPr>
          <a:lstStyle/>
          <a:p>
            <a:pPr algn="l" indent="0" marL="0">
              <a:buNone/>
            </a:pPr>
            <a:r>
              <a:rPr lang="en-US" sz="1050" b="1" dirty="0">
                <a:solidFill>
                  <a:srgbClr val="18221C"/>
                </a:solidFill>
                <a:latin typeface="Aptos" pitchFamily="34" charset="0"/>
                <a:ea typeface="Aptos" pitchFamily="34" charset="-122"/>
                <a:cs typeface="Aptos" pitchFamily="34" charset="-120"/>
              </a:rPr>
              <a:t>Maya Rao</a:t>
            </a:r>
            <a:endParaRPr lang="en-US" sz="1050" dirty="0"/>
          </a:p>
        </p:txBody>
      </p:sp>
      <p:sp>
        <p:nvSpPr>
          <p:cNvPr id="21" name="Text 19"/>
          <p:cNvSpPr/>
          <p:nvPr/>
        </p:nvSpPr>
        <p:spPr>
          <a:xfrm>
            <a:off x="2331720" y="2414016"/>
            <a:ext cx="1060704" cy="35661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4/5</a:t>
            </a:r>
            <a:endParaRPr lang="en-US" sz="920" dirty="0"/>
          </a:p>
        </p:txBody>
      </p:sp>
      <p:sp>
        <p:nvSpPr>
          <p:cNvPr id="22" name="Text 20"/>
          <p:cNvSpPr/>
          <p:nvPr/>
        </p:nvSpPr>
        <p:spPr>
          <a:xfrm>
            <a:off x="3529584" y="2414016"/>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Strong</a:t>
            </a:r>
            <a:endParaRPr lang="en-US" sz="920" dirty="0"/>
          </a:p>
        </p:txBody>
      </p:sp>
      <p:sp>
        <p:nvSpPr>
          <p:cNvPr id="23" name="Text 21"/>
          <p:cNvSpPr/>
          <p:nvPr/>
        </p:nvSpPr>
        <p:spPr>
          <a:xfrm>
            <a:off x="4800600" y="2414016"/>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+₹1L</a:t>
            </a:r>
            <a:endParaRPr lang="en-US" sz="920" dirty="0"/>
          </a:p>
        </p:txBody>
      </p:sp>
      <p:sp>
        <p:nvSpPr>
          <p:cNvPr id="24" name="Text 22"/>
          <p:cNvSpPr/>
          <p:nvPr/>
        </p:nvSpPr>
        <p:spPr>
          <a:xfrm>
            <a:off x="6080760" y="2414016"/>
            <a:ext cx="2395728" cy="356616"/>
          </a:xfrm>
          <a:prstGeom prst="rect">
            <a:avLst/>
          </a:prstGeom>
          <a:noFill/>
          <a:ln/>
        </p:spPr>
        <p:txBody>
          <a:bodyPr wrap="square" lIns="0" tIns="0" rIns="0" bIns="0" rtlCol="0" anchor="t">
            <a:normAutofit/>
          </a:bodyPr>
          <a:lstStyle/>
          <a:p>
            <a:pPr algn="l" indent="0" marL="0">
              <a:buNone/>
            </a:pPr>
            <a:r>
              <a:rPr lang="en-US" sz="920" dirty="0">
                <a:solidFill>
                  <a:srgbClr val="2E6B4A"/>
                </a:solidFill>
                <a:latin typeface="Aptos" pitchFamily="34" charset="0"/>
                <a:ea typeface="Aptos" pitchFamily="34" charset="-122"/>
                <a:cs typeface="Aptos" pitchFamily="34" charset="-120"/>
              </a:rPr>
              <a:t>Backend • cloud • reliability</a:t>
            </a:r>
            <a:endParaRPr lang="en-US" sz="920" dirty="0"/>
          </a:p>
        </p:txBody>
      </p:sp>
      <p:sp>
        <p:nvSpPr>
          <p:cNvPr id="25" name="Text 23"/>
          <p:cNvSpPr/>
          <p:nvPr/>
        </p:nvSpPr>
        <p:spPr>
          <a:xfrm>
            <a:off x="8622792" y="2414016"/>
            <a:ext cx="2432304" cy="356616"/>
          </a:xfrm>
          <a:prstGeom prst="rect">
            <a:avLst/>
          </a:prstGeom>
          <a:noFill/>
          <a:ln/>
        </p:spPr>
        <p:txBody>
          <a:bodyPr wrap="square" lIns="0" tIns="0" rIns="0" bIns="0" rtlCol="0" anchor="t">
            <a:normAutofit/>
          </a:bodyPr>
          <a:lstStyle/>
          <a:p>
            <a:pPr algn="l" indent="0" marL="0">
              <a:buNone/>
            </a:pPr>
            <a:r>
              <a:rPr lang="en-US" sz="920" dirty="0">
                <a:solidFill>
                  <a:srgbClr val="B4443B"/>
                </a:solidFill>
                <a:latin typeface="Aptos" pitchFamily="34" charset="0"/>
                <a:ea typeface="Aptos" pitchFamily="34" charset="-122"/>
                <a:cs typeface="Aptos" pitchFamily="34" charset="-120"/>
              </a:rPr>
              <a:t>No multi-region ownership</a:t>
            </a:r>
            <a:endParaRPr lang="en-US" sz="920" dirty="0"/>
          </a:p>
        </p:txBody>
      </p:sp>
      <p:sp>
        <p:nvSpPr>
          <p:cNvPr id="26" name="Shape 24"/>
          <p:cNvSpPr/>
          <p:nvPr/>
        </p:nvSpPr>
        <p:spPr>
          <a:xfrm>
            <a:off x="566928" y="3008376"/>
            <a:ext cx="11045952" cy="640080"/>
          </a:xfrm>
          <a:prstGeom prst="rect">
            <a:avLst/>
          </a:prstGeom>
          <a:solidFill>
            <a:srgbClr val="F7F8F6"/>
          </a:solidFill>
          <a:ln w="6350">
            <a:solidFill>
              <a:srgbClr val="DDE3DD"/>
            </a:solidFill>
            <a:prstDash val="solid"/>
          </a:ln>
        </p:spPr>
      </p:sp>
      <p:sp>
        <p:nvSpPr>
          <p:cNvPr id="27" name="Text 25"/>
          <p:cNvSpPr/>
          <p:nvPr/>
        </p:nvSpPr>
        <p:spPr>
          <a:xfrm>
            <a:off x="585216" y="3127248"/>
            <a:ext cx="1600200" cy="356616"/>
          </a:xfrm>
          <a:prstGeom prst="rect">
            <a:avLst/>
          </a:prstGeom>
          <a:noFill/>
          <a:ln/>
        </p:spPr>
        <p:txBody>
          <a:bodyPr wrap="square" lIns="0" tIns="0" rIns="0" bIns="0" rtlCol="0" anchor="t">
            <a:normAutofit/>
          </a:bodyPr>
          <a:lstStyle/>
          <a:p>
            <a:pPr algn="l" indent="0" marL="0">
              <a:buNone/>
            </a:pPr>
            <a:r>
              <a:rPr lang="en-US" sz="1050" b="1" dirty="0">
                <a:solidFill>
                  <a:srgbClr val="18221C"/>
                </a:solidFill>
                <a:latin typeface="Aptos" pitchFamily="34" charset="0"/>
                <a:ea typeface="Aptos" pitchFamily="34" charset="-122"/>
                <a:cs typeface="Aptos" pitchFamily="34" charset="-120"/>
              </a:rPr>
              <a:t>Kabir Sen</a:t>
            </a:r>
            <a:endParaRPr lang="en-US" sz="1050" dirty="0"/>
          </a:p>
        </p:txBody>
      </p:sp>
      <p:sp>
        <p:nvSpPr>
          <p:cNvPr id="28" name="Text 26"/>
          <p:cNvSpPr/>
          <p:nvPr/>
        </p:nvSpPr>
        <p:spPr>
          <a:xfrm>
            <a:off x="2331720" y="3127248"/>
            <a:ext cx="1060704" cy="35661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4/5</a:t>
            </a:r>
            <a:endParaRPr lang="en-US" sz="920" dirty="0"/>
          </a:p>
        </p:txBody>
      </p:sp>
      <p:sp>
        <p:nvSpPr>
          <p:cNvPr id="29" name="Text 27"/>
          <p:cNvSpPr/>
          <p:nvPr/>
        </p:nvSpPr>
        <p:spPr>
          <a:xfrm>
            <a:off x="3529584" y="3127248"/>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Strong</a:t>
            </a:r>
            <a:endParaRPr lang="en-US" sz="920" dirty="0"/>
          </a:p>
        </p:txBody>
      </p:sp>
      <p:sp>
        <p:nvSpPr>
          <p:cNvPr id="30" name="Text 28"/>
          <p:cNvSpPr/>
          <p:nvPr/>
        </p:nvSpPr>
        <p:spPr>
          <a:xfrm>
            <a:off x="4800600" y="3127248"/>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+₹6L</a:t>
            </a:r>
            <a:endParaRPr lang="en-US" sz="920" dirty="0"/>
          </a:p>
        </p:txBody>
      </p:sp>
      <p:sp>
        <p:nvSpPr>
          <p:cNvPr id="31" name="Text 29"/>
          <p:cNvSpPr/>
          <p:nvPr/>
        </p:nvSpPr>
        <p:spPr>
          <a:xfrm>
            <a:off x="6080760" y="3127248"/>
            <a:ext cx="2395728" cy="356616"/>
          </a:xfrm>
          <a:prstGeom prst="rect">
            <a:avLst/>
          </a:prstGeom>
          <a:noFill/>
          <a:ln/>
        </p:spPr>
        <p:txBody>
          <a:bodyPr wrap="square" lIns="0" tIns="0" rIns="0" bIns="0" rtlCol="0" anchor="t">
            <a:normAutofit/>
          </a:bodyPr>
          <a:lstStyle/>
          <a:p>
            <a:pPr algn="l" indent="0" marL="0">
              <a:buNone/>
            </a:pPr>
            <a:r>
              <a:rPr lang="en-US" sz="920" dirty="0">
                <a:solidFill>
                  <a:srgbClr val="2E6B4A"/>
                </a:solidFill>
                <a:latin typeface="Aptos" pitchFamily="34" charset="0"/>
                <a:ea typeface="Aptos" pitchFamily="34" charset="-122"/>
                <a:cs typeface="Aptos" pitchFamily="34" charset="-120"/>
              </a:rPr>
              <a:t>Kubernetes • Terraform • tracing</a:t>
            </a:r>
            <a:endParaRPr lang="en-US" sz="920" dirty="0"/>
          </a:p>
        </p:txBody>
      </p:sp>
      <p:sp>
        <p:nvSpPr>
          <p:cNvPr id="32" name="Text 30"/>
          <p:cNvSpPr/>
          <p:nvPr/>
        </p:nvSpPr>
        <p:spPr>
          <a:xfrm>
            <a:off x="8622792" y="3127248"/>
            <a:ext cx="2432304" cy="356616"/>
          </a:xfrm>
          <a:prstGeom prst="rect">
            <a:avLst/>
          </a:prstGeom>
          <a:noFill/>
          <a:ln/>
        </p:spPr>
        <p:txBody>
          <a:bodyPr wrap="square" lIns="0" tIns="0" rIns="0" bIns="0" rtlCol="0" anchor="t">
            <a:normAutofit/>
          </a:bodyPr>
          <a:lstStyle/>
          <a:p>
            <a:pPr algn="l" indent="0" marL="0">
              <a:buNone/>
            </a:pPr>
            <a:r>
              <a:rPr lang="en-US" sz="920" dirty="0">
                <a:solidFill>
                  <a:srgbClr val="B4443B"/>
                </a:solidFill>
                <a:latin typeface="Aptos" pitchFamily="34" charset="0"/>
                <a:ea typeface="Aptos" pitchFamily="34" charset="-122"/>
                <a:cs typeface="Aptos" pitchFamily="34" charset="-120"/>
              </a:rPr>
              <a:t>Over level and salary</a:t>
            </a:r>
            <a:endParaRPr lang="en-US" sz="920" dirty="0"/>
          </a:p>
        </p:txBody>
      </p:sp>
      <p:sp>
        <p:nvSpPr>
          <p:cNvPr id="33" name="Shape 31"/>
          <p:cNvSpPr/>
          <p:nvPr/>
        </p:nvSpPr>
        <p:spPr>
          <a:xfrm>
            <a:off x="566928" y="3721608"/>
            <a:ext cx="11045952" cy="640080"/>
          </a:xfrm>
          <a:prstGeom prst="rect">
            <a:avLst/>
          </a:prstGeom>
          <a:solidFill>
            <a:srgbClr val="FFFFFF"/>
          </a:solidFill>
          <a:ln w="6350">
            <a:solidFill>
              <a:srgbClr val="DDE3DD"/>
            </a:solidFill>
            <a:prstDash val="solid"/>
          </a:ln>
        </p:spPr>
      </p:sp>
      <p:sp>
        <p:nvSpPr>
          <p:cNvPr id="34" name="Text 32"/>
          <p:cNvSpPr/>
          <p:nvPr/>
        </p:nvSpPr>
        <p:spPr>
          <a:xfrm>
            <a:off x="585216" y="3840480"/>
            <a:ext cx="1600200" cy="356616"/>
          </a:xfrm>
          <a:prstGeom prst="rect">
            <a:avLst/>
          </a:prstGeom>
          <a:noFill/>
          <a:ln/>
        </p:spPr>
        <p:txBody>
          <a:bodyPr wrap="square" lIns="0" tIns="0" rIns="0" bIns="0" rtlCol="0" anchor="t">
            <a:normAutofit/>
          </a:bodyPr>
          <a:lstStyle/>
          <a:p>
            <a:pPr algn="l" indent="0" marL="0">
              <a:buNone/>
            </a:pPr>
            <a:r>
              <a:rPr lang="en-US" sz="1050" b="1" dirty="0">
                <a:solidFill>
                  <a:srgbClr val="18221C"/>
                </a:solidFill>
                <a:latin typeface="Aptos" pitchFamily="34" charset="0"/>
                <a:ea typeface="Aptos" pitchFamily="34" charset="-122"/>
                <a:cs typeface="Aptos" pitchFamily="34" charset="-120"/>
              </a:rPr>
              <a:t>Noor Khan</a:t>
            </a:r>
            <a:endParaRPr lang="en-US" sz="1050" dirty="0"/>
          </a:p>
        </p:txBody>
      </p:sp>
      <p:sp>
        <p:nvSpPr>
          <p:cNvPr id="35" name="Text 33"/>
          <p:cNvSpPr/>
          <p:nvPr/>
        </p:nvSpPr>
        <p:spPr>
          <a:xfrm>
            <a:off x="2331720" y="3840480"/>
            <a:ext cx="1060704" cy="35661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3/5</a:t>
            </a:r>
            <a:endParaRPr lang="en-US" sz="920" dirty="0"/>
          </a:p>
        </p:txBody>
      </p:sp>
      <p:sp>
        <p:nvSpPr>
          <p:cNvPr id="36" name="Text 34"/>
          <p:cNvSpPr/>
          <p:nvPr/>
        </p:nvSpPr>
        <p:spPr>
          <a:xfrm>
            <a:off x="3529584" y="3840480"/>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Supported</a:t>
            </a:r>
            <a:endParaRPr lang="en-US" sz="920" dirty="0"/>
          </a:p>
        </p:txBody>
      </p:sp>
      <p:sp>
        <p:nvSpPr>
          <p:cNvPr id="37" name="Text 35"/>
          <p:cNvSpPr/>
          <p:nvPr/>
        </p:nvSpPr>
        <p:spPr>
          <a:xfrm>
            <a:off x="4800600" y="3840480"/>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At cap</a:t>
            </a:r>
            <a:endParaRPr lang="en-US" sz="920" dirty="0"/>
          </a:p>
        </p:txBody>
      </p:sp>
      <p:sp>
        <p:nvSpPr>
          <p:cNvPr id="38" name="Text 36"/>
          <p:cNvSpPr/>
          <p:nvPr/>
        </p:nvSpPr>
        <p:spPr>
          <a:xfrm>
            <a:off x="6080760" y="3840480"/>
            <a:ext cx="2395728" cy="356616"/>
          </a:xfrm>
          <a:prstGeom prst="rect">
            <a:avLst/>
          </a:prstGeom>
          <a:noFill/>
          <a:ln/>
        </p:spPr>
        <p:txBody>
          <a:bodyPr wrap="square" lIns="0" tIns="0" rIns="0" bIns="0" rtlCol="0" anchor="t">
            <a:normAutofit/>
          </a:bodyPr>
          <a:lstStyle/>
          <a:p>
            <a:pPr algn="l" indent="0" marL="0">
              <a:buNone/>
            </a:pPr>
            <a:r>
              <a:rPr lang="en-US" sz="920" dirty="0">
                <a:solidFill>
                  <a:srgbClr val="2E6B4A"/>
                </a:solidFill>
                <a:latin typeface="Aptos" pitchFamily="34" charset="0"/>
                <a:ea typeface="Aptos" pitchFamily="34" charset="-122"/>
                <a:cs typeface="Aptos" pitchFamily="34" charset="-120"/>
              </a:rPr>
              <a:t>Python • Pub/Sub • GCP</a:t>
            </a:r>
            <a:endParaRPr lang="en-US" sz="920" dirty="0"/>
          </a:p>
        </p:txBody>
      </p:sp>
      <p:sp>
        <p:nvSpPr>
          <p:cNvPr id="39" name="Text 37"/>
          <p:cNvSpPr/>
          <p:nvPr/>
        </p:nvSpPr>
        <p:spPr>
          <a:xfrm>
            <a:off x="8622792" y="3840480"/>
            <a:ext cx="2432304" cy="356616"/>
          </a:xfrm>
          <a:prstGeom prst="rect">
            <a:avLst/>
          </a:prstGeom>
          <a:noFill/>
          <a:ln/>
        </p:spPr>
        <p:txBody>
          <a:bodyPr wrap="square" lIns="0" tIns="0" rIns="0" bIns="0" rtlCol="0" anchor="t">
            <a:normAutofit/>
          </a:bodyPr>
          <a:lstStyle/>
          <a:p>
            <a:pPr algn="l" indent="0" marL="0">
              <a:buNone/>
            </a:pPr>
            <a:r>
              <a:rPr lang="en-US" sz="920" dirty="0">
                <a:solidFill>
                  <a:srgbClr val="B4443B"/>
                </a:solidFill>
                <a:latin typeface="Aptos" pitchFamily="34" charset="0"/>
                <a:ea typeface="Aptos" pitchFamily="34" charset="-122"/>
                <a:cs typeface="Aptos" pitchFamily="34" charset="-120"/>
              </a:rPr>
              <a:t>No production failover</a:t>
            </a:r>
            <a:endParaRPr lang="en-US" sz="920" dirty="0"/>
          </a:p>
        </p:txBody>
      </p:sp>
      <p:sp>
        <p:nvSpPr>
          <p:cNvPr id="40" name="Shape 38"/>
          <p:cNvSpPr/>
          <p:nvPr/>
        </p:nvSpPr>
        <p:spPr>
          <a:xfrm>
            <a:off x="566928" y="4434840"/>
            <a:ext cx="11045952" cy="640080"/>
          </a:xfrm>
          <a:prstGeom prst="rect">
            <a:avLst/>
          </a:prstGeom>
          <a:solidFill>
            <a:srgbClr val="F7F8F6"/>
          </a:solidFill>
          <a:ln w="6350">
            <a:solidFill>
              <a:srgbClr val="DDE3DD"/>
            </a:solidFill>
            <a:prstDash val="solid"/>
          </a:ln>
        </p:spPr>
      </p:sp>
      <p:sp>
        <p:nvSpPr>
          <p:cNvPr id="41" name="Text 39"/>
          <p:cNvSpPr/>
          <p:nvPr/>
        </p:nvSpPr>
        <p:spPr>
          <a:xfrm>
            <a:off x="585216" y="4553712"/>
            <a:ext cx="1600200" cy="356616"/>
          </a:xfrm>
          <a:prstGeom prst="rect">
            <a:avLst/>
          </a:prstGeom>
          <a:noFill/>
          <a:ln/>
        </p:spPr>
        <p:txBody>
          <a:bodyPr wrap="square" lIns="0" tIns="0" rIns="0" bIns="0" rtlCol="0" anchor="t">
            <a:normAutofit/>
          </a:bodyPr>
          <a:lstStyle/>
          <a:p>
            <a:pPr algn="l" indent="0" marL="0">
              <a:buNone/>
            </a:pPr>
            <a:r>
              <a:rPr lang="en-US" sz="1050" b="1" dirty="0">
                <a:solidFill>
                  <a:srgbClr val="18221C"/>
                </a:solidFill>
                <a:latin typeface="Aptos" pitchFamily="34" charset="0"/>
                <a:ea typeface="Aptos" pitchFamily="34" charset="-122"/>
                <a:cs typeface="Aptos" pitchFamily="34" charset="-120"/>
              </a:rPr>
              <a:t>Leena Thomas</a:t>
            </a:r>
            <a:endParaRPr lang="en-US" sz="1050" dirty="0"/>
          </a:p>
        </p:txBody>
      </p:sp>
      <p:sp>
        <p:nvSpPr>
          <p:cNvPr id="42" name="Text 40"/>
          <p:cNvSpPr/>
          <p:nvPr/>
        </p:nvSpPr>
        <p:spPr>
          <a:xfrm>
            <a:off x="2331720" y="4553712"/>
            <a:ext cx="1060704" cy="356616"/>
          </a:xfrm>
          <a:prstGeom prst="rect">
            <a:avLst/>
          </a:prstGeom>
          <a:noFill/>
          <a:ln/>
        </p:spPr>
        <p:txBody>
          <a:bodyPr wrap="square" lIns="0" tIns="0" rIns="0" bIns="0" rtlCol="0" anchor="t">
            <a:normAutofit/>
          </a:bodyPr>
          <a:lstStyle/>
          <a:p>
            <a:pPr algn="l" indent="0" marL="0">
              <a:buNone/>
            </a:pPr>
            <a:r>
              <a:rPr lang="en-US" sz="920" b="1" dirty="0">
                <a:solidFill>
                  <a:srgbClr val="18221C"/>
                </a:solidFill>
                <a:latin typeface="Aptos" pitchFamily="34" charset="0"/>
                <a:ea typeface="Aptos" pitchFamily="34" charset="-122"/>
                <a:cs typeface="Aptos" pitchFamily="34" charset="-120"/>
              </a:rPr>
              <a:t>2/5</a:t>
            </a:r>
            <a:endParaRPr lang="en-US" sz="920" dirty="0"/>
          </a:p>
        </p:txBody>
      </p:sp>
      <p:sp>
        <p:nvSpPr>
          <p:cNvPr id="43" name="Text 41"/>
          <p:cNvSpPr/>
          <p:nvPr/>
        </p:nvSpPr>
        <p:spPr>
          <a:xfrm>
            <a:off x="3529584" y="4553712"/>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Claim check</a:t>
            </a:r>
            <a:endParaRPr lang="en-US" sz="920" dirty="0"/>
          </a:p>
        </p:txBody>
      </p:sp>
      <p:sp>
        <p:nvSpPr>
          <p:cNvPr id="44" name="Text 42"/>
          <p:cNvSpPr/>
          <p:nvPr/>
        </p:nvSpPr>
        <p:spPr>
          <a:xfrm>
            <a:off x="4800600" y="4553712"/>
            <a:ext cx="1115568" cy="356616"/>
          </a:xfrm>
          <a:prstGeom prst="rect">
            <a:avLst/>
          </a:prstGeom>
          <a:noFill/>
          <a:ln/>
        </p:spPr>
        <p:txBody>
          <a:bodyPr wrap="square" lIns="0" tIns="0" rIns="0" bIns="0" rtlCol="0" anchor="t">
            <a:normAutofit/>
          </a:bodyPr>
          <a:lstStyle/>
          <a:p>
            <a:pPr algn="l" indent="0" marL="0">
              <a:buNone/>
            </a:pPr>
            <a:r>
              <a:rPr lang="en-US" sz="920" dirty="0">
                <a:solidFill>
                  <a:srgbClr val="18221C"/>
                </a:solidFill>
                <a:latin typeface="Aptos" pitchFamily="34" charset="0"/>
                <a:ea typeface="Aptos" pitchFamily="34" charset="-122"/>
                <a:cs typeface="Aptos" pitchFamily="34" charset="-120"/>
              </a:rPr>
              <a:t>Within</a:t>
            </a:r>
            <a:endParaRPr lang="en-US" sz="920" dirty="0"/>
          </a:p>
        </p:txBody>
      </p:sp>
      <p:sp>
        <p:nvSpPr>
          <p:cNvPr id="45" name="Text 43"/>
          <p:cNvSpPr/>
          <p:nvPr/>
        </p:nvSpPr>
        <p:spPr>
          <a:xfrm>
            <a:off x="6080760" y="4553712"/>
            <a:ext cx="2395728" cy="356616"/>
          </a:xfrm>
          <a:prstGeom prst="rect">
            <a:avLst/>
          </a:prstGeom>
          <a:noFill/>
          <a:ln/>
        </p:spPr>
        <p:txBody>
          <a:bodyPr wrap="square" lIns="0" tIns="0" rIns="0" bIns="0" rtlCol="0" anchor="t">
            <a:normAutofit/>
          </a:bodyPr>
          <a:lstStyle/>
          <a:p>
            <a:pPr algn="l" indent="0" marL="0">
              <a:buNone/>
            </a:pPr>
            <a:r>
              <a:rPr lang="en-US" sz="920" dirty="0">
                <a:solidFill>
                  <a:srgbClr val="2E6B4A"/>
                </a:solidFill>
                <a:latin typeface="Aptos" pitchFamily="34" charset="0"/>
                <a:ea typeface="Aptos" pitchFamily="34" charset="-122"/>
                <a:cs typeface="Aptos" pitchFamily="34" charset="-120"/>
              </a:rPr>
              <a:t>Python API • Sentry</a:t>
            </a:r>
            <a:endParaRPr lang="en-US" sz="920" dirty="0"/>
          </a:p>
        </p:txBody>
      </p:sp>
      <p:sp>
        <p:nvSpPr>
          <p:cNvPr id="46" name="Text 44"/>
          <p:cNvSpPr/>
          <p:nvPr/>
        </p:nvSpPr>
        <p:spPr>
          <a:xfrm>
            <a:off x="8622792" y="4553712"/>
            <a:ext cx="2432304" cy="356616"/>
          </a:xfrm>
          <a:prstGeom prst="rect">
            <a:avLst/>
          </a:prstGeom>
          <a:noFill/>
          <a:ln/>
        </p:spPr>
        <p:txBody>
          <a:bodyPr wrap="square" lIns="0" tIns="0" rIns="0" bIns="0" rtlCol="0" anchor="t">
            <a:normAutofit/>
          </a:bodyPr>
          <a:lstStyle/>
          <a:p>
            <a:pPr algn="l" indent="0" marL="0">
              <a:buNone/>
            </a:pPr>
            <a:r>
              <a:rPr lang="en-US" sz="920" dirty="0">
                <a:solidFill>
                  <a:srgbClr val="B4443B"/>
                </a:solidFill>
                <a:latin typeface="Aptos" pitchFamily="34" charset="0"/>
                <a:ea typeface="Aptos" pitchFamily="34" charset="-122"/>
                <a:cs typeface="Aptos" pitchFamily="34" charset="-120"/>
              </a:rPr>
              <a:t>Expert claim lacks evidence</a:t>
            </a:r>
            <a:endParaRPr lang="en-US" sz="920" dirty="0"/>
          </a:p>
        </p:txBody>
      </p:sp>
      <p:sp>
        <p:nvSpPr>
          <p:cNvPr id="47" name="Shape 45"/>
          <p:cNvSpPr/>
          <p:nvPr/>
        </p:nvSpPr>
        <p:spPr>
          <a:xfrm>
            <a:off x="1353312" y="5330952"/>
            <a:ext cx="9491472" cy="365760"/>
          </a:xfrm>
          <a:prstGeom prst="roundRect">
            <a:avLst>
              <a:gd name="adj" fmla="val 30000"/>
            </a:avLst>
          </a:prstGeom>
          <a:solidFill>
            <a:srgbClr val="EEF6F0"/>
          </a:solidFill>
          <a:ln w="12700">
            <a:solidFill>
              <a:srgbClr val="EEF6F0"/>
            </a:solidFill>
            <a:prstDash val="solid"/>
          </a:ln>
        </p:spPr>
      </p:sp>
      <p:sp>
        <p:nvSpPr>
          <p:cNvPr id="48" name="Text 46"/>
          <p:cNvSpPr/>
          <p:nvPr/>
        </p:nvSpPr>
        <p:spPr>
          <a:xfrm>
            <a:off x="1554480" y="5394960"/>
            <a:ext cx="9089136" cy="182880"/>
          </a:xfrm>
          <a:prstGeom prst="rect">
            <a:avLst/>
          </a:prstGeom>
          <a:noFill/>
          <a:ln/>
        </p:spPr>
        <p:txBody>
          <a:bodyPr wrap="square" lIns="0" tIns="0" rIns="0" bIns="0" rtlCol="0" anchor="ctr">
            <a:normAutofit/>
          </a:bodyPr>
          <a:lstStyle/>
          <a:p>
            <a:pPr algn="ctr" indent="0" marL="0">
              <a:buNone/>
            </a:pPr>
            <a:r>
              <a:rPr lang="en-US" sz="980" b="1" dirty="0">
                <a:solidFill>
                  <a:srgbClr val="1D5036"/>
                </a:solidFill>
                <a:latin typeface="Aptos" pitchFamily="34" charset="0"/>
                <a:ea typeface="Aptos" pitchFamily="34" charset="-122"/>
                <a:cs typeface="Aptos" pitchFamily="34" charset="-120"/>
              </a:rPr>
              <a:t>Ranking is navigation. The evidence cards, claim checks, and trade-offs are the actual decision support.</a:t>
            </a:r>
            <a:endParaRPr lang="en-US" sz="980" dirty="0"/>
          </a:p>
        </p:txBody>
      </p:sp>
      <p:sp>
        <p:nvSpPr>
          <p:cNvPr id="49" name="Shape 47"/>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0" name="Shape 48"/>
          <p:cNvSpPr/>
          <p:nvPr/>
        </p:nvSpPr>
        <p:spPr>
          <a:xfrm>
            <a:off x="685800" y="6044184"/>
            <a:ext cx="164592" cy="164592"/>
          </a:xfrm>
          <a:prstGeom prst="ellipse">
            <a:avLst/>
          </a:prstGeom>
          <a:solidFill>
            <a:srgbClr val="CDEB8B"/>
          </a:solidFill>
          <a:ln w="12700">
            <a:solidFill>
              <a:srgbClr val="CDEB8B"/>
            </a:solidFill>
            <a:prstDash val="solid"/>
          </a:ln>
        </p:spPr>
      </p:sp>
      <p:sp>
        <p:nvSpPr>
          <p:cNvPr id="51" name="Text 49"/>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2" name="Text 50"/>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When asked “who is best?”, answer with the role trade-off, not only the top row.</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TECHNICAL IMPLEMENTATION</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15</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API endpoints and where the logic lives</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Use this slide when faculty asks, “Show us the code.”</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682496"/>
            <a:ext cx="6492240" cy="3977640"/>
          </a:xfrm>
          <a:prstGeom prst="roundRect">
            <a:avLst>
              <a:gd name="adj" fmla="val 2759"/>
            </a:avLst>
          </a:prstGeom>
          <a:solidFill>
            <a:srgbClr val="FFFFFF"/>
          </a:solidFill>
          <a:ln w="12700">
            <a:solidFill>
              <a:srgbClr val="DDE3DD"/>
            </a:solidFill>
            <a:prstDash val="solid"/>
          </a:ln>
        </p:spPr>
      </p:sp>
      <p:sp>
        <p:nvSpPr>
          <p:cNvPr id="13" name="Text 11"/>
          <p:cNvSpPr/>
          <p:nvPr/>
        </p:nvSpPr>
        <p:spPr>
          <a:xfrm>
            <a:off x="841248" y="1920240"/>
            <a:ext cx="1097280" cy="201168"/>
          </a:xfrm>
          <a:prstGeom prst="rect">
            <a:avLst/>
          </a:prstGeom>
          <a:noFill/>
          <a:ln/>
        </p:spPr>
        <p:txBody>
          <a:bodyPr wrap="square" lIns="0" tIns="0" rIns="0" bIns="0" rtlCol="0" anchor="ctr">
            <a:normAutofit/>
          </a:bodyPr>
          <a:lstStyle/>
          <a:p>
            <a:pPr algn="l" indent="0" marL="0">
              <a:buNone/>
            </a:pPr>
            <a:r>
              <a:rPr lang="en-US" sz="800" b="1" spc="110" kern="0" dirty="0">
                <a:solidFill>
                  <a:srgbClr val="426B87"/>
                </a:solidFill>
                <a:latin typeface="Aptos" pitchFamily="34" charset="0"/>
                <a:ea typeface="Aptos" pitchFamily="34" charset="-122"/>
                <a:cs typeface="Aptos" pitchFamily="34" charset="-120"/>
              </a:rPr>
              <a:t>EXPRESS API</a:t>
            </a:r>
            <a:endParaRPr lang="en-US" sz="800" dirty="0"/>
          </a:p>
        </p:txBody>
      </p:sp>
      <p:sp>
        <p:nvSpPr>
          <p:cNvPr id="14" name="Shape 12"/>
          <p:cNvSpPr/>
          <p:nvPr/>
        </p:nvSpPr>
        <p:spPr>
          <a:xfrm>
            <a:off x="841248" y="2295144"/>
            <a:ext cx="530352" cy="310896"/>
          </a:xfrm>
          <a:prstGeom prst="roundRect">
            <a:avLst>
              <a:gd name="adj" fmla="val 50000"/>
            </a:avLst>
          </a:prstGeom>
          <a:solidFill>
            <a:srgbClr val="EEF6F0"/>
          </a:solidFill>
          <a:ln w="12700">
            <a:solidFill>
              <a:srgbClr val="EEF6F0"/>
            </a:solidFill>
            <a:prstDash val="solid"/>
          </a:ln>
        </p:spPr>
      </p:sp>
      <p:sp>
        <p:nvSpPr>
          <p:cNvPr id="15" name="Text 13"/>
          <p:cNvSpPr/>
          <p:nvPr/>
        </p:nvSpPr>
        <p:spPr>
          <a:xfrm>
            <a:off x="841248" y="229514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2E6B4A"/>
                </a:solidFill>
                <a:latin typeface="Aptos" pitchFamily="34" charset="0"/>
                <a:ea typeface="Aptos" pitchFamily="34" charset="-122"/>
                <a:cs typeface="Aptos" pitchFamily="34" charset="-120"/>
              </a:rPr>
              <a:t>GET</a:t>
            </a:r>
            <a:endParaRPr lang="en-US" sz="670" dirty="0"/>
          </a:p>
        </p:txBody>
      </p:sp>
      <p:sp>
        <p:nvSpPr>
          <p:cNvPr id="16" name="Text 14"/>
          <p:cNvSpPr/>
          <p:nvPr/>
        </p:nvSpPr>
        <p:spPr>
          <a:xfrm>
            <a:off x="1517904" y="228600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/api/health</a:t>
            </a:r>
            <a:endParaRPr lang="en-US" sz="840" dirty="0"/>
          </a:p>
        </p:txBody>
      </p:sp>
      <p:sp>
        <p:nvSpPr>
          <p:cNvPr id="17" name="Text 15"/>
          <p:cNvSpPr/>
          <p:nvPr/>
        </p:nvSpPr>
        <p:spPr>
          <a:xfrm>
            <a:off x="4553712" y="228600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Model capability status</a:t>
            </a:r>
            <a:endParaRPr lang="en-US" sz="880" dirty="0"/>
          </a:p>
        </p:txBody>
      </p:sp>
      <p:sp>
        <p:nvSpPr>
          <p:cNvPr id="18" name="Shape 16"/>
          <p:cNvSpPr/>
          <p:nvPr/>
        </p:nvSpPr>
        <p:spPr>
          <a:xfrm>
            <a:off x="841248" y="2706624"/>
            <a:ext cx="530352" cy="310896"/>
          </a:xfrm>
          <a:prstGeom prst="roundRect">
            <a:avLst>
              <a:gd name="adj" fmla="val 50000"/>
            </a:avLst>
          </a:prstGeom>
          <a:solidFill>
            <a:srgbClr val="EAF2F7"/>
          </a:solidFill>
          <a:ln w="12700">
            <a:solidFill>
              <a:srgbClr val="EAF2F7"/>
            </a:solidFill>
            <a:prstDash val="solid"/>
          </a:ln>
        </p:spPr>
      </p:sp>
      <p:sp>
        <p:nvSpPr>
          <p:cNvPr id="19" name="Text 17"/>
          <p:cNvSpPr/>
          <p:nvPr/>
        </p:nvSpPr>
        <p:spPr>
          <a:xfrm>
            <a:off x="841248" y="270662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426B87"/>
                </a:solidFill>
                <a:latin typeface="Aptos" pitchFamily="34" charset="0"/>
                <a:ea typeface="Aptos" pitchFamily="34" charset="-122"/>
                <a:cs typeface="Aptos" pitchFamily="34" charset="-120"/>
              </a:rPr>
              <a:t>POST</a:t>
            </a:r>
            <a:endParaRPr lang="en-US" sz="670" dirty="0"/>
          </a:p>
        </p:txBody>
      </p:sp>
      <p:sp>
        <p:nvSpPr>
          <p:cNvPr id="20" name="Text 18"/>
          <p:cNvSpPr/>
          <p:nvPr/>
        </p:nvSpPr>
        <p:spPr>
          <a:xfrm>
            <a:off x="1517904" y="269748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/api/agent/screen</a:t>
            </a:r>
            <a:endParaRPr lang="en-US" sz="840" dirty="0"/>
          </a:p>
        </p:txBody>
      </p:sp>
      <p:sp>
        <p:nvSpPr>
          <p:cNvPr id="21" name="Text 19"/>
          <p:cNvSpPr/>
          <p:nvPr/>
        </p:nvSpPr>
        <p:spPr>
          <a:xfrm>
            <a:off x="4553712" y="269748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Run evidence-first agent workflow</a:t>
            </a:r>
            <a:endParaRPr lang="en-US" sz="880" dirty="0"/>
          </a:p>
        </p:txBody>
      </p:sp>
      <p:sp>
        <p:nvSpPr>
          <p:cNvPr id="22" name="Shape 20"/>
          <p:cNvSpPr/>
          <p:nvPr/>
        </p:nvSpPr>
        <p:spPr>
          <a:xfrm>
            <a:off x="841248" y="3118104"/>
            <a:ext cx="530352" cy="310896"/>
          </a:xfrm>
          <a:prstGeom prst="roundRect">
            <a:avLst>
              <a:gd name="adj" fmla="val 50000"/>
            </a:avLst>
          </a:prstGeom>
          <a:solidFill>
            <a:srgbClr val="EAF2F7"/>
          </a:solidFill>
          <a:ln w="12700">
            <a:solidFill>
              <a:srgbClr val="EAF2F7"/>
            </a:solidFill>
            <a:prstDash val="solid"/>
          </a:ln>
        </p:spPr>
      </p:sp>
      <p:sp>
        <p:nvSpPr>
          <p:cNvPr id="23" name="Text 21"/>
          <p:cNvSpPr/>
          <p:nvPr/>
        </p:nvSpPr>
        <p:spPr>
          <a:xfrm>
            <a:off x="841248" y="311810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426B87"/>
                </a:solidFill>
                <a:latin typeface="Aptos" pitchFamily="34" charset="0"/>
                <a:ea typeface="Aptos" pitchFamily="34" charset="-122"/>
                <a:cs typeface="Aptos" pitchFamily="34" charset="-120"/>
              </a:rPr>
              <a:t>POST</a:t>
            </a:r>
            <a:endParaRPr lang="en-US" sz="670" dirty="0"/>
          </a:p>
        </p:txBody>
      </p:sp>
      <p:sp>
        <p:nvSpPr>
          <p:cNvPr id="24" name="Text 22"/>
          <p:cNvSpPr/>
          <p:nvPr/>
        </p:nvSpPr>
        <p:spPr>
          <a:xfrm>
            <a:off x="1517904" y="310896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/api/agent/requisition-intelligence</a:t>
            </a:r>
            <a:endParaRPr lang="en-US" sz="840" dirty="0"/>
          </a:p>
        </p:txBody>
      </p:sp>
      <p:sp>
        <p:nvSpPr>
          <p:cNvPr id="25" name="Text 23"/>
          <p:cNvSpPr/>
          <p:nvPr/>
        </p:nvSpPr>
        <p:spPr>
          <a:xfrm>
            <a:off x="4553712" y="310896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Generate criteria and terminology</a:t>
            </a:r>
            <a:endParaRPr lang="en-US" sz="880" dirty="0"/>
          </a:p>
        </p:txBody>
      </p:sp>
      <p:sp>
        <p:nvSpPr>
          <p:cNvPr id="26" name="Shape 24"/>
          <p:cNvSpPr/>
          <p:nvPr/>
        </p:nvSpPr>
        <p:spPr>
          <a:xfrm>
            <a:off x="841248" y="3529584"/>
            <a:ext cx="530352" cy="310896"/>
          </a:xfrm>
          <a:prstGeom prst="roundRect">
            <a:avLst>
              <a:gd name="adj" fmla="val 50000"/>
            </a:avLst>
          </a:prstGeom>
          <a:solidFill>
            <a:srgbClr val="EAF2F7"/>
          </a:solidFill>
          <a:ln w="12700">
            <a:solidFill>
              <a:srgbClr val="EAF2F7"/>
            </a:solidFill>
            <a:prstDash val="solid"/>
          </a:ln>
        </p:spPr>
      </p:sp>
      <p:sp>
        <p:nvSpPr>
          <p:cNvPr id="27" name="Text 25"/>
          <p:cNvSpPr/>
          <p:nvPr/>
        </p:nvSpPr>
        <p:spPr>
          <a:xfrm>
            <a:off x="841248" y="352958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426B87"/>
                </a:solidFill>
                <a:latin typeface="Aptos" pitchFamily="34" charset="0"/>
                <a:ea typeface="Aptos" pitchFamily="34" charset="-122"/>
                <a:cs typeface="Aptos" pitchFamily="34" charset="-120"/>
              </a:rPr>
              <a:t>POST</a:t>
            </a:r>
            <a:endParaRPr lang="en-US" sz="670" dirty="0"/>
          </a:p>
        </p:txBody>
      </p:sp>
      <p:sp>
        <p:nvSpPr>
          <p:cNvPr id="28" name="Text 26"/>
          <p:cNvSpPr/>
          <p:nvPr/>
        </p:nvSpPr>
        <p:spPr>
          <a:xfrm>
            <a:off x="1517904" y="352044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/api/verify/github</a:t>
            </a:r>
            <a:endParaRPr lang="en-US" sz="840" dirty="0"/>
          </a:p>
        </p:txBody>
      </p:sp>
      <p:sp>
        <p:nvSpPr>
          <p:cNvPr id="29" name="Text 27"/>
          <p:cNvSpPr/>
          <p:nvPr/>
        </p:nvSpPr>
        <p:spPr>
          <a:xfrm>
            <a:off x="4553712" y="352044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Read public repository metadata</a:t>
            </a:r>
            <a:endParaRPr lang="en-US" sz="880" dirty="0"/>
          </a:p>
        </p:txBody>
      </p:sp>
      <p:sp>
        <p:nvSpPr>
          <p:cNvPr id="30" name="Shape 28"/>
          <p:cNvSpPr/>
          <p:nvPr/>
        </p:nvSpPr>
        <p:spPr>
          <a:xfrm>
            <a:off x="841248" y="3941064"/>
            <a:ext cx="530352" cy="310896"/>
          </a:xfrm>
          <a:prstGeom prst="roundRect">
            <a:avLst>
              <a:gd name="adj" fmla="val 50000"/>
            </a:avLst>
          </a:prstGeom>
          <a:solidFill>
            <a:srgbClr val="EAF2F7"/>
          </a:solidFill>
          <a:ln w="12700">
            <a:solidFill>
              <a:srgbClr val="EAF2F7"/>
            </a:solidFill>
            <a:prstDash val="solid"/>
          </a:ln>
        </p:spPr>
      </p:sp>
      <p:sp>
        <p:nvSpPr>
          <p:cNvPr id="31" name="Text 29"/>
          <p:cNvSpPr/>
          <p:nvPr/>
        </p:nvSpPr>
        <p:spPr>
          <a:xfrm>
            <a:off x="841248" y="394106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426B87"/>
                </a:solidFill>
                <a:latin typeface="Aptos" pitchFamily="34" charset="0"/>
                <a:ea typeface="Aptos" pitchFamily="34" charset="-122"/>
                <a:cs typeface="Aptos" pitchFamily="34" charset="-120"/>
              </a:rPr>
              <a:t>POST</a:t>
            </a:r>
            <a:endParaRPr lang="en-US" sz="670" dirty="0"/>
          </a:p>
        </p:txBody>
      </p:sp>
      <p:sp>
        <p:nvSpPr>
          <p:cNvPr id="32" name="Text 30"/>
          <p:cNvSpPr/>
          <p:nvPr/>
        </p:nvSpPr>
        <p:spPr>
          <a:xfrm>
            <a:off x="1517904" y="393192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/api/verify/github/search</a:t>
            </a:r>
            <a:endParaRPr lang="en-US" sz="840" dirty="0"/>
          </a:p>
        </p:txBody>
      </p:sp>
      <p:sp>
        <p:nvSpPr>
          <p:cNvPr id="33" name="Text 31"/>
          <p:cNvSpPr/>
          <p:nvPr/>
        </p:nvSpPr>
        <p:spPr>
          <a:xfrm>
            <a:off x="4553712" y="393192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Find candidate profiles for review</a:t>
            </a:r>
            <a:endParaRPr lang="en-US" sz="880" dirty="0"/>
          </a:p>
        </p:txBody>
      </p:sp>
      <p:sp>
        <p:nvSpPr>
          <p:cNvPr id="34" name="Shape 32"/>
          <p:cNvSpPr/>
          <p:nvPr/>
        </p:nvSpPr>
        <p:spPr>
          <a:xfrm>
            <a:off x="841248" y="4352544"/>
            <a:ext cx="530352" cy="310896"/>
          </a:xfrm>
          <a:prstGeom prst="roundRect">
            <a:avLst>
              <a:gd name="adj" fmla="val 50000"/>
            </a:avLst>
          </a:prstGeom>
          <a:solidFill>
            <a:srgbClr val="EAF2F7"/>
          </a:solidFill>
          <a:ln w="12700">
            <a:solidFill>
              <a:srgbClr val="EAF2F7"/>
            </a:solidFill>
            <a:prstDash val="solid"/>
          </a:ln>
        </p:spPr>
      </p:sp>
      <p:sp>
        <p:nvSpPr>
          <p:cNvPr id="35" name="Text 33"/>
          <p:cNvSpPr/>
          <p:nvPr/>
        </p:nvSpPr>
        <p:spPr>
          <a:xfrm>
            <a:off x="841248" y="435254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426B87"/>
                </a:solidFill>
                <a:latin typeface="Aptos" pitchFamily="34" charset="0"/>
                <a:ea typeface="Aptos" pitchFamily="34" charset="-122"/>
                <a:cs typeface="Aptos" pitchFamily="34" charset="-120"/>
              </a:rPr>
              <a:t>POST</a:t>
            </a:r>
            <a:endParaRPr lang="en-US" sz="670" dirty="0"/>
          </a:p>
        </p:txBody>
      </p:sp>
      <p:sp>
        <p:nvSpPr>
          <p:cNvPr id="36" name="Text 34"/>
          <p:cNvSpPr/>
          <p:nvPr/>
        </p:nvSpPr>
        <p:spPr>
          <a:xfrm>
            <a:off x="1517904" y="434340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/api/verify/linkedin</a:t>
            </a:r>
            <a:endParaRPr lang="en-US" sz="840" dirty="0"/>
          </a:p>
        </p:txBody>
      </p:sp>
      <p:sp>
        <p:nvSpPr>
          <p:cNvPr id="37" name="Text 35"/>
          <p:cNvSpPr/>
          <p:nvPr/>
        </p:nvSpPr>
        <p:spPr>
          <a:xfrm>
            <a:off x="4553712" y="434340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Compare authorized LinkedIn text</a:t>
            </a:r>
            <a:endParaRPr lang="en-US" sz="880" dirty="0"/>
          </a:p>
        </p:txBody>
      </p:sp>
      <p:sp>
        <p:nvSpPr>
          <p:cNvPr id="38" name="Shape 36"/>
          <p:cNvSpPr/>
          <p:nvPr/>
        </p:nvSpPr>
        <p:spPr>
          <a:xfrm>
            <a:off x="841248" y="4764024"/>
            <a:ext cx="530352" cy="310896"/>
          </a:xfrm>
          <a:prstGeom prst="roundRect">
            <a:avLst>
              <a:gd name="adj" fmla="val 50000"/>
            </a:avLst>
          </a:prstGeom>
          <a:solidFill>
            <a:srgbClr val="EEF6F0"/>
          </a:solidFill>
          <a:ln w="12700">
            <a:solidFill>
              <a:srgbClr val="EEF6F0"/>
            </a:solidFill>
            <a:prstDash val="solid"/>
          </a:ln>
        </p:spPr>
      </p:sp>
      <p:sp>
        <p:nvSpPr>
          <p:cNvPr id="39" name="Text 37"/>
          <p:cNvSpPr/>
          <p:nvPr/>
        </p:nvSpPr>
        <p:spPr>
          <a:xfrm>
            <a:off x="841248" y="4764024"/>
            <a:ext cx="530352" cy="310896"/>
          </a:xfrm>
          <a:prstGeom prst="rect">
            <a:avLst/>
          </a:prstGeom>
          <a:noFill/>
          <a:ln/>
        </p:spPr>
        <p:txBody>
          <a:bodyPr wrap="square" lIns="0" tIns="0" rIns="0" bIns="0" rtlCol="0" anchor="ctr">
            <a:normAutofit/>
          </a:bodyPr>
          <a:lstStyle/>
          <a:p>
            <a:pPr algn="ctr" indent="0" marL="0">
              <a:buNone/>
            </a:pPr>
            <a:r>
              <a:rPr lang="en-US" sz="670" b="1" spc="120" kern="0" dirty="0">
                <a:solidFill>
                  <a:srgbClr val="2E6B4A"/>
                </a:solidFill>
                <a:latin typeface="Aptos" pitchFamily="34" charset="0"/>
                <a:ea typeface="Aptos" pitchFamily="34" charset="-122"/>
                <a:cs typeface="Aptos" pitchFamily="34" charset="-120"/>
              </a:rPr>
              <a:t>GET</a:t>
            </a:r>
            <a:endParaRPr lang="en-US" sz="670" dirty="0"/>
          </a:p>
        </p:txBody>
      </p:sp>
      <p:sp>
        <p:nvSpPr>
          <p:cNvPr id="40" name="Text 38"/>
          <p:cNvSpPr/>
          <p:nvPr/>
        </p:nvSpPr>
        <p:spPr>
          <a:xfrm>
            <a:off x="1517904" y="4754880"/>
            <a:ext cx="2980944" cy="256032"/>
          </a:xfrm>
          <a:prstGeom prst="rect">
            <a:avLst/>
          </a:prstGeom>
          <a:noFill/>
          <a:ln/>
        </p:spPr>
        <p:txBody>
          <a:bodyPr wrap="square" lIns="0" tIns="0" rIns="0" bIns="0" rtlCol="0" anchor="ctr">
            <a:normAutofit/>
          </a:bodyPr>
          <a:lstStyle/>
          <a:p>
            <a:pPr algn="l" indent="0" marL="0">
              <a:buNone/>
            </a:pPr>
            <a:r>
              <a:rPr lang="en-US" sz="840" b="1" dirty="0">
                <a:solidFill>
                  <a:srgbClr val="18221C"/>
                </a:solidFill>
                <a:latin typeface="Menlo" pitchFamily="34" charset="0"/>
                <a:ea typeface="Menlo" pitchFamily="34" charset="-122"/>
                <a:cs typeface="Menlo" pitchFamily="34" charset="-120"/>
              </a:rPr>
              <a:t>/api/auth/linkedin/*</a:t>
            </a:r>
            <a:endParaRPr lang="en-US" sz="840" dirty="0"/>
          </a:p>
        </p:txBody>
      </p:sp>
      <p:sp>
        <p:nvSpPr>
          <p:cNvPr id="41" name="Text 39"/>
          <p:cNvSpPr/>
          <p:nvPr/>
        </p:nvSpPr>
        <p:spPr>
          <a:xfrm>
            <a:off x="4553712" y="4754880"/>
            <a:ext cx="2157984" cy="265176"/>
          </a:xfrm>
          <a:prstGeom prst="rect">
            <a:avLst/>
          </a:prstGeom>
          <a:noFill/>
          <a:ln/>
        </p:spPr>
        <p:txBody>
          <a:bodyPr wrap="square" lIns="0" tIns="0" rIns="0" bIns="0" rtlCol="0" anchor="ctr">
            <a:normAutofit/>
          </a:bodyPr>
          <a:lstStyle/>
          <a:p>
            <a:pPr algn="l" indent="0" marL="0">
              <a:buNone/>
            </a:pPr>
            <a:r>
              <a:rPr lang="en-US" sz="880" dirty="0">
                <a:solidFill>
                  <a:srgbClr val="5D6A62"/>
                </a:solidFill>
                <a:latin typeface="Aptos" pitchFamily="34" charset="0"/>
                <a:ea typeface="Aptos" pitchFamily="34" charset="-122"/>
                <a:cs typeface="Aptos" pitchFamily="34" charset="-120"/>
              </a:rPr>
              <a:t>Consent-based OIDC flow</a:t>
            </a:r>
            <a:endParaRPr lang="en-US" sz="880" dirty="0"/>
          </a:p>
        </p:txBody>
      </p:sp>
      <p:sp>
        <p:nvSpPr>
          <p:cNvPr id="42" name="Shape 40"/>
          <p:cNvSpPr/>
          <p:nvPr/>
        </p:nvSpPr>
        <p:spPr>
          <a:xfrm>
            <a:off x="7278624" y="1682496"/>
            <a:ext cx="4334256" cy="3977640"/>
          </a:xfrm>
          <a:prstGeom prst="roundRect">
            <a:avLst>
              <a:gd name="adj" fmla="val 2759"/>
            </a:avLst>
          </a:prstGeom>
          <a:solidFill>
            <a:srgbClr val="EEF6F0"/>
          </a:solidFill>
          <a:ln w="12700">
            <a:solidFill>
              <a:srgbClr val="DDEDE2"/>
            </a:solidFill>
            <a:prstDash val="solid"/>
          </a:ln>
        </p:spPr>
      </p:sp>
      <p:sp>
        <p:nvSpPr>
          <p:cNvPr id="43" name="Text 41"/>
          <p:cNvSpPr/>
          <p:nvPr/>
        </p:nvSpPr>
        <p:spPr>
          <a:xfrm>
            <a:off x="7552944" y="1920240"/>
            <a:ext cx="914400" cy="201168"/>
          </a:xfrm>
          <a:prstGeom prst="rect">
            <a:avLst/>
          </a:prstGeom>
          <a:noFill/>
          <a:ln/>
        </p:spPr>
        <p:txBody>
          <a:bodyPr wrap="square" lIns="0" tIns="0" rIns="0" bIns="0" rtlCol="0" anchor="ctr">
            <a:normAutofit/>
          </a:bodyPr>
          <a:lstStyle/>
          <a:p>
            <a:pPr algn="l" indent="0" marL="0">
              <a:buNone/>
            </a:pPr>
            <a:r>
              <a:rPr lang="en-US" sz="800" b="1" spc="110" kern="0" dirty="0">
                <a:solidFill>
                  <a:srgbClr val="2E6B4A"/>
                </a:solidFill>
                <a:latin typeface="Aptos" pitchFamily="34" charset="0"/>
                <a:ea typeface="Aptos" pitchFamily="34" charset="-122"/>
                <a:cs typeface="Aptos" pitchFamily="34" charset="-120"/>
              </a:rPr>
              <a:t>CORE FILES</a:t>
            </a:r>
            <a:endParaRPr lang="en-US" sz="800" dirty="0"/>
          </a:p>
        </p:txBody>
      </p:sp>
      <p:sp>
        <p:nvSpPr>
          <p:cNvPr id="44" name="Text 42"/>
          <p:cNvSpPr/>
          <p:nvPr/>
        </p:nvSpPr>
        <p:spPr>
          <a:xfrm>
            <a:off x="7571232" y="2286000"/>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src/screening.js</a:t>
            </a:r>
            <a:endParaRPr lang="en-US" sz="800" dirty="0"/>
          </a:p>
        </p:txBody>
      </p:sp>
      <p:sp>
        <p:nvSpPr>
          <p:cNvPr id="45" name="Text 43"/>
          <p:cNvSpPr/>
          <p:nvPr/>
        </p:nvSpPr>
        <p:spPr>
          <a:xfrm>
            <a:off x="9555480" y="2286000"/>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Evidence levels + confidence</a:t>
            </a:r>
            <a:endParaRPr lang="en-US" sz="860" dirty="0"/>
          </a:p>
        </p:txBody>
      </p:sp>
      <p:sp>
        <p:nvSpPr>
          <p:cNvPr id="46" name="Text 44"/>
          <p:cNvSpPr/>
          <p:nvPr/>
        </p:nvSpPr>
        <p:spPr>
          <a:xfrm>
            <a:off x="7571232" y="2715768"/>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src/contradictions.js</a:t>
            </a:r>
            <a:endParaRPr lang="en-US" sz="800" dirty="0"/>
          </a:p>
        </p:txBody>
      </p:sp>
      <p:sp>
        <p:nvSpPr>
          <p:cNvPr id="47" name="Text 45"/>
          <p:cNvSpPr/>
          <p:nvPr/>
        </p:nvSpPr>
        <p:spPr>
          <a:xfrm>
            <a:off x="9555480" y="2715768"/>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Source-cited claim checks</a:t>
            </a:r>
            <a:endParaRPr lang="en-US" sz="860" dirty="0"/>
          </a:p>
        </p:txBody>
      </p:sp>
      <p:sp>
        <p:nvSpPr>
          <p:cNvPr id="48" name="Text 46"/>
          <p:cNvSpPr/>
          <p:nvPr/>
        </p:nvSpPr>
        <p:spPr>
          <a:xfrm>
            <a:off x="7571232" y="3145536"/>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src/requisitionAnalysis.js</a:t>
            </a:r>
            <a:endParaRPr lang="en-US" sz="800" dirty="0"/>
          </a:p>
        </p:txBody>
      </p:sp>
      <p:sp>
        <p:nvSpPr>
          <p:cNvPr id="49" name="Text 47"/>
          <p:cNvSpPr/>
          <p:nvPr/>
        </p:nvSpPr>
        <p:spPr>
          <a:xfrm>
            <a:off x="9555480" y="3145536"/>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Pool conflicts + shortlist</a:t>
            </a:r>
            <a:endParaRPr lang="en-US" sz="860" dirty="0"/>
          </a:p>
        </p:txBody>
      </p:sp>
      <p:sp>
        <p:nvSpPr>
          <p:cNvPr id="50" name="Text 48"/>
          <p:cNvSpPr/>
          <p:nvPr/>
        </p:nvSpPr>
        <p:spPr>
          <a:xfrm>
            <a:off x="7571232" y="3575304"/>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agent/orchestrator.js</a:t>
            </a:r>
            <a:endParaRPr lang="en-US" sz="800" dirty="0"/>
          </a:p>
        </p:txBody>
      </p:sp>
      <p:sp>
        <p:nvSpPr>
          <p:cNvPr id="51" name="Text 49"/>
          <p:cNvSpPr/>
          <p:nvPr/>
        </p:nvSpPr>
        <p:spPr>
          <a:xfrm>
            <a:off x="9555480" y="3575304"/>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Candidate LangChain graph</a:t>
            </a:r>
            <a:endParaRPr lang="en-US" sz="860" dirty="0"/>
          </a:p>
        </p:txBody>
      </p:sp>
      <p:sp>
        <p:nvSpPr>
          <p:cNvPr id="52" name="Text 50"/>
          <p:cNvSpPr/>
          <p:nvPr/>
        </p:nvSpPr>
        <p:spPr>
          <a:xfrm>
            <a:off x="7571232" y="4005072"/>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agent/requirementIntelligence.js</a:t>
            </a:r>
            <a:endParaRPr lang="en-US" sz="800" dirty="0"/>
          </a:p>
        </p:txBody>
      </p:sp>
      <p:sp>
        <p:nvSpPr>
          <p:cNvPr id="53" name="Text 51"/>
          <p:cNvSpPr/>
          <p:nvPr/>
        </p:nvSpPr>
        <p:spPr>
          <a:xfrm>
            <a:off x="9555480" y="4005072"/>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Terminology generation graph</a:t>
            </a:r>
            <a:endParaRPr lang="en-US" sz="860" dirty="0"/>
          </a:p>
        </p:txBody>
      </p:sp>
      <p:sp>
        <p:nvSpPr>
          <p:cNvPr id="54" name="Text 52"/>
          <p:cNvSpPr/>
          <p:nvPr/>
        </p:nvSpPr>
        <p:spPr>
          <a:xfrm>
            <a:off x="7571232" y="4434840"/>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server/index.js</a:t>
            </a:r>
            <a:endParaRPr lang="en-US" sz="800" dirty="0"/>
          </a:p>
        </p:txBody>
      </p:sp>
      <p:sp>
        <p:nvSpPr>
          <p:cNvPr id="55" name="Text 53"/>
          <p:cNvSpPr/>
          <p:nvPr/>
        </p:nvSpPr>
        <p:spPr>
          <a:xfrm>
            <a:off x="9555480" y="4434840"/>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API, validation and timeouts</a:t>
            </a:r>
            <a:endParaRPr lang="en-US" sz="860" dirty="0"/>
          </a:p>
        </p:txBody>
      </p:sp>
      <p:sp>
        <p:nvSpPr>
          <p:cNvPr id="56" name="Text 54"/>
          <p:cNvSpPr/>
          <p:nvPr/>
        </p:nvSpPr>
        <p:spPr>
          <a:xfrm>
            <a:off x="7571232" y="4864608"/>
            <a:ext cx="1938528" cy="219456"/>
          </a:xfrm>
          <a:prstGeom prst="rect">
            <a:avLst/>
          </a:prstGeom>
          <a:noFill/>
          <a:ln/>
        </p:spPr>
        <p:txBody>
          <a:bodyPr wrap="square" lIns="0" tIns="0" rIns="0" bIns="0" rtlCol="0" anchor="ctr">
            <a:normAutofit/>
          </a:bodyPr>
          <a:lstStyle/>
          <a:p>
            <a:pPr algn="l" indent="0" marL="0">
              <a:buNone/>
            </a:pPr>
            <a:r>
              <a:rPr lang="en-US" sz="800" b="1" dirty="0">
                <a:solidFill>
                  <a:srgbClr val="1D5036"/>
                </a:solidFill>
                <a:latin typeface="Menlo" pitchFamily="34" charset="0"/>
                <a:ea typeface="Menlo" pitchFamily="34" charset="-122"/>
                <a:cs typeface="Menlo" pitchFamily="34" charset="-120"/>
              </a:rPr>
              <a:t>src/reportExport.js</a:t>
            </a:r>
            <a:endParaRPr lang="en-US" sz="800" dirty="0"/>
          </a:p>
        </p:txBody>
      </p:sp>
      <p:sp>
        <p:nvSpPr>
          <p:cNvPr id="57" name="Text 55"/>
          <p:cNvSpPr/>
          <p:nvPr/>
        </p:nvSpPr>
        <p:spPr>
          <a:xfrm>
            <a:off x="9555480" y="4864608"/>
            <a:ext cx="1700784" cy="256032"/>
          </a:xfrm>
          <a:prstGeom prst="rect">
            <a:avLst/>
          </a:prstGeom>
          <a:noFill/>
          <a:ln/>
        </p:spPr>
        <p:txBody>
          <a:bodyPr wrap="square" lIns="0" tIns="0" rIns="0" bIns="0" rtlCol="0" anchor="ctr">
            <a:normAutofit/>
          </a:bodyPr>
          <a:lstStyle/>
          <a:p>
            <a:pPr algn="l" indent="0" marL="0">
              <a:buNone/>
            </a:pPr>
            <a:r>
              <a:rPr lang="en-US" sz="860" dirty="0">
                <a:solidFill>
                  <a:srgbClr val="5D6A62"/>
                </a:solidFill>
                <a:latin typeface="Aptos" pitchFamily="34" charset="0"/>
                <a:ea typeface="Aptos" pitchFamily="34" charset="-122"/>
                <a:cs typeface="Aptos" pitchFamily="34" charset="-120"/>
              </a:rPr>
              <a:t>Ten-sheet Excel workbook</a:t>
            </a:r>
            <a:endParaRPr lang="en-US" sz="860" dirty="0"/>
          </a:p>
        </p:txBody>
      </p:sp>
      <p:sp>
        <p:nvSpPr>
          <p:cNvPr id="58" name="Shape 56"/>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9" name="Shape 57"/>
          <p:cNvSpPr/>
          <p:nvPr/>
        </p:nvSpPr>
        <p:spPr>
          <a:xfrm>
            <a:off x="685800" y="6044184"/>
            <a:ext cx="164592" cy="164592"/>
          </a:xfrm>
          <a:prstGeom prst="ellipse">
            <a:avLst/>
          </a:prstGeom>
          <a:solidFill>
            <a:srgbClr val="CDEB8B"/>
          </a:solidFill>
          <a:ln w="12700">
            <a:solidFill>
              <a:srgbClr val="CDEB8B"/>
            </a:solidFill>
            <a:prstDash val="solid"/>
          </a:ln>
        </p:spPr>
      </p:sp>
      <p:sp>
        <p:nvSpPr>
          <p:cNvPr id="60" name="Text 58"/>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61" name="Text 59"/>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The API is stateless; demo data persists in browser localStorage, not in a production database.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WORKING DEMONSTRATION</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16</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A seven-minute live demo script</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Follow this sequence to prove both the base problem and the surprise challenges.</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673352"/>
            <a:ext cx="5294376" cy="804672"/>
          </a:xfrm>
          <a:prstGeom prst="roundRect">
            <a:avLst>
              <a:gd name="adj" fmla="val 13636"/>
            </a:avLst>
          </a:prstGeom>
          <a:solidFill>
            <a:srgbClr val="EEF6F0"/>
          </a:solidFill>
          <a:ln w="12700">
            <a:solidFill>
              <a:srgbClr val="DDE3DD"/>
            </a:solidFill>
            <a:prstDash val="solid"/>
          </a:ln>
        </p:spPr>
      </p:sp>
      <p:sp>
        <p:nvSpPr>
          <p:cNvPr id="13" name="Shape 11"/>
          <p:cNvSpPr/>
          <p:nvPr/>
        </p:nvSpPr>
        <p:spPr>
          <a:xfrm>
            <a:off x="731520" y="1901952"/>
            <a:ext cx="640080" cy="310896"/>
          </a:xfrm>
          <a:prstGeom prst="roundRect">
            <a:avLst>
              <a:gd name="adj" fmla="val 50000"/>
            </a:avLst>
          </a:prstGeom>
          <a:solidFill>
            <a:srgbClr val="18221C"/>
          </a:solidFill>
          <a:ln w="12700">
            <a:solidFill>
              <a:srgbClr val="18221C"/>
            </a:solidFill>
            <a:prstDash val="solid"/>
          </a:ln>
        </p:spPr>
      </p:sp>
      <p:sp>
        <p:nvSpPr>
          <p:cNvPr id="14" name="Text 12"/>
          <p:cNvSpPr/>
          <p:nvPr/>
        </p:nvSpPr>
        <p:spPr>
          <a:xfrm>
            <a:off x="731520" y="1901952"/>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00:00</a:t>
            </a:r>
            <a:endParaRPr lang="en-US" sz="660" dirty="0"/>
          </a:p>
        </p:txBody>
      </p:sp>
      <p:sp>
        <p:nvSpPr>
          <p:cNvPr id="15" name="Text 13"/>
          <p:cNvSpPr/>
          <p:nvPr/>
        </p:nvSpPr>
        <p:spPr>
          <a:xfrm>
            <a:off x="1517904" y="1801368"/>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Dashboard</a:t>
            </a:r>
            <a:endParaRPr lang="en-US" sz="1150" dirty="0"/>
          </a:p>
        </p:txBody>
      </p:sp>
      <p:sp>
        <p:nvSpPr>
          <p:cNvPr id="16" name="Text 14"/>
          <p:cNvSpPr/>
          <p:nvPr/>
        </p:nvSpPr>
        <p:spPr>
          <a:xfrm>
            <a:off x="2606040" y="1792224"/>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Explain applicants, strong matches and claim checks.</a:t>
            </a:r>
            <a:endParaRPr lang="en-US" sz="930" dirty="0"/>
          </a:p>
        </p:txBody>
      </p:sp>
      <p:sp>
        <p:nvSpPr>
          <p:cNvPr id="17" name="Shape 15"/>
          <p:cNvSpPr/>
          <p:nvPr/>
        </p:nvSpPr>
        <p:spPr>
          <a:xfrm>
            <a:off x="6126480" y="1673352"/>
            <a:ext cx="5294376" cy="804672"/>
          </a:xfrm>
          <a:prstGeom prst="roundRect">
            <a:avLst>
              <a:gd name="adj" fmla="val 13636"/>
            </a:avLst>
          </a:prstGeom>
          <a:solidFill>
            <a:srgbClr val="FFFFFF"/>
          </a:solidFill>
          <a:ln w="12700">
            <a:solidFill>
              <a:srgbClr val="DDE3DD"/>
            </a:solidFill>
            <a:prstDash val="solid"/>
          </a:ln>
        </p:spPr>
      </p:sp>
      <p:sp>
        <p:nvSpPr>
          <p:cNvPr id="18" name="Shape 16"/>
          <p:cNvSpPr/>
          <p:nvPr/>
        </p:nvSpPr>
        <p:spPr>
          <a:xfrm>
            <a:off x="6291072" y="1901952"/>
            <a:ext cx="640080" cy="310896"/>
          </a:xfrm>
          <a:prstGeom prst="roundRect">
            <a:avLst>
              <a:gd name="adj" fmla="val 50000"/>
            </a:avLst>
          </a:prstGeom>
          <a:solidFill>
            <a:srgbClr val="18221C"/>
          </a:solidFill>
          <a:ln w="12700">
            <a:solidFill>
              <a:srgbClr val="18221C"/>
            </a:solidFill>
            <a:prstDash val="solid"/>
          </a:ln>
        </p:spPr>
      </p:sp>
      <p:sp>
        <p:nvSpPr>
          <p:cNvPr id="19" name="Text 17"/>
          <p:cNvSpPr/>
          <p:nvPr/>
        </p:nvSpPr>
        <p:spPr>
          <a:xfrm>
            <a:off x="6291072" y="1901952"/>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00:40</a:t>
            </a:r>
            <a:endParaRPr lang="en-US" sz="660" dirty="0"/>
          </a:p>
        </p:txBody>
      </p:sp>
      <p:sp>
        <p:nvSpPr>
          <p:cNvPr id="20" name="Text 18"/>
          <p:cNvSpPr/>
          <p:nvPr/>
        </p:nvSpPr>
        <p:spPr>
          <a:xfrm>
            <a:off x="7077456" y="1801368"/>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New role</a:t>
            </a:r>
            <a:endParaRPr lang="en-US" sz="1150" dirty="0"/>
          </a:p>
        </p:txBody>
      </p:sp>
      <p:sp>
        <p:nvSpPr>
          <p:cNvPr id="21" name="Text 19"/>
          <p:cNvSpPr/>
          <p:nvPr/>
        </p:nvSpPr>
        <p:spPr>
          <a:xfrm>
            <a:off x="8165592" y="1792224"/>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Open requisition editor and paste a job description.</a:t>
            </a:r>
            <a:endParaRPr lang="en-US" sz="930" dirty="0"/>
          </a:p>
        </p:txBody>
      </p:sp>
      <p:sp>
        <p:nvSpPr>
          <p:cNvPr id="22" name="Shape 20"/>
          <p:cNvSpPr/>
          <p:nvPr/>
        </p:nvSpPr>
        <p:spPr>
          <a:xfrm>
            <a:off x="566928" y="2660904"/>
            <a:ext cx="5294376" cy="804672"/>
          </a:xfrm>
          <a:prstGeom prst="roundRect">
            <a:avLst>
              <a:gd name="adj" fmla="val 13636"/>
            </a:avLst>
          </a:prstGeom>
          <a:solidFill>
            <a:srgbClr val="FFFFFF"/>
          </a:solidFill>
          <a:ln w="12700">
            <a:solidFill>
              <a:srgbClr val="DDE3DD"/>
            </a:solidFill>
            <a:prstDash val="solid"/>
          </a:ln>
        </p:spPr>
      </p:sp>
      <p:sp>
        <p:nvSpPr>
          <p:cNvPr id="23" name="Shape 21"/>
          <p:cNvSpPr/>
          <p:nvPr/>
        </p:nvSpPr>
        <p:spPr>
          <a:xfrm>
            <a:off x="731520" y="2889504"/>
            <a:ext cx="640080" cy="310896"/>
          </a:xfrm>
          <a:prstGeom prst="roundRect">
            <a:avLst>
              <a:gd name="adj" fmla="val 50000"/>
            </a:avLst>
          </a:prstGeom>
          <a:solidFill>
            <a:srgbClr val="18221C"/>
          </a:solidFill>
          <a:ln w="12700">
            <a:solidFill>
              <a:srgbClr val="18221C"/>
            </a:solidFill>
            <a:prstDash val="solid"/>
          </a:ln>
        </p:spPr>
      </p:sp>
      <p:sp>
        <p:nvSpPr>
          <p:cNvPr id="24" name="Text 22"/>
          <p:cNvSpPr/>
          <p:nvPr/>
        </p:nvSpPr>
        <p:spPr>
          <a:xfrm>
            <a:off x="731520" y="2889504"/>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01:20</a:t>
            </a:r>
            <a:endParaRPr lang="en-US" sz="660" dirty="0"/>
          </a:p>
        </p:txBody>
      </p:sp>
      <p:sp>
        <p:nvSpPr>
          <p:cNvPr id="25" name="Text 23"/>
          <p:cNvSpPr/>
          <p:nvPr/>
        </p:nvSpPr>
        <p:spPr>
          <a:xfrm>
            <a:off x="1517904" y="2788920"/>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Generate</a:t>
            </a:r>
            <a:endParaRPr lang="en-US" sz="1150" dirty="0"/>
          </a:p>
        </p:txBody>
      </p:sp>
      <p:sp>
        <p:nvSpPr>
          <p:cNvPr id="26" name="Text 24"/>
          <p:cNvSpPr/>
          <p:nvPr/>
        </p:nvSpPr>
        <p:spPr>
          <a:xfrm>
            <a:off x="2606040" y="2779776"/>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Create a new terminology map and review related terms.</a:t>
            </a:r>
            <a:endParaRPr lang="en-US" sz="930" dirty="0"/>
          </a:p>
        </p:txBody>
      </p:sp>
      <p:sp>
        <p:nvSpPr>
          <p:cNvPr id="27" name="Shape 25"/>
          <p:cNvSpPr/>
          <p:nvPr/>
        </p:nvSpPr>
        <p:spPr>
          <a:xfrm>
            <a:off x="6126480" y="2660904"/>
            <a:ext cx="5294376" cy="804672"/>
          </a:xfrm>
          <a:prstGeom prst="roundRect">
            <a:avLst>
              <a:gd name="adj" fmla="val 13636"/>
            </a:avLst>
          </a:prstGeom>
          <a:solidFill>
            <a:srgbClr val="EEF6F0"/>
          </a:solidFill>
          <a:ln w="12700">
            <a:solidFill>
              <a:srgbClr val="DDE3DD"/>
            </a:solidFill>
            <a:prstDash val="solid"/>
          </a:ln>
        </p:spPr>
      </p:sp>
      <p:sp>
        <p:nvSpPr>
          <p:cNvPr id="28" name="Shape 26"/>
          <p:cNvSpPr/>
          <p:nvPr/>
        </p:nvSpPr>
        <p:spPr>
          <a:xfrm>
            <a:off x="6291072" y="2889504"/>
            <a:ext cx="640080" cy="310896"/>
          </a:xfrm>
          <a:prstGeom prst="roundRect">
            <a:avLst>
              <a:gd name="adj" fmla="val 50000"/>
            </a:avLst>
          </a:prstGeom>
          <a:solidFill>
            <a:srgbClr val="18221C"/>
          </a:solidFill>
          <a:ln w="12700">
            <a:solidFill>
              <a:srgbClr val="18221C"/>
            </a:solidFill>
            <a:prstDash val="solid"/>
          </a:ln>
        </p:spPr>
      </p:sp>
      <p:sp>
        <p:nvSpPr>
          <p:cNvPr id="29" name="Text 27"/>
          <p:cNvSpPr/>
          <p:nvPr/>
        </p:nvSpPr>
        <p:spPr>
          <a:xfrm>
            <a:off x="6291072" y="2889504"/>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02:10</a:t>
            </a:r>
            <a:endParaRPr lang="en-US" sz="660" dirty="0"/>
          </a:p>
        </p:txBody>
      </p:sp>
      <p:sp>
        <p:nvSpPr>
          <p:cNvPr id="30" name="Text 28"/>
          <p:cNvSpPr/>
          <p:nvPr/>
        </p:nvSpPr>
        <p:spPr>
          <a:xfrm>
            <a:off x="7077456" y="2788920"/>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Upload</a:t>
            </a:r>
            <a:endParaRPr lang="en-US" sz="1150" dirty="0"/>
          </a:p>
        </p:txBody>
      </p:sp>
      <p:sp>
        <p:nvSpPr>
          <p:cNvPr id="31" name="Text 29"/>
          <p:cNvSpPr/>
          <p:nvPr/>
        </p:nvSpPr>
        <p:spPr>
          <a:xfrm>
            <a:off x="8165592" y="2779776"/>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Add a normal resume and one unsupported-claim resume.</a:t>
            </a:r>
            <a:endParaRPr lang="en-US" sz="930" dirty="0"/>
          </a:p>
        </p:txBody>
      </p:sp>
      <p:sp>
        <p:nvSpPr>
          <p:cNvPr id="32" name="Shape 30"/>
          <p:cNvSpPr/>
          <p:nvPr/>
        </p:nvSpPr>
        <p:spPr>
          <a:xfrm>
            <a:off x="566928" y="3648456"/>
            <a:ext cx="5294376" cy="804672"/>
          </a:xfrm>
          <a:prstGeom prst="roundRect">
            <a:avLst>
              <a:gd name="adj" fmla="val 13636"/>
            </a:avLst>
          </a:prstGeom>
          <a:solidFill>
            <a:srgbClr val="FFFFFF"/>
          </a:solidFill>
          <a:ln w="12700">
            <a:solidFill>
              <a:srgbClr val="DDE3DD"/>
            </a:solidFill>
            <a:prstDash val="solid"/>
          </a:ln>
        </p:spPr>
      </p:sp>
      <p:sp>
        <p:nvSpPr>
          <p:cNvPr id="33" name="Shape 31"/>
          <p:cNvSpPr/>
          <p:nvPr/>
        </p:nvSpPr>
        <p:spPr>
          <a:xfrm>
            <a:off x="731520" y="3877056"/>
            <a:ext cx="640080" cy="310896"/>
          </a:xfrm>
          <a:prstGeom prst="roundRect">
            <a:avLst>
              <a:gd name="adj" fmla="val 50000"/>
            </a:avLst>
          </a:prstGeom>
          <a:solidFill>
            <a:srgbClr val="18221C"/>
          </a:solidFill>
          <a:ln w="12700">
            <a:solidFill>
              <a:srgbClr val="18221C"/>
            </a:solidFill>
            <a:prstDash val="solid"/>
          </a:ln>
        </p:spPr>
      </p:sp>
      <p:sp>
        <p:nvSpPr>
          <p:cNvPr id="34" name="Text 32"/>
          <p:cNvSpPr/>
          <p:nvPr/>
        </p:nvSpPr>
        <p:spPr>
          <a:xfrm>
            <a:off x="731520" y="3877056"/>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03:00</a:t>
            </a:r>
            <a:endParaRPr lang="en-US" sz="660" dirty="0"/>
          </a:p>
        </p:txBody>
      </p:sp>
      <p:sp>
        <p:nvSpPr>
          <p:cNvPr id="35" name="Text 33"/>
          <p:cNvSpPr/>
          <p:nvPr/>
        </p:nvSpPr>
        <p:spPr>
          <a:xfrm>
            <a:off x="1517904" y="3776472"/>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Evidence</a:t>
            </a:r>
            <a:endParaRPr lang="en-US" sz="1150" dirty="0"/>
          </a:p>
        </p:txBody>
      </p:sp>
      <p:sp>
        <p:nvSpPr>
          <p:cNvPr id="36" name="Text 34"/>
          <p:cNvSpPr/>
          <p:nvPr/>
        </p:nvSpPr>
        <p:spPr>
          <a:xfrm>
            <a:off x="2606040" y="3767328"/>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Open a candidate and read the cited assessment passages.</a:t>
            </a:r>
            <a:endParaRPr lang="en-US" sz="930" dirty="0"/>
          </a:p>
        </p:txBody>
      </p:sp>
      <p:sp>
        <p:nvSpPr>
          <p:cNvPr id="37" name="Shape 35"/>
          <p:cNvSpPr/>
          <p:nvPr/>
        </p:nvSpPr>
        <p:spPr>
          <a:xfrm>
            <a:off x="6126480" y="3648456"/>
            <a:ext cx="5294376" cy="804672"/>
          </a:xfrm>
          <a:prstGeom prst="roundRect">
            <a:avLst>
              <a:gd name="adj" fmla="val 13636"/>
            </a:avLst>
          </a:prstGeom>
          <a:solidFill>
            <a:srgbClr val="FFFFFF"/>
          </a:solidFill>
          <a:ln w="12700">
            <a:solidFill>
              <a:srgbClr val="DDE3DD"/>
            </a:solidFill>
            <a:prstDash val="solid"/>
          </a:ln>
        </p:spPr>
      </p:sp>
      <p:sp>
        <p:nvSpPr>
          <p:cNvPr id="38" name="Shape 36"/>
          <p:cNvSpPr/>
          <p:nvPr/>
        </p:nvSpPr>
        <p:spPr>
          <a:xfrm>
            <a:off x="6291072" y="3877056"/>
            <a:ext cx="640080" cy="310896"/>
          </a:xfrm>
          <a:prstGeom prst="roundRect">
            <a:avLst>
              <a:gd name="adj" fmla="val 50000"/>
            </a:avLst>
          </a:prstGeom>
          <a:solidFill>
            <a:srgbClr val="18221C"/>
          </a:solidFill>
          <a:ln w="12700">
            <a:solidFill>
              <a:srgbClr val="18221C"/>
            </a:solidFill>
            <a:prstDash val="solid"/>
          </a:ln>
        </p:spPr>
      </p:sp>
      <p:sp>
        <p:nvSpPr>
          <p:cNvPr id="39" name="Text 37"/>
          <p:cNvSpPr/>
          <p:nvPr/>
        </p:nvSpPr>
        <p:spPr>
          <a:xfrm>
            <a:off x="6291072" y="3877056"/>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04:00</a:t>
            </a:r>
            <a:endParaRPr lang="en-US" sz="660" dirty="0"/>
          </a:p>
        </p:txBody>
      </p:sp>
      <p:sp>
        <p:nvSpPr>
          <p:cNvPr id="40" name="Text 38"/>
          <p:cNvSpPr/>
          <p:nvPr/>
        </p:nvSpPr>
        <p:spPr>
          <a:xfrm>
            <a:off x="7077456" y="3776472"/>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Challenge 01</a:t>
            </a:r>
            <a:endParaRPr lang="en-US" sz="1150" dirty="0"/>
          </a:p>
        </p:txBody>
      </p:sp>
      <p:sp>
        <p:nvSpPr>
          <p:cNvPr id="41" name="Text 39"/>
          <p:cNvSpPr/>
          <p:nvPr/>
        </p:nvSpPr>
        <p:spPr>
          <a:xfrm>
            <a:off x="8165592" y="3767328"/>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Show the exact claim and conflicting or missing support.</a:t>
            </a:r>
            <a:endParaRPr lang="en-US" sz="930" dirty="0"/>
          </a:p>
        </p:txBody>
      </p:sp>
      <p:sp>
        <p:nvSpPr>
          <p:cNvPr id="42" name="Shape 40"/>
          <p:cNvSpPr/>
          <p:nvPr/>
        </p:nvSpPr>
        <p:spPr>
          <a:xfrm>
            <a:off x="566928" y="4636008"/>
            <a:ext cx="5294376" cy="804672"/>
          </a:xfrm>
          <a:prstGeom prst="roundRect">
            <a:avLst>
              <a:gd name="adj" fmla="val 13636"/>
            </a:avLst>
          </a:prstGeom>
          <a:solidFill>
            <a:srgbClr val="EEF6F0"/>
          </a:solidFill>
          <a:ln w="12700">
            <a:solidFill>
              <a:srgbClr val="DDE3DD"/>
            </a:solidFill>
            <a:prstDash val="solid"/>
          </a:ln>
        </p:spPr>
      </p:sp>
      <p:sp>
        <p:nvSpPr>
          <p:cNvPr id="43" name="Shape 41"/>
          <p:cNvSpPr/>
          <p:nvPr/>
        </p:nvSpPr>
        <p:spPr>
          <a:xfrm>
            <a:off x="731520" y="4864608"/>
            <a:ext cx="640080" cy="310896"/>
          </a:xfrm>
          <a:prstGeom prst="roundRect">
            <a:avLst>
              <a:gd name="adj" fmla="val 50000"/>
            </a:avLst>
          </a:prstGeom>
          <a:solidFill>
            <a:srgbClr val="18221C"/>
          </a:solidFill>
          <a:ln w="12700">
            <a:solidFill>
              <a:srgbClr val="18221C"/>
            </a:solidFill>
            <a:prstDash val="solid"/>
          </a:ln>
        </p:spPr>
      </p:sp>
      <p:sp>
        <p:nvSpPr>
          <p:cNvPr id="44" name="Text 42"/>
          <p:cNvSpPr/>
          <p:nvPr/>
        </p:nvSpPr>
        <p:spPr>
          <a:xfrm>
            <a:off x="731520" y="4864608"/>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05:00</a:t>
            </a:r>
            <a:endParaRPr lang="en-US" sz="660" dirty="0"/>
          </a:p>
        </p:txBody>
      </p:sp>
      <p:sp>
        <p:nvSpPr>
          <p:cNvPr id="45" name="Text 43"/>
          <p:cNvSpPr/>
          <p:nvPr/>
        </p:nvSpPr>
        <p:spPr>
          <a:xfrm>
            <a:off x="1517904" y="4764024"/>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Challenge 02</a:t>
            </a:r>
            <a:endParaRPr lang="en-US" sz="1150" dirty="0"/>
          </a:p>
        </p:txBody>
      </p:sp>
      <p:sp>
        <p:nvSpPr>
          <p:cNvPr id="46" name="Text 44"/>
          <p:cNvSpPr/>
          <p:nvPr/>
        </p:nvSpPr>
        <p:spPr>
          <a:xfrm>
            <a:off x="2606040" y="4754880"/>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Show pool coverage, conflicts and closest-fit trade-offs.</a:t>
            </a:r>
            <a:endParaRPr lang="en-US" sz="930" dirty="0"/>
          </a:p>
        </p:txBody>
      </p:sp>
      <p:sp>
        <p:nvSpPr>
          <p:cNvPr id="47" name="Shape 45"/>
          <p:cNvSpPr/>
          <p:nvPr/>
        </p:nvSpPr>
        <p:spPr>
          <a:xfrm>
            <a:off x="6126480" y="4636008"/>
            <a:ext cx="5294376" cy="804672"/>
          </a:xfrm>
          <a:prstGeom prst="roundRect">
            <a:avLst>
              <a:gd name="adj" fmla="val 13636"/>
            </a:avLst>
          </a:prstGeom>
          <a:solidFill>
            <a:srgbClr val="FFFFFF"/>
          </a:solidFill>
          <a:ln w="12700">
            <a:solidFill>
              <a:srgbClr val="DDE3DD"/>
            </a:solidFill>
            <a:prstDash val="solid"/>
          </a:ln>
        </p:spPr>
      </p:sp>
      <p:sp>
        <p:nvSpPr>
          <p:cNvPr id="48" name="Shape 46"/>
          <p:cNvSpPr/>
          <p:nvPr/>
        </p:nvSpPr>
        <p:spPr>
          <a:xfrm>
            <a:off x="6291072" y="4864608"/>
            <a:ext cx="640080" cy="310896"/>
          </a:xfrm>
          <a:prstGeom prst="roundRect">
            <a:avLst>
              <a:gd name="adj" fmla="val 50000"/>
            </a:avLst>
          </a:prstGeom>
          <a:solidFill>
            <a:srgbClr val="18221C"/>
          </a:solidFill>
          <a:ln w="12700">
            <a:solidFill>
              <a:srgbClr val="18221C"/>
            </a:solidFill>
            <a:prstDash val="solid"/>
          </a:ln>
        </p:spPr>
      </p:sp>
      <p:sp>
        <p:nvSpPr>
          <p:cNvPr id="49" name="Text 47"/>
          <p:cNvSpPr/>
          <p:nvPr/>
        </p:nvSpPr>
        <p:spPr>
          <a:xfrm>
            <a:off x="6291072" y="4864608"/>
            <a:ext cx="640080" cy="310896"/>
          </a:xfrm>
          <a:prstGeom prst="rect">
            <a:avLst/>
          </a:prstGeom>
          <a:noFill/>
          <a:ln/>
        </p:spPr>
        <p:txBody>
          <a:bodyPr wrap="square" lIns="0" tIns="0" rIns="0" bIns="0" rtlCol="0" anchor="ctr">
            <a:normAutofit/>
          </a:bodyPr>
          <a:lstStyle/>
          <a:p>
            <a:pPr algn="ctr" indent="0" marL="0">
              <a:buNone/>
            </a:pPr>
            <a:r>
              <a:rPr lang="en-US" sz="660" b="1" spc="120" kern="0" dirty="0">
                <a:solidFill>
                  <a:srgbClr val="FFFFFF"/>
                </a:solidFill>
                <a:latin typeface="Aptos" pitchFamily="34" charset="0"/>
                <a:ea typeface="Aptos" pitchFamily="34" charset="-122"/>
                <a:cs typeface="Aptos" pitchFamily="34" charset="-120"/>
              </a:rPr>
              <a:t>06:10</a:t>
            </a:r>
            <a:endParaRPr lang="en-US" sz="660" dirty="0"/>
          </a:p>
        </p:txBody>
      </p:sp>
      <p:sp>
        <p:nvSpPr>
          <p:cNvPr id="50" name="Text 48"/>
          <p:cNvSpPr/>
          <p:nvPr/>
        </p:nvSpPr>
        <p:spPr>
          <a:xfrm>
            <a:off x="7077456" y="4764024"/>
            <a:ext cx="1115568" cy="237744"/>
          </a:xfrm>
          <a:prstGeom prst="rect">
            <a:avLst/>
          </a:prstGeom>
          <a:noFill/>
          <a:ln/>
        </p:spPr>
        <p:txBody>
          <a:bodyPr wrap="square" lIns="0" tIns="0" rIns="0" bIns="0" rtlCol="0" anchor="ctr">
            <a:normAutofit/>
          </a:bodyPr>
          <a:lstStyle/>
          <a:p>
            <a:pPr algn="l" indent="0" marL="0">
              <a:buNone/>
            </a:pPr>
            <a:r>
              <a:rPr lang="en-US" sz="1150" b="1" dirty="0">
                <a:solidFill>
                  <a:srgbClr val="18221C"/>
                </a:solidFill>
                <a:latin typeface="Aptos" pitchFamily="34" charset="0"/>
                <a:ea typeface="Aptos" pitchFamily="34" charset="-122"/>
                <a:cs typeface="Aptos" pitchFamily="34" charset="-120"/>
              </a:rPr>
              <a:t>Report</a:t>
            </a:r>
            <a:endParaRPr lang="en-US" sz="1150" dirty="0"/>
          </a:p>
        </p:txBody>
      </p:sp>
      <p:sp>
        <p:nvSpPr>
          <p:cNvPr id="51" name="Text 49"/>
          <p:cNvSpPr/>
          <p:nvPr/>
        </p:nvSpPr>
        <p:spPr>
          <a:xfrm>
            <a:off x="8165592" y="4754880"/>
            <a:ext cx="2962656" cy="438912"/>
          </a:xfrm>
          <a:prstGeom prst="rect">
            <a:avLst/>
          </a:prstGeom>
          <a:noFill/>
          <a:ln/>
        </p:spPr>
        <p:txBody>
          <a:bodyPr wrap="square" lIns="0" tIns="0" rIns="0" bIns="0" rtlCol="0" anchor="t">
            <a:normAutofit/>
          </a:bodyPr>
          <a:lstStyle/>
          <a:p>
            <a:pPr algn="l" indent="0" marL="0">
              <a:buNone/>
            </a:pPr>
            <a:r>
              <a:rPr lang="en-US" sz="930" dirty="0">
                <a:solidFill>
                  <a:srgbClr val="5D6A62"/>
                </a:solidFill>
                <a:latin typeface="Aptos" pitchFamily="34" charset="0"/>
                <a:ea typeface="Aptos" pitchFamily="34" charset="-122"/>
                <a:cs typeface="Aptos" pitchFamily="34" charset="-120"/>
              </a:rPr>
              <a:t>Export the Excel workbook and close with human review.</a:t>
            </a:r>
            <a:endParaRPr lang="en-US" sz="930" dirty="0"/>
          </a:p>
        </p:txBody>
      </p:sp>
      <p:sp>
        <p:nvSpPr>
          <p:cNvPr id="52" name="Shape 50"/>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3" name="Shape 51"/>
          <p:cNvSpPr/>
          <p:nvPr/>
        </p:nvSpPr>
        <p:spPr>
          <a:xfrm>
            <a:off x="685800" y="6044184"/>
            <a:ext cx="164592" cy="164592"/>
          </a:xfrm>
          <a:prstGeom prst="ellipse">
            <a:avLst/>
          </a:prstGeom>
          <a:solidFill>
            <a:srgbClr val="CDEB8B"/>
          </a:solidFill>
          <a:ln w="12700">
            <a:solidFill>
              <a:srgbClr val="CDEB8B"/>
            </a:solidFill>
            <a:prstDash val="solid"/>
          </a:ln>
        </p:spPr>
      </p:sp>
      <p:sp>
        <p:nvSpPr>
          <p:cNvPr id="54" name="Text 52"/>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5" name="Text 53"/>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Keep the demo evidence-led: after every click, say what source text or rule caused the result.</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PRACTICAL APPLICABILITY</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17</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Where Verity creates value</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A reusable first-review system for evidence-heavy recruiting.</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76072" y="1709928"/>
            <a:ext cx="2523744" cy="1097280"/>
          </a:xfrm>
          <a:prstGeom prst="roundRect">
            <a:avLst>
              <a:gd name="adj" fmla="val 10000"/>
            </a:avLst>
          </a:prstGeom>
          <a:solidFill>
            <a:srgbClr val="FFFFFF"/>
          </a:solidFill>
          <a:ln w="12700">
            <a:solidFill>
              <a:srgbClr val="DDE3DD"/>
            </a:solidFill>
            <a:prstDash val="solid"/>
          </a:ln>
        </p:spPr>
      </p:sp>
      <p:sp>
        <p:nvSpPr>
          <p:cNvPr id="13" name="Text 11"/>
          <p:cNvSpPr/>
          <p:nvPr/>
        </p:nvSpPr>
        <p:spPr>
          <a:xfrm>
            <a:off x="777240" y="1856232"/>
            <a:ext cx="2121408" cy="457200"/>
          </a:xfrm>
          <a:prstGeom prst="rect">
            <a:avLst/>
          </a:prstGeom>
          <a:noFill/>
          <a:ln/>
        </p:spPr>
        <p:txBody>
          <a:bodyPr wrap="square" lIns="0" tIns="0" rIns="0" bIns="0" rtlCol="0" anchor="ctr">
            <a:normAutofit/>
          </a:bodyPr>
          <a:lstStyle/>
          <a:p>
            <a:pPr algn="l" indent="0" marL="0">
              <a:buNone/>
            </a:pPr>
            <a:r>
              <a:rPr lang="en-US" sz="2700" b="1" dirty="0">
                <a:solidFill>
                  <a:srgbClr val="2E6B4A"/>
                </a:solidFill>
                <a:latin typeface="Aptos Display" pitchFamily="34" charset="0"/>
                <a:ea typeface="Aptos Display" pitchFamily="34" charset="-122"/>
                <a:cs typeface="Aptos Display" pitchFamily="34" charset="-120"/>
              </a:rPr>
              <a:t>10</a:t>
            </a:r>
            <a:endParaRPr lang="en-US" sz="2700" dirty="0"/>
          </a:p>
        </p:txBody>
      </p:sp>
      <p:sp>
        <p:nvSpPr>
          <p:cNvPr id="14" name="Text 12"/>
          <p:cNvSpPr/>
          <p:nvPr/>
        </p:nvSpPr>
        <p:spPr>
          <a:xfrm>
            <a:off x="777240" y="2295144"/>
            <a:ext cx="2121408" cy="210312"/>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Excel review sheets</a:t>
            </a:r>
            <a:endParaRPr lang="en-US" sz="950" dirty="0"/>
          </a:p>
        </p:txBody>
      </p:sp>
      <p:sp>
        <p:nvSpPr>
          <p:cNvPr id="15" name="Text 13"/>
          <p:cNvSpPr/>
          <p:nvPr/>
        </p:nvSpPr>
        <p:spPr>
          <a:xfrm>
            <a:off x="777240" y="2532888"/>
            <a:ext cx="2121408" cy="164592"/>
          </a:xfrm>
          <a:prstGeom prst="rect">
            <a:avLst/>
          </a:prstGeom>
          <a:noFill/>
          <a:ln/>
        </p:spPr>
        <p:txBody>
          <a:bodyPr wrap="square" lIns="0" tIns="0" rIns="0" bIns="0" rtlCol="0" anchor="ctr">
            <a:normAutofit/>
          </a:bodyPr>
          <a:lstStyle/>
          <a:p>
            <a:pPr algn="l" indent="0" marL="0">
              <a:buNone/>
            </a:pPr>
            <a:r>
              <a:rPr lang="en-US" sz="780" dirty="0">
                <a:solidFill>
                  <a:srgbClr val="87928B"/>
                </a:solidFill>
                <a:latin typeface="Aptos" pitchFamily="34" charset="0"/>
                <a:ea typeface="Aptos" pitchFamily="34" charset="-122"/>
                <a:cs typeface="Aptos" pitchFamily="34" charset="-120"/>
              </a:rPr>
              <a:t>Evidence, gaps, checks and interviews</a:t>
            </a:r>
            <a:endParaRPr lang="en-US" sz="780" dirty="0"/>
          </a:p>
        </p:txBody>
      </p:sp>
      <p:sp>
        <p:nvSpPr>
          <p:cNvPr id="16" name="Shape 14"/>
          <p:cNvSpPr/>
          <p:nvPr/>
        </p:nvSpPr>
        <p:spPr>
          <a:xfrm>
            <a:off x="3273552" y="1709928"/>
            <a:ext cx="2523744" cy="1097280"/>
          </a:xfrm>
          <a:prstGeom prst="roundRect">
            <a:avLst>
              <a:gd name="adj" fmla="val 10000"/>
            </a:avLst>
          </a:prstGeom>
          <a:solidFill>
            <a:srgbClr val="FFFFFF"/>
          </a:solidFill>
          <a:ln w="12700">
            <a:solidFill>
              <a:srgbClr val="DDE3DD"/>
            </a:solidFill>
            <a:prstDash val="solid"/>
          </a:ln>
        </p:spPr>
      </p:sp>
      <p:sp>
        <p:nvSpPr>
          <p:cNvPr id="17" name="Text 15"/>
          <p:cNvSpPr/>
          <p:nvPr/>
        </p:nvSpPr>
        <p:spPr>
          <a:xfrm>
            <a:off x="3474720" y="1856232"/>
            <a:ext cx="2121408" cy="457200"/>
          </a:xfrm>
          <a:prstGeom prst="rect">
            <a:avLst/>
          </a:prstGeom>
          <a:noFill/>
          <a:ln/>
        </p:spPr>
        <p:txBody>
          <a:bodyPr wrap="square" lIns="0" tIns="0" rIns="0" bIns="0" rtlCol="0" anchor="ctr">
            <a:normAutofit/>
          </a:bodyPr>
          <a:lstStyle/>
          <a:p>
            <a:pPr algn="l" indent="0" marL="0">
              <a:buNone/>
            </a:pPr>
            <a:r>
              <a:rPr lang="en-US" sz="2700" b="1" dirty="0">
                <a:solidFill>
                  <a:srgbClr val="426B87"/>
                </a:solidFill>
                <a:latin typeface="Aptos Display" pitchFamily="34" charset="0"/>
                <a:ea typeface="Aptos Display" pitchFamily="34" charset="-122"/>
                <a:cs typeface="Aptos Display" pitchFamily="34" charset="-120"/>
              </a:rPr>
              <a:t>49/49</a:t>
            </a:r>
            <a:endParaRPr lang="en-US" sz="2700" dirty="0"/>
          </a:p>
        </p:txBody>
      </p:sp>
      <p:sp>
        <p:nvSpPr>
          <p:cNvPr id="18" name="Text 16"/>
          <p:cNvSpPr/>
          <p:nvPr/>
        </p:nvSpPr>
        <p:spPr>
          <a:xfrm>
            <a:off x="3474720" y="2295144"/>
            <a:ext cx="2121408" cy="210312"/>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Automated tests passing</a:t>
            </a:r>
            <a:endParaRPr lang="en-US" sz="950" dirty="0"/>
          </a:p>
        </p:txBody>
      </p:sp>
      <p:sp>
        <p:nvSpPr>
          <p:cNvPr id="19" name="Text 17"/>
          <p:cNvSpPr/>
          <p:nvPr/>
        </p:nvSpPr>
        <p:spPr>
          <a:xfrm>
            <a:off x="3474720" y="2532888"/>
            <a:ext cx="2121408" cy="164592"/>
          </a:xfrm>
          <a:prstGeom prst="rect">
            <a:avLst/>
          </a:prstGeom>
          <a:noFill/>
          <a:ln/>
        </p:spPr>
        <p:txBody>
          <a:bodyPr wrap="square" lIns="0" tIns="0" rIns="0" bIns="0" rtlCol="0" anchor="ctr">
            <a:normAutofit/>
          </a:bodyPr>
          <a:lstStyle/>
          <a:p>
            <a:pPr algn="l" indent="0" marL="0">
              <a:buNone/>
            </a:pPr>
            <a:r>
              <a:rPr lang="en-US" sz="780" dirty="0">
                <a:solidFill>
                  <a:srgbClr val="87928B"/>
                </a:solidFill>
                <a:latin typeface="Aptos" pitchFamily="34" charset="0"/>
                <a:ea typeface="Aptos" pitchFamily="34" charset="-122"/>
                <a:cs typeface="Aptos" pitchFamily="34" charset="-120"/>
              </a:rPr>
              <a:t>Current project verification</a:t>
            </a:r>
            <a:endParaRPr lang="en-US" sz="780" dirty="0"/>
          </a:p>
        </p:txBody>
      </p:sp>
      <p:sp>
        <p:nvSpPr>
          <p:cNvPr id="20" name="Shape 18"/>
          <p:cNvSpPr/>
          <p:nvPr/>
        </p:nvSpPr>
        <p:spPr>
          <a:xfrm>
            <a:off x="5971032" y="1709928"/>
            <a:ext cx="2523744" cy="1097280"/>
          </a:xfrm>
          <a:prstGeom prst="roundRect">
            <a:avLst>
              <a:gd name="adj" fmla="val 10000"/>
            </a:avLst>
          </a:prstGeom>
          <a:solidFill>
            <a:srgbClr val="FFFFFF"/>
          </a:solidFill>
          <a:ln w="12700">
            <a:solidFill>
              <a:srgbClr val="DDE3DD"/>
            </a:solidFill>
            <a:prstDash val="solid"/>
          </a:ln>
        </p:spPr>
      </p:sp>
      <p:sp>
        <p:nvSpPr>
          <p:cNvPr id="21" name="Text 19"/>
          <p:cNvSpPr/>
          <p:nvPr/>
        </p:nvSpPr>
        <p:spPr>
          <a:xfrm>
            <a:off x="6172200" y="1856232"/>
            <a:ext cx="2121408" cy="457200"/>
          </a:xfrm>
          <a:prstGeom prst="rect">
            <a:avLst/>
          </a:prstGeom>
          <a:noFill/>
          <a:ln/>
        </p:spPr>
        <p:txBody>
          <a:bodyPr wrap="square" lIns="0" tIns="0" rIns="0" bIns="0" rtlCol="0" anchor="ctr">
            <a:normAutofit/>
          </a:bodyPr>
          <a:lstStyle/>
          <a:p>
            <a:pPr algn="l" indent="0" marL="0">
              <a:buNone/>
            </a:pPr>
            <a:r>
              <a:rPr lang="en-US" sz="2700" b="1" dirty="0">
                <a:solidFill>
                  <a:srgbClr val="C12E60"/>
                </a:solidFill>
                <a:latin typeface="Aptos Display" pitchFamily="34" charset="0"/>
                <a:ea typeface="Aptos Display" pitchFamily="34" charset="-122"/>
                <a:cs typeface="Aptos Display" pitchFamily="34" charset="-120"/>
              </a:rPr>
              <a:t>0%</a:t>
            </a:r>
            <a:endParaRPr lang="en-US" sz="2700" dirty="0"/>
          </a:p>
        </p:txBody>
      </p:sp>
      <p:sp>
        <p:nvSpPr>
          <p:cNvPr id="22" name="Text 20"/>
          <p:cNvSpPr/>
          <p:nvPr/>
        </p:nvSpPr>
        <p:spPr>
          <a:xfrm>
            <a:off x="6172200" y="2295144"/>
            <a:ext cx="2121408" cy="210312"/>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Fabricated evidence allowed</a:t>
            </a:r>
            <a:endParaRPr lang="en-US" sz="950" dirty="0"/>
          </a:p>
        </p:txBody>
      </p:sp>
      <p:sp>
        <p:nvSpPr>
          <p:cNvPr id="23" name="Text 21"/>
          <p:cNvSpPr/>
          <p:nvPr/>
        </p:nvSpPr>
        <p:spPr>
          <a:xfrm>
            <a:off x="6172200" y="2532888"/>
            <a:ext cx="2121408" cy="164592"/>
          </a:xfrm>
          <a:prstGeom prst="rect">
            <a:avLst/>
          </a:prstGeom>
          <a:noFill/>
          <a:ln/>
        </p:spPr>
        <p:txBody>
          <a:bodyPr wrap="square" lIns="0" tIns="0" rIns="0" bIns="0" rtlCol="0" anchor="ctr">
            <a:normAutofit/>
          </a:bodyPr>
          <a:lstStyle/>
          <a:p>
            <a:pPr algn="l" indent="0" marL="0">
              <a:buNone/>
            </a:pPr>
            <a:r>
              <a:rPr lang="en-US" sz="780" dirty="0">
                <a:solidFill>
                  <a:srgbClr val="87928B"/>
                </a:solidFill>
                <a:latin typeface="Aptos" pitchFamily="34" charset="0"/>
                <a:ea typeface="Aptos" pitchFamily="34" charset="-122"/>
                <a:cs typeface="Aptos" pitchFamily="34" charset="-120"/>
              </a:rPr>
              <a:t>Missing text remains missing</a:t>
            </a:r>
            <a:endParaRPr lang="en-US" sz="780" dirty="0"/>
          </a:p>
        </p:txBody>
      </p:sp>
      <p:sp>
        <p:nvSpPr>
          <p:cNvPr id="24" name="Shape 22"/>
          <p:cNvSpPr/>
          <p:nvPr/>
        </p:nvSpPr>
        <p:spPr>
          <a:xfrm>
            <a:off x="8668512" y="1709928"/>
            <a:ext cx="2523744" cy="1097280"/>
          </a:xfrm>
          <a:prstGeom prst="roundRect">
            <a:avLst>
              <a:gd name="adj" fmla="val 10000"/>
            </a:avLst>
          </a:prstGeom>
          <a:solidFill>
            <a:srgbClr val="FFFFFF"/>
          </a:solidFill>
          <a:ln w="12700">
            <a:solidFill>
              <a:srgbClr val="DDE3DD"/>
            </a:solidFill>
            <a:prstDash val="solid"/>
          </a:ln>
        </p:spPr>
      </p:sp>
      <p:sp>
        <p:nvSpPr>
          <p:cNvPr id="25" name="Text 23"/>
          <p:cNvSpPr/>
          <p:nvPr/>
        </p:nvSpPr>
        <p:spPr>
          <a:xfrm>
            <a:off x="8869680" y="1856232"/>
            <a:ext cx="2121408" cy="457200"/>
          </a:xfrm>
          <a:prstGeom prst="rect">
            <a:avLst/>
          </a:prstGeom>
          <a:noFill/>
          <a:ln/>
        </p:spPr>
        <p:txBody>
          <a:bodyPr wrap="square" lIns="0" tIns="0" rIns="0" bIns="0" rtlCol="0" anchor="ctr">
            <a:normAutofit/>
          </a:bodyPr>
          <a:lstStyle/>
          <a:p>
            <a:pPr algn="l" indent="0" marL="0">
              <a:buNone/>
            </a:pPr>
            <a:r>
              <a:rPr lang="en-US" sz="2700" b="1" dirty="0">
                <a:solidFill>
                  <a:srgbClr val="B07B25"/>
                </a:solidFill>
                <a:latin typeface="Aptos Display" pitchFamily="34" charset="0"/>
                <a:ea typeface="Aptos Display" pitchFamily="34" charset="-122"/>
                <a:cs typeface="Aptos Display" pitchFamily="34" charset="-120"/>
              </a:rPr>
              <a:t>HUMAN</a:t>
            </a:r>
            <a:endParaRPr lang="en-US" sz="2700" dirty="0"/>
          </a:p>
        </p:txBody>
      </p:sp>
      <p:sp>
        <p:nvSpPr>
          <p:cNvPr id="26" name="Text 24"/>
          <p:cNvSpPr/>
          <p:nvPr/>
        </p:nvSpPr>
        <p:spPr>
          <a:xfrm>
            <a:off x="8869680" y="2295144"/>
            <a:ext cx="2121408" cy="210312"/>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Final decision owner</a:t>
            </a:r>
            <a:endParaRPr lang="en-US" sz="950" dirty="0"/>
          </a:p>
        </p:txBody>
      </p:sp>
      <p:sp>
        <p:nvSpPr>
          <p:cNvPr id="27" name="Text 25"/>
          <p:cNvSpPr/>
          <p:nvPr/>
        </p:nvSpPr>
        <p:spPr>
          <a:xfrm>
            <a:off x="8869680" y="2532888"/>
            <a:ext cx="2121408" cy="164592"/>
          </a:xfrm>
          <a:prstGeom prst="rect">
            <a:avLst/>
          </a:prstGeom>
          <a:noFill/>
          <a:ln/>
        </p:spPr>
        <p:txBody>
          <a:bodyPr wrap="square" lIns="0" tIns="0" rIns="0" bIns="0" rtlCol="0" anchor="ctr">
            <a:normAutofit/>
          </a:bodyPr>
          <a:lstStyle/>
          <a:p>
            <a:pPr algn="l" indent="0" marL="0">
              <a:buNone/>
            </a:pPr>
            <a:r>
              <a:rPr lang="en-US" sz="780" dirty="0">
                <a:solidFill>
                  <a:srgbClr val="87928B"/>
                </a:solidFill>
                <a:latin typeface="Aptos" pitchFamily="34" charset="0"/>
                <a:ea typeface="Aptos" pitchFamily="34" charset="-122"/>
                <a:cs typeface="Aptos" pitchFamily="34" charset="-120"/>
              </a:rPr>
              <a:t>Agent recommends; recruiter decides</a:t>
            </a:r>
            <a:endParaRPr lang="en-US" sz="780" dirty="0"/>
          </a:p>
        </p:txBody>
      </p:sp>
      <p:sp>
        <p:nvSpPr>
          <p:cNvPr id="28" name="Shape 26"/>
          <p:cNvSpPr/>
          <p:nvPr/>
        </p:nvSpPr>
        <p:spPr>
          <a:xfrm>
            <a:off x="576072" y="3163824"/>
            <a:ext cx="2505456" cy="1965960"/>
          </a:xfrm>
          <a:prstGeom prst="roundRect">
            <a:avLst>
              <a:gd name="adj" fmla="val 5581"/>
            </a:avLst>
          </a:prstGeom>
          <a:solidFill>
            <a:srgbClr val="FFFFFF"/>
          </a:solidFill>
          <a:ln w="12700">
            <a:solidFill>
              <a:srgbClr val="DDE3DD"/>
            </a:solidFill>
            <a:prstDash val="solid"/>
          </a:ln>
        </p:spPr>
      </p:sp>
      <p:sp>
        <p:nvSpPr>
          <p:cNvPr id="29" name="Shape 27"/>
          <p:cNvSpPr/>
          <p:nvPr/>
        </p:nvSpPr>
        <p:spPr>
          <a:xfrm>
            <a:off x="777240" y="3383280"/>
            <a:ext cx="347472" cy="347472"/>
          </a:xfrm>
          <a:prstGeom prst="ellipse">
            <a:avLst/>
          </a:prstGeom>
          <a:solidFill>
            <a:srgbClr val="2E6B4A"/>
          </a:solidFill>
          <a:ln w="12700">
            <a:solidFill>
              <a:srgbClr val="2E6B4A"/>
            </a:solidFill>
            <a:prstDash val="solid"/>
          </a:ln>
        </p:spPr>
      </p:sp>
      <p:sp>
        <p:nvSpPr>
          <p:cNvPr id="30" name="Text 28"/>
          <p:cNvSpPr/>
          <p:nvPr/>
        </p:nvSpPr>
        <p:spPr>
          <a:xfrm>
            <a:off x="777240" y="3383280"/>
            <a:ext cx="347472" cy="34747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1</a:t>
            </a:r>
            <a:endParaRPr lang="en-US" sz="900" dirty="0"/>
          </a:p>
        </p:txBody>
      </p:sp>
      <p:sp>
        <p:nvSpPr>
          <p:cNvPr id="31" name="Text 29"/>
          <p:cNvSpPr/>
          <p:nvPr/>
        </p:nvSpPr>
        <p:spPr>
          <a:xfrm>
            <a:off x="1252728" y="3364992"/>
            <a:ext cx="1581912" cy="256032"/>
          </a:xfrm>
          <a:prstGeom prst="rect">
            <a:avLst/>
          </a:prstGeom>
          <a:noFill/>
          <a:ln/>
        </p:spPr>
        <p:txBody>
          <a:bodyPr wrap="square" lIns="0" tIns="0" rIns="0" bIns="0" rtlCol="0" anchor="ctr">
            <a:normAutofit/>
          </a:bodyPr>
          <a:lstStyle/>
          <a:p>
            <a:pPr algn="l" indent="0" marL="0">
              <a:buNone/>
            </a:pPr>
            <a:r>
              <a:rPr lang="en-US" sz="1200" b="1" dirty="0">
                <a:solidFill>
                  <a:srgbClr val="18221C"/>
                </a:solidFill>
                <a:latin typeface="Aptos" pitchFamily="34" charset="0"/>
                <a:ea typeface="Aptos" pitchFamily="34" charset="-122"/>
                <a:cs typeface="Aptos" pitchFamily="34" charset="-120"/>
              </a:rPr>
              <a:t>Campus hiring</a:t>
            </a:r>
            <a:endParaRPr lang="en-US" sz="1200" dirty="0"/>
          </a:p>
        </p:txBody>
      </p:sp>
      <p:sp>
        <p:nvSpPr>
          <p:cNvPr id="32" name="Text 30"/>
          <p:cNvSpPr/>
          <p:nvPr/>
        </p:nvSpPr>
        <p:spPr>
          <a:xfrm>
            <a:off x="795528" y="3995928"/>
            <a:ext cx="2039112" cy="694944"/>
          </a:xfrm>
          <a:prstGeom prst="rect">
            <a:avLst/>
          </a:prstGeom>
          <a:noFill/>
          <a:ln/>
        </p:spPr>
        <p:txBody>
          <a:bodyPr wrap="square" lIns="0" tIns="0" rIns="0" bIns="0" rtlCol="0" anchor="t">
            <a:normAutofit/>
          </a:bodyPr>
          <a:lstStyle/>
          <a:p>
            <a:pPr algn="ctr" indent="0" marL="0">
              <a:buNone/>
            </a:pPr>
            <a:r>
              <a:rPr lang="en-US" sz="1020" dirty="0">
                <a:solidFill>
                  <a:srgbClr val="5D6A62"/>
                </a:solidFill>
                <a:latin typeface="Aptos" pitchFamily="34" charset="0"/>
                <a:ea typeface="Aptos" pitchFamily="34" charset="-122"/>
                <a:cs typeface="Aptos" pitchFamily="34" charset="-120"/>
              </a:rPr>
              <a:t>Large junior pools with inconsistent resume language</a:t>
            </a:r>
            <a:endParaRPr lang="en-US" sz="1020" dirty="0"/>
          </a:p>
        </p:txBody>
      </p:sp>
      <p:sp>
        <p:nvSpPr>
          <p:cNvPr id="33" name="Shape 31"/>
          <p:cNvSpPr/>
          <p:nvPr/>
        </p:nvSpPr>
        <p:spPr>
          <a:xfrm>
            <a:off x="3319272" y="3163824"/>
            <a:ext cx="2505456" cy="1965960"/>
          </a:xfrm>
          <a:prstGeom prst="roundRect">
            <a:avLst>
              <a:gd name="adj" fmla="val 5581"/>
            </a:avLst>
          </a:prstGeom>
          <a:solidFill>
            <a:srgbClr val="FFFFFF"/>
          </a:solidFill>
          <a:ln w="12700">
            <a:solidFill>
              <a:srgbClr val="DDE3DD"/>
            </a:solidFill>
            <a:prstDash val="solid"/>
          </a:ln>
        </p:spPr>
      </p:sp>
      <p:sp>
        <p:nvSpPr>
          <p:cNvPr id="34" name="Shape 32"/>
          <p:cNvSpPr/>
          <p:nvPr/>
        </p:nvSpPr>
        <p:spPr>
          <a:xfrm>
            <a:off x="3520440" y="3383280"/>
            <a:ext cx="347472" cy="347472"/>
          </a:xfrm>
          <a:prstGeom prst="ellipse">
            <a:avLst/>
          </a:prstGeom>
          <a:solidFill>
            <a:srgbClr val="426B87"/>
          </a:solidFill>
          <a:ln w="12700">
            <a:solidFill>
              <a:srgbClr val="426B87"/>
            </a:solidFill>
            <a:prstDash val="solid"/>
          </a:ln>
        </p:spPr>
      </p:sp>
      <p:sp>
        <p:nvSpPr>
          <p:cNvPr id="35" name="Text 33"/>
          <p:cNvSpPr/>
          <p:nvPr/>
        </p:nvSpPr>
        <p:spPr>
          <a:xfrm>
            <a:off x="3520440" y="3383280"/>
            <a:ext cx="347472" cy="34747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2</a:t>
            </a:r>
            <a:endParaRPr lang="en-US" sz="900" dirty="0"/>
          </a:p>
        </p:txBody>
      </p:sp>
      <p:sp>
        <p:nvSpPr>
          <p:cNvPr id="36" name="Text 34"/>
          <p:cNvSpPr/>
          <p:nvPr/>
        </p:nvSpPr>
        <p:spPr>
          <a:xfrm>
            <a:off x="3995928" y="3364992"/>
            <a:ext cx="1581912" cy="256032"/>
          </a:xfrm>
          <a:prstGeom prst="rect">
            <a:avLst/>
          </a:prstGeom>
          <a:noFill/>
          <a:ln/>
        </p:spPr>
        <p:txBody>
          <a:bodyPr wrap="square" lIns="0" tIns="0" rIns="0" bIns="0" rtlCol="0" anchor="ctr">
            <a:normAutofit/>
          </a:bodyPr>
          <a:lstStyle/>
          <a:p>
            <a:pPr algn="l" indent="0" marL="0">
              <a:buNone/>
            </a:pPr>
            <a:r>
              <a:rPr lang="en-US" sz="1200" b="1" dirty="0">
                <a:solidFill>
                  <a:srgbClr val="18221C"/>
                </a:solidFill>
                <a:latin typeface="Aptos" pitchFamily="34" charset="0"/>
                <a:ea typeface="Aptos" pitchFamily="34" charset="-122"/>
                <a:cs typeface="Aptos" pitchFamily="34" charset="-120"/>
              </a:rPr>
              <a:t>Startups</a:t>
            </a:r>
            <a:endParaRPr lang="en-US" sz="1200" dirty="0"/>
          </a:p>
        </p:txBody>
      </p:sp>
      <p:sp>
        <p:nvSpPr>
          <p:cNvPr id="37" name="Text 35"/>
          <p:cNvSpPr/>
          <p:nvPr/>
        </p:nvSpPr>
        <p:spPr>
          <a:xfrm>
            <a:off x="3538728" y="3995928"/>
            <a:ext cx="2039112" cy="694944"/>
          </a:xfrm>
          <a:prstGeom prst="rect">
            <a:avLst/>
          </a:prstGeom>
          <a:noFill/>
          <a:ln/>
        </p:spPr>
        <p:txBody>
          <a:bodyPr wrap="square" lIns="0" tIns="0" rIns="0" bIns="0" rtlCol="0" anchor="t">
            <a:normAutofit/>
          </a:bodyPr>
          <a:lstStyle/>
          <a:p>
            <a:pPr algn="ctr" indent="0" marL="0">
              <a:buNone/>
            </a:pPr>
            <a:r>
              <a:rPr lang="en-US" sz="1020" dirty="0">
                <a:solidFill>
                  <a:srgbClr val="5D6A62"/>
                </a:solidFill>
                <a:latin typeface="Aptos" pitchFamily="34" charset="0"/>
                <a:ea typeface="Aptos" pitchFamily="34" charset="-122"/>
                <a:cs typeface="Aptos" pitchFamily="34" charset="-120"/>
              </a:rPr>
              <a:t>Lean recruiting teams that need explainable first review</a:t>
            </a:r>
            <a:endParaRPr lang="en-US" sz="1020" dirty="0"/>
          </a:p>
        </p:txBody>
      </p:sp>
      <p:sp>
        <p:nvSpPr>
          <p:cNvPr id="38" name="Shape 36"/>
          <p:cNvSpPr/>
          <p:nvPr/>
        </p:nvSpPr>
        <p:spPr>
          <a:xfrm>
            <a:off x="6062472" y="3163824"/>
            <a:ext cx="2505456" cy="1965960"/>
          </a:xfrm>
          <a:prstGeom prst="roundRect">
            <a:avLst>
              <a:gd name="adj" fmla="val 5581"/>
            </a:avLst>
          </a:prstGeom>
          <a:solidFill>
            <a:srgbClr val="FFFFFF"/>
          </a:solidFill>
          <a:ln w="12700">
            <a:solidFill>
              <a:srgbClr val="DDE3DD"/>
            </a:solidFill>
            <a:prstDash val="solid"/>
          </a:ln>
        </p:spPr>
      </p:sp>
      <p:sp>
        <p:nvSpPr>
          <p:cNvPr id="39" name="Shape 37"/>
          <p:cNvSpPr/>
          <p:nvPr/>
        </p:nvSpPr>
        <p:spPr>
          <a:xfrm>
            <a:off x="6263640" y="3383280"/>
            <a:ext cx="347472" cy="347472"/>
          </a:xfrm>
          <a:prstGeom prst="ellipse">
            <a:avLst/>
          </a:prstGeom>
          <a:solidFill>
            <a:srgbClr val="C12E60"/>
          </a:solidFill>
          <a:ln w="12700">
            <a:solidFill>
              <a:srgbClr val="C12E60"/>
            </a:solidFill>
            <a:prstDash val="solid"/>
          </a:ln>
        </p:spPr>
      </p:sp>
      <p:sp>
        <p:nvSpPr>
          <p:cNvPr id="40" name="Text 38"/>
          <p:cNvSpPr/>
          <p:nvPr/>
        </p:nvSpPr>
        <p:spPr>
          <a:xfrm>
            <a:off x="6263640" y="3383280"/>
            <a:ext cx="347472" cy="34747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3</a:t>
            </a:r>
            <a:endParaRPr lang="en-US" sz="900" dirty="0"/>
          </a:p>
        </p:txBody>
      </p:sp>
      <p:sp>
        <p:nvSpPr>
          <p:cNvPr id="41" name="Text 39"/>
          <p:cNvSpPr/>
          <p:nvPr/>
        </p:nvSpPr>
        <p:spPr>
          <a:xfrm>
            <a:off x="6739128" y="3364992"/>
            <a:ext cx="1581912" cy="256032"/>
          </a:xfrm>
          <a:prstGeom prst="rect">
            <a:avLst/>
          </a:prstGeom>
          <a:noFill/>
          <a:ln/>
        </p:spPr>
        <p:txBody>
          <a:bodyPr wrap="square" lIns="0" tIns="0" rIns="0" bIns="0" rtlCol="0" anchor="ctr">
            <a:normAutofit/>
          </a:bodyPr>
          <a:lstStyle/>
          <a:p>
            <a:pPr algn="l" indent="0" marL="0">
              <a:buNone/>
            </a:pPr>
            <a:r>
              <a:rPr lang="en-US" sz="1200" b="1" dirty="0">
                <a:solidFill>
                  <a:srgbClr val="18221C"/>
                </a:solidFill>
                <a:latin typeface="Aptos" pitchFamily="34" charset="0"/>
                <a:ea typeface="Aptos" pitchFamily="34" charset="-122"/>
                <a:cs typeface="Aptos" pitchFamily="34" charset="-120"/>
              </a:rPr>
              <a:t>Agencies</a:t>
            </a:r>
            <a:endParaRPr lang="en-US" sz="1200" dirty="0"/>
          </a:p>
        </p:txBody>
      </p:sp>
      <p:sp>
        <p:nvSpPr>
          <p:cNvPr id="42" name="Text 40"/>
          <p:cNvSpPr/>
          <p:nvPr/>
        </p:nvSpPr>
        <p:spPr>
          <a:xfrm>
            <a:off x="6281928" y="3995928"/>
            <a:ext cx="2039112" cy="694944"/>
          </a:xfrm>
          <a:prstGeom prst="rect">
            <a:avLst/>
          </a:prstGeom>
          <a:noFill/>
          <a:ln/>
        </p:spPr>
        <p:txBody>
          <a:bodyPr wrap="square" lIns="0" tIns="0" rIns="0" bIns="0" rtlCol="0" anchor="t">
            <a:normAutofit/>
          </a:bodyPr>
          <a:lstStyle/>
          <a:p>
            <a:pPr algn="ctr" indent="0" marL="0">
              <a:buNone/>
            </a:pPr>
            <a:r>
              <a:rPr lang="en-US" sz="1020" dirty="0">
                <a:solidFill>
                  <a:srgbClr val="5D6A62"/>
                </a:solidFill>
                <a:latin typeface="Aptos" pitchFamily="34" charset="0"/>
                <a:ea typeface="Aptos" pitchFamily="34" charset="-122"/>
                <a:cs typeface="Aptos" pitchFamily="34" charset="-120"/>
              </a:rPr>
              <a:t>Comparable candidate summaries across client requisitions</a:t>
            </a:r>
            <a:endParaRPr lang="en-US" sz="1020" dirty="0"/>
          </a:p>
        </p:txBody>
      </p:sp>
      <p:sp>
        <p:nvSpPr>
          <p:cNvPr id="43" name="Shape 41"/>
          <p:cNvSpPr/>
          <p:nvPr/>
        </p:nvSpPr>
        <p:spPr>
          <a:xfrm>
            <a:off x="8805672" y="3163824"/>
            <a:ext cx="2505456" cy="1965960"/>
          </a:xfrm>
          <a:prstGeom prst="roundRect">
            <a:avLst>
              <a:gd name="adj" fmla="val 5581"/>
            </a:avLst>
          </a:prstGeom>
          <a:solidFill>
            <a:srgbClr val="FFFFFF"/>
          </a:solidFill>
          <a:ln w="12700">
            <a:solidFill>
              <a:srgbClr val="DDE3DD"/>
            </a:solidFill>
            <a:prstDash val="solid"/>
          </a:ln>
        </p:spPr>
      </p:sp>
      <p:sp>
        <p:nvSpPr>
          <p:cNvPr id="44" name="Shape 42"/>
          <p:cNvSpPr/>
          <p:nvPr/>
        </p:nvSpPr>
        <p:spPr>
          <a:xfrm>
            <a:off x="9006840" y="3383280"/>
            <a:ext cx="347472" cy="347472"/>
          </a:xfrm>
          <a:prstGeom prst="ellipse">
            <a:avLst/>
          </a:prstGeom>
          <a:solidFill>
            <a:srgbClr val="B07B25"/>
          </a:solidFill>
          <a:ln w="12700">
            <a:solidFill>
              <a:srgbClr val="B07B25"/>
            </a:solidFill>
            <a:prstDash val="solid"/>
          </a:ln>
        </p:spPr>
      </p:sp>
      <p:sp>
        <p:nvSpPr>
          <p:cNvPr id="45" name="Text 43"/>
          <p:cNvSpPr/>
          <p:nvPr/>
        </p:nvSpPr>
        <p:spPr>
          <a:xfrm>
            <a:off x="9006840" y="3383280"/>
            <a:ext cx="347472" cy="34747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4</a:t>
            </a:r>
            <a:endParaRPr lang="en-US" sz="900" dirty="0"/>
          </a:p>
        </p:txBody>
      </p:sp>
      <p:sp>
        <p:nvSpPr>
          <p:cNvPr id="46" name="Text 44"/>
          <p:cNvSpPr/>
          <p:nvPr/>
        </p:nvSpPr>
        <p:spPr>
          <a:xfrm>
            <a:off x="9482328" y="3364992"/>
            <a:ext cx="1581912" cy="256032"/>
          </a:xfrm>
          <a:prstGeom prst="rect">
            <a:avLst/>
          </a:prstGeom>
          <a:noFill/>
          <a:ln/>
        </p:spPr>
        <p:txBody>
          <a:bodyPr wrap="square" lIns="0" tIns="0" rIns="0" bIns="0" rtlCol="0" anchor="ctr">
            <a:normAutofit/>
          </a:bodyPr>
          <a:lstStyle/>
          <a:p>
            <a:pPr algn="l" indent="0" marL="0">
              <a:buNone/>
            </a:pPr>
            <a:r>
              <a:rPr lang="en-US" sz="1200" b="1" dirty="0">
                <a:solidFill>
                  <a:srgbClr val="18221C"/>
                </a:solidFill>
                <a:latin typeface="Aptos" pitchFamily="34" charset="0"/>
                <a:ea typeface="Aptos" pitchFamily="34" charset="-122"/>
                <a:cs typeface="Aptos" pitchFamily="34" charset="-120"/>
              </a:rPr>
              <a:t>Enterprise teams</a:t>
            </a:r>
            <a:endParaRPr lang="en-US" sz="1200" dirty="0"/>
          </a:p>
        </p:txBody>
      </p:sp>
      <p:sp>
        <p:nvSpPr>
          <p:cNvPr id="47" name="Text 45"/>
          <p:cNvSpPr/>
          <p:nvPr/>
        </p:nvSpPr>
        <p:spPr>
          <a:xfrm>
            <a:off x="9025128" y="3995928"/>
            <a:ext cx="2039112" cy="694944"/>
          </a:xfrm>
          <a:prstGeom prst="rect">
            <a:avLst/>
          </a:prstGeom>
          <a:noFill/>
          <a:ln/>
        </p:spPr>
        <p:txBody>
          <a:bodyPr wrap="square" lIns="0" tIns="0" rIns="0" bIns="0" rtlCol="0" anchor="t">
            <a:normAutofit/>
          </a:bodyPr>
          <a:lstStyle/>
          <a:p>
            <a:pPr algn="ctr" indent="0" marL="0">
              <a:buNone/>
            </a:pPr>
            <a:r>
              <a:rPr lang="en-US" sz="1020" dirty="0">
                <a:solidFill>
                  <a:srgbClr val="5D6A62"/>
                </a:solidFill>
                <a:latin typeface="Aptos" pitchFamily="34" charset="0"/>
                <a:ea typeface="Aptos" pitchFamily="34" charset="-122"/>
                <a:cs typeface="Aptos" pitchFamily="34" charset="-120"/>
              </a:rPr>
              <a:t>Auditable evidence packets for structured review</a:t>
            </a:r>
            <a:endParaRPr lang="en-US" sz="1020" dirty="0"/>
          </a:p>
        </p:txBody>
      </p:sp>
      <p:sp>
        <p:nvSpPr>
          <p:cNvPr id="48" name="Shape 46"/>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49" name="Shape 47"/>
          <p:cNvSpPr/>
          <p:nvPr/>
        </p:nvSpPr>
        <p:spPr>
          <a:xfrm>
            <a:off x="685800" y="6044184"/>
            <a:ext cx="164592" cy="164592"/>
          </a:xfrm>
          <a:prstGeom prst="ellipse">
            <a:avLst/>
          </a:prstGeom>
          <a:solidFill>
            <a:srgbClr val="CDEB8B"/>
          </a:solidFill>
          <a:ln w="12700">
            <a:solidFill>
              <a:srgbClr val="CDEB8B"/>
            </a:solidFill>
            <a:prstDash val="solid"/>
          </a:ln>
        </p:spPr>
      </p:sp>
      <p:sp>
        <p:nvSpPr>
          <p:cNvPr id="50" name="Text 48"/>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1" name="Text 49"/>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Describe impact as better review quality and transparency, not guaranteed hiring accuracy.</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ENGINEERING LESSONS</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18</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Challenges faced and solutions implemented</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Each difficult edge case became an explicit rule or product boundary.</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682496"/>
            <a:ext cx="11045952" cy="475488"/>
          </a:xfrm>
          <a:prstGeom prst="roundRect">
            <a:avLst>
              <a:gd name="adj" fmla="val 23077"/>
            </a:avLst>
          </a:prstGeom>
          <a:solidFill>
            <a:srgbClr val="18221C"/>
          </a:solidFill>
          <a:ln w="12700">
            <a:solidFill>
              <a:srgbClr val="18221C"/>
            </a:solidFill>
            <a:prstDash val="solid"/>
          </a:ln>
        </p:spPr>
      </p:sp>
      <p:sp>
        <p:nvSpPr>
          <p:cNvPr id="13" name="Text 11"/>
          <p:cNvSpPr/>
          <p:nvPr/>
        </p:nvSpPr>
        <p:spPr>
          <a:xfrm>
            <a:off x="859536" y="1819656"/>
            <a:ext cx="310896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FFFFFF"/>
                </a:solidFill>
                <a:latin typeface="Aptos" pitchFamily="34" charset="0"/>
                <a:ea typeface="Aptos" pitchFamily="34" charset="-122"/>
                <a:cs typeface="Aptos" pitchFamily="34" charset="-120"/>
              </a:rPr>
              <a:t>CHALLENGE</a:t>
            </a:r>
            <a:endParaRPr lang="en-US" sz="800" dirty="0"/>
          </a:p>
        </p:txBody>
      </p:sp>
      <p:sp>
        <p:nvSpPr>
          <p:cNvPr id="14" name="Text 12"/>
          <p:cNvSpPr/>
          <p:nvPr/>
        </p:nvSpPr>
        <p:spPr>
          <a:xfrm>
            <a:off x="4242816" y="1819656"/>
            <a:ext cx="6784848"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FFFFFF"/>
                </a:solidFill>
                <a:latin typeface="Aptos" pitchFamily="34" charset="0"/>
                <a:ea typeface="Aptos" pitchFamily="34" charset="-122"/>
                <a:cs typeface="Aptos" pitchFamily="34" charset="-120"/>
              </a:rPr>
              <a:t>SOLUTION IMPLEMENTED</a:t>
            </a:r>
            <a:endParaRPr lang="en-US" sz="800" dirty="0"/>
          </a:p>
        </p:txBody>
      </p:sp>
      <p:sp>
        <p:nvSpPr>
          <p:cNvPr id="15" name="Shape 13"/>
          <p:cNvSpPr/>
          <p:nvPr/>
        </p:nvSpPr>
        <p:spPr>
          <a:xfrm>
            <a:off x="566928" y="2231136"/>
            <a:ext cx="11045952" cy="402336"/>
          </a:xfrm>
          <a:prstGeom prst="rect">
            <a:avLst/>
          </a:prstGeom>
          <a:solidFill>
            <a:srgbClr val="FFFFFF"/>
          </a:solidFill>
          <a:ln w="6350">
            <a:solidFill>
              <a:srgbClr val="DDE3DD"/>
            </a:solidFill>
            <a:prstDash val="solid"/>
          </a:ln>
        </p:spPr>
      </p:sp>
      <p:sp>
        <p:nvSpPr>
          <p:cNvPr id="16" name="Shape 14"/>
          <p:cNvSpPr/>
          <p:nvPr/>
        </p:nvSpPr>
        <p:spPr>
          <a:xfrm>
            <a:off x="841248" y="2350008"/>
            <a:ext cx="146304" cy="146304"/>
          </a:xfrm>
          <a:prstGeom prst="ellipse">
            <a:avLst/>
          </a:prstGeom>
          <a:solidFill>
            <a:srgbClr val="C12E60"/>
          </a:solidFill>
          <a:ln w="12700">
            <a:solidFill>
              <a:srgbClr val="C12E60"/>
            </a:solidFill>
            <a:prstDash val="solid"/>
          </a:ln>
        </p:spPr>
      </p:sp>
      <p:sp>
        <p:nvSpPr>
          <p:cNvPr id="17" name="Text 15"/>
          <p:cNvSpPr/>
          <p:nvPr/>
        </p:nvSpPr>
        <p:spPr>
          <a:xfrm>
            <a:off x="1143000" y="22768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Unsupported resume claims</a:t>
            </a:r>
            <a:endParaRPr lang="en-US" sz="950" dirty="0"/>
          </a:p>
        </p:txBody>
      </p:sp>
      <p:sp>
        <p:nvSpPr>
          <p:cNvPr id="18" name="Text 16"/>
          <p:cNvSpPr/>
          <p:nvPr/>
        </p:nvSpPr>
        <p:spPr>
          <a:xfrm>
            <a:off x="4242816" y="22768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Evidence-quality ladder + zero confidence when no passage exists</a:t>
            </a:r>
            <a:endParaRPr lang="en-US" sz="950" dirty="0"/>
          </a:p>
        </p:txBody>
      </p:sp>
      <p:sp>
        <p:nvSpPr>
          <p:cNvPr id="19" name="Shape 17"/>
          <p:cNvSpPr/>
          <p:nvPr/>
        </p:nvSpPr>
        <p:spPr>
          <a:xfrm>
            <a:off x="566928" y="2688336"/>
            <a:ext cx="11045952" cy="402336"/>
          </a:xfrm>
          <a:prstGeom prst="rect">
            <a:avLst/>
          </a:prstGeom>
          <a:solidFill>
            <a:srgbClr val="F6F7F5"/>
          </a:solidFill>
          <a:ln w="6350">
            <a:solidFill>
              <a:srgbClr val="DDE3DD"/>
            </a:solidFill>
            <a:prstDash val="solid"/>
          </a:ln>
        </p:spPr>
      </p:sp>
      <p:sp>
        <p:nvSpPr>
          <p:cNvPr id="20" name="Shape 18"/>
          <p:cNvSpPr/>
          <p:nvPr/>
        </p:nvSpPr>
        <p:spPr>
          <a:xfrm>
            <a:off x="841248" y="2807208"/>
            <a:ext cx="146304" cy="146304"/>
          </a:xfrm>
          <a:prstGeom prst="ellipse">
            <a:avLst/>
          </a:prstGeom>
          <a:solidFill>
            <a:srgbClr val="426B87"/>
          </a:solidFill>
          <a:ln w="12700">
            <a:solidFill>
              <a:srgbClr val="426B87"/>
            </a:solidFill>
            <a:prstDash val="solid"/>
          </a:ln>
        </p:spPr>
      </p:sp>
      <p:sp>
        <p:nvSpPr>
          <p:cNvPr id="21" name="Text 19"/>
          <p:cNvSpPr/>
          <p:nvPr/>
        </p:nvSpPr>
        <p:spPr>
          <a:xfrm>
            <a:off x="1143000" y="27340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Equivalent terminology</a:t>
            </a:r>
            <a:endParaRPr lang="en-US" sz="950" dirty="0"/>
          </a:p>
        </p:txBody>
      </p:sp>
      <p:sp>
        <p:nvSpPr>
          <p:cNvPr id="22" name="Text 20"/>
          <p:cNvSpPr/>
          <p:nvPr/>
        </p:nvSpPr>
        <p:spPr>
          <a:xfrm>
            <a:off x="4242816" y="27340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Approved aliases + Requirement Intelligence Agent</a:t>
            </a:r>
            <a:endParaRPr lang="en-US" sz="950" dirty="0"/>
          </a:p>
        </p:txBody>
      </p:sp>
      <p:sp>
        <p:nvSpPr>
          <p:cNvPr id="23" name="Shape 21"/>
          <p:cNvSpPr/>
          <p:nvPr/>
        </p:nvSpPr>
        <p:spPr>
          <a:xfrm>
            <a:off x="566928" y="3145536"/>
            <a:ext cx="11045952" cy="402336"/>
          </a:xfrm>
          <a:prstGeom prst="rect">
            <a:avLst/>
          </a:prstGeom>
          <a:solidFill>
            <a:srgbClr val="FFFFFF"/>
          </a:solidFill>
          <a:ln w="6350">
            <a:solidFill>
              <a:srgbClr val="DDE3DD"/>
            </a:solidFill>
            <a:prstDash val="solid"/>
          </a:ln>
        </p:spPr>
      </p:sp>
      <p:sp>
        <p:nvSpPr>
          <p:cNvPr id="24" name="Shape 22"/>
          <p:cNvSpPr/>
          <p:nvPr/>
        </p:nvSpPr>
        <p:spPr>
          <a:xfrm>
            <a:off x="841248" y="3264408"/>
            <a:ext cx="146304" cy="146304"/>
          </a:xfrm>
          <a:prstGeom prst="ellipse">
            <a:avLst/>
          </a:prstGeom>
          <a:solidFill>
            <a:srgbClr val="B4443B"/>
          </a:solidFill>
          <a:ln w="12700">
            <a:solidFill>
              <a:srgbClr val="B4443B"/>
            </a:solidFill>
            <a:prstDash val="solid"/>
          </a:ln>
        </p:spPr>
      </p:sp>
      <p:sp>
        <p:nvSpPr>
          <p:cNvPr id="25" name="Text 23"/>
          <p:cNvSpPr/>
          <p:nvPr/>
        </p:nvSpPr>
        <p:spPr>
          <a:xfrm>
            <a:off x="1143000" y="31912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Conflicting statements</a:t>
            </a:r>
            <a:endParaRPr lang="en-US" sz="950" dirty="0"/>
          </a:p>
        </p:txBody>
      </p:sp>
      <p:sp>
        <p:nvSpPr>
          <p:cNvPr id="26" name="Text 24"/>
          <p:cNvSpPr/>
          <p:nvPr/>
        </p:nvSpPr>
        <p:spPr>
          <a:xfrm>
            <a:off x="4242816" y="31912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Source passages, timelines, offsets and confidence caps</a:t>
            </a:r>
            <a:endParaRPr lang="en-US" sz="950" dirty="0"/>
          </a:p>
        </p:txBody>
      </p:sp>
      <p:sp>
        <p:nvSpPr>
          <p:cNvPr id="27" name="Shape 25"/>
          <p:cNvSpPr/>
          <p:nvPr/>
        </p:nvSpPr>
        <p:spPr>
          <a:xfrm>
            <a:off x="566928" y="3602736"/>
            <a:ext cx="11045952" cy="402336"/>
          </a:xfrm>
          <a:prstGeom prst="rect">
            <a:avLst/>
          </a:prstGeom>
          <a:solidFill>
            <a:srgbClr val="F6F7F5"/>
          </a:solidFill>
          <a:ln w="6350">
            <a:solidFill>
              <a:srgbClr val="DDE3DD"/>
            </a:solidFill>
            <a:prstDash val="solid"/>
          </a:ln>
        </p:spPr>
      </p:sp>
      <p:sp>
        <p:nvSpPr>
          <p:cNvPr id="28" name="Shape 26"/>
          <p:cNvSpPr/>
          <p:nvPr/>
        </p:nvSpPr>
        <p:spPr>
          <a:xfrm>
            <a:off x="841248" y="3721608"/>
            <a:ext cx="146304" cy="146304"/>
          </a:xfrm>
          <a:prstGeom prst="ellipse">
            <a:avLst/>
          </a:prstGeom>
          <a:solidFill>
            <a:srgbClr val="B07B25"/>
          </a:solidFill>
          <a:ln w="12700">
            <a:solidFill>
              <a:srgbClr val="B07B25"/>
            </a:solidFill>
            <a:prstDash val="solid"/>
          </a:ln>
        </p:spPr>
      </p:sp>
      <p:sp>
        <p:nvSpPr>
          <p:cNvPr id="29" name="Text 27"/>
          <p:cNvSpPr/>
          <p:nvPr/>
        </p:nvSpPr>
        <p:spPr>
          <a:xfrm>
            <a:off x="1143000" y="36484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Impossible requisition</a:t>
            </a:r>
            <a:endParaRPr lang="en-US" sz="950" dirty="0"/>
          </a:p>
        </p:txBody>
      </p:sp>
      <p:sp>
        <p:nvSpPr>
          <p:cNvPr id="30" name="Text 28"/>
          <p:cNvSpPr/>
          <p:nvPr/>
        </p:nvSpPr>
        <p:spPr>
          <a:xfrm>
            <a:off x="4242816" y="36484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Pool coverage, structural conflicts and closest-fit shortlist</a:t>
            </a:r>
            <a:endParaRPr lang="en-US" sz="950" dirty="0"/>
          </a:p>
        </p:txBody>
      </p:sp>
      <p:sp>
        <p:nvSpPr>
          <p:cNvPr id="31" name="Shape 29"/>
          <p:cNvSpPr/>
          <p:nvPr/>
        </p:nvSpPr>
        <p:spPr>
          <a:xfrm>
            <a:off x="566928" y="4059936"/>
            <a:ext cx="11045952" cy="402336"/>
          </a:xfrm>
          <a:prstGeom prst="rect">
            <a:avLst/>
          </a:prstGeom>
          <a:solidFill>
            <a:srgbClr val="FFFFFF"/>
          </a:solidFill>
          <a:ln w="6350">
            <a:solidFill>
              <a:srgbClr val="DDE3DD"/>
            </a:solidFill>
            <a:prstDash val="solid"/>
          </a:ln>
        </p:spPr>
      </p:sp>
      <p:sp>
        <p:nvSpPr>
          <p:cNvPr id="32" name="Shape 30"/>
          <p:cNvSpPr/>
          <p:nvPr/>
        </p:nvSpPr>
        <p:spPr>
          <a:xfrm>
            <a:off x="841248" y="4178808"/>
            <a:ext cx="146304" cy="146304"/>
          </a:xfrm>
          <a:prstGeom prst="ellipse">
            <a:avLst/>
          </a:prstGeom>
          <a:solidFill>
            <a:srgbClr val="426B87"/>
          </a:solidFill>
          <a:ln w="12700">
            <a:solidFill>
              <a:srgbClr val="426B87"/>
            </a:solidFill>
            <a:prstDash val="solid"/>
          </a:ln>
        </p:spPr>
      </p:sp>
      <p:sp>
        <p:nvSpPr>
          <p:cNvPr id="33" name="Text 31"/>
          <p:cNvSpPr/>
          <p:nvPr/>
        </p:nvSpPr>
        <p:spPr>
          <a:xfrm>
            <a:off x="1143000" y="41056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LinkedIn restrictions</a:t>
            </a:r>
            <a:endParaRPr lang="en-US" sz="950" dirty="0"/>
          </a:p>
        </p:txBody>
      </p:sp>
      <p:sp>
        <p:nvSpPr>
          <p:cNvPr id="34" name="Text 32"/>
          <p:cNvSpPr/>
          <p:nvPr/>
        </p:nvSpPr>
        <p:spPr>
          <a:xfrm>
            <a:off x="4242816" y="41056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No scraping; consented OIDC and authorized evidence only</a:t>
            </a:r>
            <a:endParaRPr lang="en-US" sz="950" dirty="0"/>
          </a:p>
        </p:txBody>
      </p:sp>
      <p:sp>
        <p:nvSpPr>
          <p:cNvPr id="35" name="Shape 33"/>
          <p:cNvSpPr/>
          <p:nvPr/>
        </p:nvSpPr>
        <p:spPr>
          <a:xfrm>
            <a:off x="566928" y="4517136"/>
            <a:ext cx="11045952" cy="402336"/>
          </a:xfrm>
          <a:prstGeom prst="rect">
            <a:avLst/>
          </a:prstGeom>
          <a:solidFill>
            <a:srgbClr val="F6F7F5"/>
          </a:solidFill>
          <a:ln w="6350">
            <a:solidFill>
              <a:srgbClr val="DDE3DD"/>
            </a:solidFill>
            <a:prstDash val="solid"/>
          </a:ln>
        </p:spPr>
      </p:sp>
      <p:sp>
        <p:nvSpPr>
          <p:cNvPr id="36" name="Shape 34"/>
          <p:cNvSpPr/>
          <p:nvPr/>
        </p:nvSpPr>
        <p:spPr>
          <a:xfrm>
            <a:off x="841248" y="4636008"/>
            <a:ext cx="146304" cy="146304"/>
          </a:xfrm>
          <a:prstGeom prst="ellipse">
            <a:avLst/>
          </a:prstGeom>
          <a:solidFill>
            <a:srgbClr val="2E6B4A"/>
          </a:solidFill>
          <a:ln w="12700">
            <a:solidFill>
              <a:srgbClr val="2E6B4A"/>
            </a:solidFill>
            <a:prstDash val="solid"/>
          </a:ln>
        </p:spPr>
      </p:sp>
      <p:sp>
        <p:nvSpPr>
          <p:cNvPr id="37" name="Text 35"/>
          <p:cNvSpPr/>
          <p:nvPr/>
        </p:nvSpPr>
        <p:spPr>
          <a:xfrm>
            <a:off x="1143000" y="45628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Requisition changes</a:t>
            </a:r>
            <a:endParaRPr lang="en-US" sz="950" dirty="0"/>
          </a:p>
        </p:txBody>
      </p:sp>
      <p:sp>
        <p:nvSpPr>
          <p:cNvPr id="38" name="Text 36"/>
          <p:cNvSpPr/>
          <p:nvPr/>
        </p:nvSpPr>
        <p:spPr>
          <a:xfrm>
            <a:off x="4242816" y="45628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Clear stale criterion mappings before rescreening</a:t>
            </a:r>
            <a:endParaRPr lang="en-US" sz="950" dirty="0"/>
          </a:p>
        </p:txBody>
      </p:sp>
      <p:sp>
        <p:nvSpPr>
          <p:cNvPr id="39" name="Shape 37"/>
          <p:cNvSpPr/>
          <p:nvPr/>
        </p:nvSpPr>
        <p:spPr>
          <a:xfrm>
            <a:off x="566928" y="4974336"/>
            <a:ext cx="11045952" cy="402336"/>
          </a:xfrm>
          <a:prstGeom prst="rect">
            <a:avLst/>
          </a:prstGeom>
          <a:solidFill>
            <a:srgbClr val="FFFFFF"/>
          </a:solidFill>
          <a:ln w="6350">
            <a:solidFill>
              <a:srgbClr val="DDE3DD"/>
            </a:solidFill>
            <a:prstDash val="solid"/>
          </a:ln>
        </p:spPr>
      </p:sp>
      <p:sp>
        <p:nvSpPr>
          <p:cNvPr id="40" name="Shape 38"/>
          <p:cNvSpPr/>
          <p:nvPr/>
        </p:nvSpPr>
        <p:spPr>
          <a:xfrm>
            <a:off x="841248" y="5093208"/>
            <a:ext cx="146304" cy="146304"/>
          </a:xfrm>
          <a:prstGeom prst="ellipse">
            <a:avLst/>
          </a:prstGeom>
          <a:solidFill>
            <a:srgbClr val="C12E60"/>
          </a:solidFill>
          <a:ln w="12700">
            <a:solidFill>
              <a:srgbClr val="C12E60"/>
            </a:solidFill>
            <a:prstDash val="solid"/>
          </a:ln>
        </p:spPr>
      </p:sp>
      <p:sp>
        <p:nvSpPr>
          <p:cNvPr id="41" name="Text 39"/>
          <p:cNvSpPr/>
          <p:nvPr/>
        </p:nvSpPr>
        <p:spPr>
          <a:xfrm>
            <a:off x="1143000" y="5020056"/>
            <a:ext cx="2816352" cy="274320"/>
          </a:xfrm>
          <a:prstGeom prst="rect">
            <a:avLst/>
          </a:prstGeom>
          <a:noFill/>
          <a:ln/>
        </p:spPr>
        <p:txBody>
          <a:bodyPr wrap="square" lIns="0" tIns="0" rIns="0" bIns="0" rtlCol="0" anchor="ctr">
            <a:normAutofit/>
          </a:bodyPr>
          <a:lstStyle/>
          <a:p>
            <a:pPr algn="l" indent="0" marL="0">
              <a:buNone/>
            </a:pPr>
            <a:r>
              <a:rPr lang="en-US" sz="950" b="1" dirty="0">
                <a:solidFill>
                  <a:srgbClr val="18221C"/>
                </a:solidFill>
                <a:latin typeface="Aptos" pitchFamily="34" charset="0"/>
                <a:ea typeface="Aptos" pitchFamily="34" charset="-122"/>
                <a:cs typeface="Aptos" pitchFamily="34" charset="-120"/>
              </a:rPr>
              <a:t>LLM uncertainty</a:t>
            </a:r>
            <a:endParaRPr lang="en-US" sz="950" dirty="0"/>
          </a:p>
        </p:txBody>
      </p:sp>
      <p:sp>
        <p:nvSpPr>
          <p:cNvPr id="42" name="Text 40"/>
          <p:cNvSpPr/>
          <p:nvPr/>
        </p:nvSpPr>
        <p:spPr>
          <a:xfrm>
            <a:off x="4242816" y="5020056"/>
            <a:ext cx="6720840" cy="274320"/>
          </a:xfrm>
          <a:prstGeom prst="rect">
            <a:avLst/>
          </a:prstGeom>
          <a:noFill/>
          <a:ln/>
        </p:spPr>
        <p:txBody>
          <a:bodyPr wrap="square" lIns="0" tIns="0" rIns="0" bIns="0" rtlCol="0" anchor="ctr">
            <a:normAutofit/>
          </a:bodyPr>
          <a:lstStyle/>
          <a:p>
            <a:pPr algn="l" indent="0" marL="0">
              <a:buNone/>
            </a:pPr>
            <a:r>
              <a:rPr lang="en-US" sz="950" dirty="0">
                <a:solidFill>
                  <a:srgbClr val="5D6A62"/>
                </a:solidFill>
                <a:latin typeface="Aptos" pitchFamily="34" charset="0"/>
                <a:ea typeface="Aptos" pitchFamily="34" charset="-122"/>
                <a:cs typeface="Aptos" pitchFamily="34" charset="-120"/>
              </a:rPr>
              <a:t>Strict Zod output, policy filtering and recruiter approval</a:t>
            </a:r>
            <a:endParaRPr lang="en-US" sz="950" dirty="0"/>
          </a:p>
        </p:txBody>
      </p:sp>
      <p:sp>
        <p:nvSpPr>
          <p:cNvPr id="43" name="Shape 41"/>
          <p:cNvSpPr/>
          <p:nvPr/>
        </p:nvSpPr>
        <p:spPr>
          <a:xfrm>
            <a:off x="1627632" y="5468112"/>
            <a:ext cx="8933688" cy="301752"/>
          </a:xfrm>
          <a:prstGeom prst="roundRect">
            <a:avLst>
              <a:gd name="adj" fmla="val 36364"/>
            </a:avLst>
          </a:prstGeom>
          <a:solidFill>
            <a:srgbClr val="FBF0D9"/>
          </a:solidFill>
          <a:ln w="12700">
            <a:solidFill>
              <a:srgbClr val="FBF0D9"/>
            </a:solidFill>
            <a:prstDash val="solid"/>
          </a:ln>
        </p:spPr>
      </p:sp>
      <p:sp>
        <p:nvSpPr>
          <p:cNvPr id="44" name="Text 42"/>
          <p:cNvSpPr/>
          <p:nvPr/>
        </p:nvSpPr>
        <p:spPr>
          <a:xfrm>
            <a:off x="1828800" y="5522976"/>
            <a:ext cx="8522208" cy="164592"/>
          </a:xfrm>
          <a:prstGeom prst="rect">
            <a:avLst/>
          </a:prstGeom>
          <a:noFill/>
          <a:ln/>
        </p:spPr>
        <p:txBody>
          <a:bodyPr wrap="square" lIns="0" tIns="0" rIns="0" bIns="0" rtlCol="0" anchor="ctr">
            <a:normAutofit/>
          </a:bodyPr>
          <a:lstStyle/>
          <a:p>
            <a:pPr algn="ctr" indent="0" marL="0">
              <a:buNone/>
            </a:pPr>
            <a:r>
              <a:rPr lang="en-US" sz="920" b="1" dirty="0">
                <a:solidFill>
                  <a:srgbClr val="B07B25"/>
                </a:solidFill>
                <a:latin typeface="Aptos" pitchFamily="34" charset="0"/>
                <a:ea typeface="Aptos" pitchFamily="34" charset="-122"/>
                <a:cs typeface="Aptos" pitchFamily="34" charset="-120"/>
              </a:rPr>
              <a:t>Main lesson: model capability is useful only when its authority and failure modes are visible.</a:t>
            </a:r>
            <a:endParaRPr lang="en-US" sz="920" dirty="0"/>
          </a:p>
        </p:txBody>
      </p:sp>
      <p:sp>
        <p:nvSpPr>
          <p:cNvPr id="45" name="Shape 43"/>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46" name="Shape 44"/>
          <p:cNvSpPr/>
          <p:nvPr/>
        </p:nvSpPr>
        <p:spPr>
          <a:xfrm>
            <a:off x="685800" y="6044184"/>
            <a:ext cx="164592" cy="164592"/>
          </a:xfrm>
          <a:prstGeom prst="ellipse">
            <a:avLst/>
          </a:prstGeom>
          <a:solidFill>
            <a:srgbClr val="CDEB8B"/>
          </a:solidFill>
          <a:ln w="12700">
            <a:solidFill>
              <a:srgbClr val="CDEB8B"/>
            </a:solidFill>
            <a:prstDash val="solid"/>
          </a:ln>
        </p:spPr>
      </p:sp>
      <p:sp>
        <p:nvSpPr>
          <p:cNvPr id="47" name="Text 45"/>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48" name="Text 46"/>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If asked about limitations, answer honestly: hackathon persistence, model key, OAuth approval, OCR and fairness evaluation are production work.</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8F3"/>
        </a:solidFill>
      </p:bgPr>
    </p:bg>
    <p:spTree>
      <p:nvGrpSpPr>
        <p:cNvPr id="1" name=""/>
        <p:cNvGrpSpPr/>
        <p:nvPr/>
      </p:nvGrpSpPr>
      <p:grpSpPr>
        <a:xfrm>
          <a:off x="0" y="0"/>
          <a:ext cx="0" cy="0"/>
          <a:chOff x="0" y="0"/>
          <a:chExt cx="0" cy="0"/>
        </a:xfrm>
      </p:grpSpPr>
      <p:sp>
        <p:nvSpPr>
          <p:cNvPr id="2" name="Shape 0"/>
          <p:cNvSpPr/>
          <p:nvPr/>
        </p:nvSpPr>
        <p:spPr>
          <a:xfrm>
            <a:off x="10808208" y="-658368"/>
            <a:ext cx="2148840" cy="2148840"/>
          </a:xfrm>
          <a:prstGeom prst="ellipse">
            <a:avLst/>
          </a:prstGeom>
          <a:solidFill>
            <a:srgbClr val="EEF6F0"/>
          </a:solidFill>
          <a:ln w="12700">
            <a:solidFill>
              <a:srgbClr val="EEF6F0"/>
            </a:solidFill>
            <a:prstDash val="solid"/>
          </a:ln>
        </p:spPr>
      </p:sp>
      <p:sp>
        <p:nvSpPr>
          <p:cNvPr id="3" name="Shape 1"/>
          <p:cNvSpPr/>
          <p:nvPr/>
        </p:nvSpPr>
        <p:spPr>
          <a:xfrm>
            <a:off x="-658368" y="6126480"/>
            <a:ext cx="1463040" cy="1463040"/>
          </a:xfrm>
          <a:prstGeom prst="ellipse">
            <a:avLst/>
          </a:prstGeom>
          <a:solidFill>
            <a:srgbClr val="F8E7ED"/>
          </a:solidFill>
          <a:ln w="12700">
            <a:solidFill>
              <a:srgbClr val="F8E7ED"/>
            </a:solidFill>
            <a:prstDash val="solid"/>
          </a:ln>
        </p:spPr>
      </p:sp>
      <p:sp>
        <p:nvSpPr>
          <p:cNvPr id="4" name="Text 2"/>
          <p:cNvSpPr/>
          <p:nvPr/>
        </p:nvSpPr>
        <p:spPr>
          <a:xfrm>
            <a:off x="530352" y="256032"/>
            <a:ext cx="4937760" cy="228600"/>
          </a:xfrm>
          <a:prstGeom prst="rect">
            <a:avLst/>
          </a:prstGeom>
          <a:noFill/>
          <a:ln/>
        </p:spPr>
        <p:txBody>
          <a:bodyPr wrap="square" lIns="0" tIns="0" rIns="0" bIns="0" rtlCol="0" anchor="ctr">
            <a:normAutofit/>
          </a:bodyPr>
          <a:lstStyle/>
          <a:p>
            <a:pPr algn="l" indent="0" marL="0">
              <a:buNone/>
            </a:pPr>
            <a:r>
              <a:rPr lang="en-US" sz="900" b="1" spc="150" kern="0" dirty="0">
                <a:solidFill>
                  <a:srgbClr val="2E6B4A"/>
                </a:solidFill>
                <a:latin typeface="Aptos" pitchFamily="34" charset="0"/>
                <a:ea typeface="Aptos" pitchFamily="34" charset="-122"/>
                <a:cs typeface="Aptos" pitchFamily="34" charset="-120"/>
              </a:rPr>
              <a:t>VERITY  /  FUTURE SCOPE</a:t>
            </a:r>
            <a:endParaRPr lang="en-US" sz="900" dirty="0"/>
          </a:p>
        </p:txBody>
      </p:sp>
      <p:sp>
        <p:nvSpPr>
          <p:cNvPr id="5" name="Shape 3"/>
          <p:cNvSpPr/>
          <p:nvPr/>
        </p:nvSpPr>
        <p:spPr>
          <a:xfrm>
            <a:off x="11183112" y="210312"/>
            <a:ext cx="457200" cy="310896"/>
          </a:xfrm>
          <a:prstGeom prst="roundRect">
            <a:avLst>
              <a:gd name="adj" fmla="val 50000"/>
            </a:avLst>
          </a:prstGeom>
          <a:solidFill>
            <a:srgbClr val="FFFFFF"/>
          </a:solidFill>
          <a:ln w="12700">
            <a:solidFill>
              <a:srgbClr val="FFFFFF"/>
            </a:solidFill>
            <a:prstDash val="solid"/>
          </a:ln>
        </p:spPr>
      </p:sp>
      <p:sp>
        <p:nvSpPr>
          <p:cNvPr id="6" name="Text 4"/>
          <p:cNvSpPr/>
          <p:nvPr/>
        </p:nvSpPr>
        <p:spPr>
          <a:xfrm>
            <a:off x="11183112" y="210312"/>
            <a:ext cx="457200" cy="310896"/>
          </a:xfrm>
          <a:prstGeom prst="rect">
            <a:avLst/>
          </a:prstGeom>
          <a:noFill/>
          <a:ln/>
        </p:spPr>
        <p:txBody>
          <a:bodyPr wrap="square" lIns="0" tIns="0" rIns="0" bIns="0" rtlCol="0" anchor="ctr">
            <a:normAutofit/>
          </a:bodyPr>
          <a:lstStyle/>
          <a:p>
            <a:pPr algn="ctr" indent="0" marL="0">
              <a:buNone/>
            </a:pPr>
            <a:r>
              <a:rPr lang="en-US" sz="850" b="1" spc="120" kern="0" dirty="0">
                <a:solidFill>
                  <a:srgbClr val="87928B"/>
                </a:solidFill>
                <a:latin typeface="Aptos" pitchFamily="34" charset="0"/>
                <a:ea typeface="Aptos" pitchFamily="34" charset="-122"/>
                <a:cs typeface="Aptos" pitchFamily="34" charset="-120"/>
              </a:rPr>
              <a:t>19</a:t>
            </a:r>
            <a:endParaRPr lang="en-US" sz="850" dirty="0"/>
          </a:p>
        </p:txBody>
      </p:sp>
      <p:sp>
        <p:nvSpPr>
          <p:cNvPr id="7" name="Text 5"/>
          <p:cNvSpPr/>
          <p:nvPr/>
        </p:nvSpPr>
        <p:spPr>
          <a:xfrm>
            <a:off x="530352" y="621792"/>
            <a:ext cx="10698480" cy="566928"/>
          </a:xfrm>
          <a:prstGeom prst="rect">
            <a:avLst/>
          </a:prstGeom>
          <a:noFill/>
          <a:ln/>
        </p:spPr>
        <p:txBody>
          <a:bodyPr wrap="square" lIns="0" tIns="0" rIns="0" bIns="0" rtlCol="0" anchor="ctr">
            <a:normAutofit/>
          </a:bodyPr>
          <a:lstStyle/>
          <a:p>
            <a:pPr algn="l" indent="0" marL="0">
              <a:buNone/>
            </a:pPr>
            <a:r>
              <a:rPr lang="en-US" sz="2900" b="1" dirty="0">
                <a:solidFill>
                  <a:srgbClr val="18221C"/>
                </a:solidFill>
                <a:latin typeface="Aptos Display" pitchFamily="34" charset="0"/>
                <a:ea typeface="Aptos Display" pitchFamily="34" charset="-122"/>
                <a:cs typeface="Aptos Display" pitchFamily="34" charset="-120"/>
              </a:rPr>
              <a:t>From hackathon prototype to production platform</a:t>
            </a:r>
            <a:endParaRPr lang="en-US" sz="2900" dirty="0"/>
          </a:p>
        </p:txBody>
      </p:sp>
      <p:sp>
        <p:nvSpPr>
          <p:cNvPr id="8" name="Text 6"/>
          <p:cNvSpPr/>
          <p:nvPr/>
        </p:nvSpPr>
        <p:spPr>
          <a:xfrm>
            <a:off x="548640" y="1207008"/>
            <a:ext cx="10241280" cy="384048"/>
          </a:xfrm>
          <a:prstGeom prst="rect">
            <a:avLst/>
          </a:prstGeom>
          <a:noFill/>
          <a:ln/>
        </p:spPr>
        <p:txBody>
          <a:bodyPr wrap="square" lIns="0" tIns="0" rIns="0" bIns="0" rtlCol="0" anchor="ctr">
            <a:normAutofit/>
          </a:bodyPr>
          <a:lstStyle/>
          <a:p>
            <a:pPr algn="l" indent="0" marL="0">
              <a:buNone/>
            </a:pPr>
            <a:r>
              <a:rPr lang="en-US" sz="1200" dirty="0">
                <a:solidFill>
                  <a:srgbClr val="5D6A62"/>
                </a:solidFill>
                <a:latin typeface="Aptos" pitchFamily="34" charset="0"/>
                <a:ea typeface="Aptos" pitchFamily="34" charset="-122"/>
                <a:cs typeface="Aptos" pitchFamily="34" charset="-120"/>
              </a:rPr>
              <a:t>The current architecture leaves clear extension points without changing its evidence-first principle.</a:t>
            </a:r>
            <a:endParaRPr lang="en-US" sz="1200" dirty="0"/>
          </a:p>
        </p:txBody>
      </p:sp>
      <p:sp>
        <p:nvSpPr>
          <p:cNvPr id="9" name="Shape 7"/>
          <p:cNvSpPr/>
          <p:nvPr/>
        </p:nvSpPr>
        <p:spPr>
          <a:xfrm>
            <a:off x="530352" y="6537960"/>
            <a:ext cx="11119104" cy="0"/>
          </a:xfrm>
          <a:prstGeom prst="line">
            <a:avLst/>
          </a:prstGeom>
          <a:noFill/>
          <a:ln w="10160">
            <a:solidFill>
              <a:srgbClr val="DDE3DD"/>
            </a:solidFill>
            <a:prstDash val="solid"/>
          </a:ln>
        </p:spPr>
      </p:sp>
      <p:sp>
        <p:nvSpPr>
          <p:cNvPr id="10" name="Text 8"/>
          <p:cNvSpPr/>
          <p:nvPr/>
        </p:nvSpPr>
        <p:spPr>
          <a:xfrm>
            <a:off x="530352" y="6583680"/>
            <a:ext cx="3474720" cy="164592"/>
          </a:xfrm>
          <a:prstGeom prst="rect">
            <a:avLst/>
          </a:prstGeom>
          <a:noFill/>
          <a:ln/>
        </p:spPr>
        <p:txBody>
          <a:bodyPr wrap="square" lIns="0" tIns="0" rIns="0" bIns="0" rtlCol="0" anchor="ctr">
            <a:normAutofit/>
          </a:bodyPr>
          <a:lstStyle/>
          <a:p>
            <a:pPr algn="l" indent="0" marL="0">
              <a:buNone/>
            </a:pPr>
            <a:r>
              <a:rPr lang="en-US" sz="750" b="1" spc="110" kern="0" dirty="0">
                <a:solidFill>
                  <a:srgbClr val="87928B"/>
                </a:solidFill>
                <a:latin typeface="Aptos" pitchFamily="34" charset="0"/>
                <a:ea typeface="Aptos" pitchFamily="34" charset="-122"/>
                <a:cs typeface="Aptos" pitchFamily="34" charset="-120"/>
              </a:rPr>
              <a:t>TEAM XO09_AG02  •  PS02</a:t>
            </a:r>
            <a:endParaRPr lang="en-US" sz="750" dirty="0"/>
          </a:p>
        </p:txBody>
      </p:sp>
      <p:sp>
        <p:nvSpPr>
          <p:cNvPr id="11" name="Text 9"/>
          <p:cNvSpPr/>
          <p:nvPr/>
        </p:nvSpPr>
        <p:spPr>
          <a:xfrm>
            <a:off x="8412480" y="6583680"/>
            <a:ext cx="3218688" cy="164592"/>
          </a:xfrm>
          <a:prstGeom prst="rect">
            <a:avLst/>
          </a:prstGeom>
          <a:noFill/>
          <a:ln/>
        </p:spPr>
        <p:txBody>
          <a:bodyPr wrap="square" lIns="0" tIns="0" rIns="0" bIns="0" rtlCol="0" anchor="ctr">
            <a:normAutofit/>
          </a:bodyPr>
          <a:lstStyle/>
          <a:p>
            <a:pPr algn="r" indent="0" marL="0">
              <a:buNone/>
            </a:pPr>
            <a:r>
              <a:rPr lang="en-US" sz="750" b="1" spc="110" kern="0" dirty="0">
                <a:solidFill>
                  <a:srgbClr val="87928B"/>
                </a:solidFill>
                <a:latin typeface="Aptos" pitchFamily="34" charset="0"/>
                <a:ea typeface="Aptos" pitchFamily="34" charset="-122"/>
                <a:cs typeface="Aptos" pitchFamily="34" charset="-120"/>
              </a:rPr>
              <a:t>EVIDENCE BEFORE KEYWORDS</a:t>
            </a:r>
            <a:endParaRPr lang="en-US" sz="750" dirty="0"/>
          </a:p>
        </p:txBody>
      </p:sp>
      <p:sp>
        <p:nvSpPr>
          <p:cNvPr id="12" name="Shape 10"/>
          <p:cNvSpPr/>
          <p:nvPr/>
        </p:nvSpPr>
        <p:spPr>
          <a:xfrm>
            <a:off x="566928" y="1682496"/>
            <a:ext cx="3502152" cy="1170432"/>
          </a:xfrm>
          <a:prstGeom prst="roundRect">
            <a:avLst>
              <a:gd name="adj" fmla="val 9375"/>
            </a:avLst>
          </a:prstGeom>
          <a:solidFill>
            <a:srgbClr val="FFFFFF"/>
          </a:solidFill>
          <a:ln w="12700">
            <a:solidFill>
              <a:srgbClr val="DDE3DD"/>
            </a:solidFill>
            <a:prstDash val="solid"/>
          </a:ln>
        </p:spPr>
      </p:sp>
      <p:sp>
        <p:nvSpPr>
          <p:cNvPr id="13" name="Shape 11"/>
          <p:cNvSpPr/>
          <p:nvPr/>
        </p:nvSpPr>
        <p:spPr>
          <a:xfrm>
            <a:off x="566928" y="1682496"/>
            <a:ext cx="64008" cy="1170432"/>
          </a:xfrm>
          <a:prstGeom prst="rect">
            <a:avLst/>
          </a:prstGeom>
          <a:solidFill>
            <a:srgbClr val="2E6B4A"/>
          </a:solidFill>
          <a:ln w="12700">
            <a:solidFill>
              <a:srgbClr val="2E6B4A"/>
            </a:solidFill>
            <a:prstDash val="solid"/>
          </a:ln>
        </p:spPr>
      </p:sp>
      <p:sp>
        <p:nvSpPr>
          <p:cNvPr id="14" name="Shape 12"/>
          <p:cNvSpPr/>
          <p:nvPr/>
        </p:nvSpPr>
        <p:spPr>
          <a:xfrm>
            <a:off x="786384" y="1892808"/>
            <a:ext cx="384048" cy="384048"/>
          </a:xfrm>
          <a:prstGeom prst="ellipse">
            <a:avLst/>
          </a:prstGeom>
          <a:solidFill>
            <a:srgbClr val="2E6B4A"/>
          </a:solidFill>
          <a:ln w="12700">
            <a:solidFill>
              <a:srgbClr val="2E6B4A"/>
            </a:solidFill>
            <a:prstDash val="solid"/>
          </a:ln>
        </p:spPr>
      </p:sp>
      <p:sp>
        <p:nvSpPr>
          <p:cNvPr id="15" name="Text 13"/>
          <p:cNvSpPr/>
          <p:nvPr/>
        </p:nvSpPr>
        <p:spPr>
          <a:xfrm>
            <a:off x="786384" y="189280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6" name="Text 14"/>
          <p:cNvSpPr/>
          <p:nvPr/>
        </p:nvSpPr>
        <p:spPr>
          <a:xfrm>
            <a:off x="1298448" y="1847088"/>
            <a:ext cx="258775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2E6B4A"/>
                </a:solidFill>
                <a:latin typeface="Aptos" pitchFamily="34" charset="0"/>
                <a:ea typeface="Aptos" pitchFamily="34" charset="-122"/>
                <a:cs typeface="Aptos" pitchFamily="34" charset="-120"/>
              </a:rPr>
              <a:t>NEXT 1</a:t>
            </a:r>
            <a:endParaRPr lang="en-US" sz="750" dirty="0"/>
          </a:p>
        </p:txBody>
      </p:sp>
      <p:sp>
        <p:nvSpPr>
          <p:cNvPr id="17" name="Text 15"/>
          <p:cNvSpPr/>
          <p:nvPr/>
        </p:nvSpPr>
        <p:spPr>
          <a:xfrm>
            <a:off x="1298448" y="2075688"/>
            <a:ext cx="256946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Semantic retrieval</a:t>
            </a:r>
            <a:endParaRPr lang="en-US" sz="1500" dirty="0"/>
          </a:p>
        </p:txBody>
      </p:sp>
      <p:sp>
        <p:nvSpPr>
          <p:cNvPr id="18" name="Text 16"/>
          <p:cNvSpPr/>
          <p:nvPr/>
        </p:nvSpPr>
        <p:spPr>
          <a:xfrm>
            <a:off x="1298448" y="2505456"/>
            <a:ext cx="2551176" cy="18288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Embeddings to retrieve related evidence passages beyond exact aliases.</a:t>
            </a:r>
            <a:endParaRPr lang="en-US" sz="1050" dirty="0"/>
          </a:p>
        </p:txBody>
      </p:sp>
      <p:sp>
        <p:nvSpPr>
          <p:cNvPr id="19" name="Shape 17"/>
          <p:cNvSpPr/>
          <p:nvPr/>
        </p:nvSpPr>
        <p:spPr>
          <a:xfrm>
            <a:off x="4315968" y="1682496"/>
            <a:ext cx="3502152" cy="1170432"/>
          </a:xfrm>
          <a:prstGeom prst="roundRect">
            <a:avLst>
              <a:gd name="adj" fmla="val 9375"/>
            </a:avLst>
          </a:prstGeom>
          <a:solidFill>
            <a:srgbClr val="FFFFFF"/>
          </a:solidFill>
          <a:ln w="12700">
            <a:solidFill>
              <a:srgbClr val="DDE3DD"/>
            </a:solidFill>
            <a:prstDash val="solid"/>
          </a:ln>
        </p:spPr>
      </p:sp>
      <p:sp>
        <p:nvSpPr>
          <p:cNvPr id="20" name="Shape 18"/>
          <p:cNvSpPr/>
          <p:nvPr/>
        </p:nvSpPr>
        <p:spPr>
          <a:xfrm>
            <a:off x="4315968" y="1682496"/>
            <a:ext cx="64008" cy="1170432"/>
          </a:xfrm>
          <a:prstGeom prst="rect">
            <a:avLst/>
          </a:prstGeom>
          <a:solidFill>
            <a:srgbClr val="426B87"/>
          </a:solidFill>
          <a:ln w="12700">
            <a:solidFill>
              <a:srgbClr val="426B87"/>
            </a:solidFill>
            <a:prstDash val="solid"/>
          </a:ln>
        </p:spPr>
      </p:sp>
      <p:sp>
        <p:nvSpPr>
          <p:cNvPr id="21" name="Shape 19"/>
          <p:cNvSpPr/>
          <p:nvPr/>
        </p:nvSpPr>
        <p:spPr>
          <a:xfrm>
            <a:off x="4535424" y="1892808"/>
            <a:ext cx="384048" cy="384048"/>
          </a:xfrm>
          <a:prstGeom prst="ellipse">
            <a:avLst/>
          </a:prstGeom>
          <a:solidFill>
            <a:srgbClr val="426B87"/>
          </a:solidFill>
          <a:ln w="12700">
            <a:solidFill>
              <a:srgbClr val="426B87"/>
            </a:solidFill>
            <a:prstDash val="solid"/>
          </a:ln>
        </p:spPr>
      </p:sp>
      <p:sp>
        <p:nvSpPr>
          <p:cNvPr id="22" name="Text 20"/>
          <p:cNvSpPr/>
          <p:nvPr/>
        </p:nvSpPr>
        <p:spPr>
          <a:xfrm>
            <a:off x="4535424" y="189280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23" name="Text 21"/>
          <p:cNvSpPr/>
          <p:nvPr/>
        </p:nvSpPr>
        <p:spPr>
          <a:xfrm>
            <a:off x="5047488" y="1847088"/>
            <a:ext cx="258775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426B87"/>
                </a:solidFill>
                <a:latin typeface="Aptos" pitchFamily="34" charset="0"/>
                <a:ea typeface="Aptos" pitchFamily="34" charset="-122"/>
                <a:cs typeface="Aptos" pitchFamily="34" charset="-120"/>
              </a:rPr>
              <a:t>NEXT 2</a:t>
            </a:r>
            <a:endParaRPr lang="en-US" sz="750" dirty="0"/>
          </a:p>
        </p:txBody>
      </p:sp>
      <p:sp>
        <p:nvSpPr>
          <p:cNvPr id="24" name="Text 22"/>
          <p:cNvSpPr/>
          <p:nvPr/>
        </p:nvSpPr>
        <p:spPr>
          <a:xfrm>
            <a:off x="5047488" y="2075688"/>
            <a:ext cx="256946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Skill taxonomies</a:t>
            </a:r>
            <a:endParaRPr lang="en-US" sz="1500" dirty="0"/>
          </a:p>
        </p:txBody>
      </p:sp>
      <p:sp>
        <p:nvSpPr>
          <p:cNvPr id="25" name="Text 23"/>
          <p:cNvSpPr/>
          <p:nvPr/>
        </p:nvSpPr>
        <p:spPr>
          <a:xfrm>
            <a:off x="5047488" y="2505456"/>
            <a:ext cx="2551176" cy="18288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Approved occupational standards plus recruiter feedback.</a:t>
            </a:r>
            <a:endParaRPr lang="en-US" sz="1050" dirty="0"/>
          </a:p>
        </p:txBody>
      </p:sp>
      <p:sp>
        <p:nvSpPr>
          <p:cNvPr id="26" name="Shape 24"/>
          <p:cNvSpPr/>
          <p:nvPr/>
        </p:nvSpPr>
        <p:spPr>
          <a:xfrm>
            <a:off x="8065008" y="1682496"/>
            <a:ext cx="3502152" cy="1170432"/>
          </a:xfrm>
          <a:prstGeom prst="roundRect">
            <a:avLst>
              <a:gd name="adj" fmla="val 9375"/>
            </a:avLst>
          </a:prstGeom>
          <a:solidFill>
            <a:srgbClr val="FFFFFF"/>
          </a:solidFill>
          <a:ln w="12700">
            <a:solidFill>
              <a:srgbClr val="DDE3DD"/>
            </a:solidFill>
            <a:prstDash val="solid"/>
          </a:ln>
        </p:spPr>
      </p:sp>
      <p:sp>
        <p:nvSpPr>
          <p:cNvPr id="27" name="Shape 25"/>
          <p:cNvSpPr/>
          <p:nvPr/>
        </p:nvSpPr>
        <p:spPr>
          <a:xfrm>
            <a:off x="8065008" y="1682496"/>
            <a:ext cx="64008" cy="1170432"/>
          </a:xfrm>
          <a:prstGeom prst="rect">
            <a:avLst/>
          </a:prstGeom>
          <a:solidFill>
            <a:srgbClr val="C12E60"/>
          </a:solidFill>
          <a:ln w="12700">
            <a:solidFill>
              <a:srgbClr val="C12E60"/>
            </a:solidFill>
            <a:prstDash val="solid"/>
          </a:ln>
        </p:spPr>
      </p:sp>
      <p:sp>
        <p:nvSpPr>
          <p:cNvPr id="28" name="Shape 26"/>
          <p:cNvSpPr/>
          <p:nvPr/>
        </p:nvSpPr>
        <p:spPr>
          <a:xfrm>
            <a:off x="8284464" y="1892808"/>
            <a:ext cx="384048" cy="384048"/>
          </a:xfrm>
          <a:prstGeom prst="ellipse">
            <a:avLst/>
          </a:prstGeom>
          <a:solidFill>
            <a:srgbClr val="C12E60"/>
          </a:solidFill>
          <a:ln w="12700">
            <a:solidFill>
              <a:srgbClr val="C12E60"/>
            </a:solidFill>
            <a:prstDash val="solid"/>
          </a:ln>
        </p:spPr>
      </p:sp>
      <p:sp>
        <p:nvSpPr>
          <p:cNvPr id="29" name="Text 27"/>
          <p:cNvSpPr/>
          <p:nvPr/>
        </p:nvSpPr>
        <p:spPr>
          <a:xfrm>
            <a:off x="8284464" y="189280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30" name="Text 28"/>
          <p:cNvSpPr/>
          <p:nvPr/>
        </p:nvSpPr>
        <p:spPr>
          <a:xfrm>
            <a:off x="8796528" y="1847088"/>
            <a:ext cx="258775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C12E60"/>
                </a:solidFill>
                <a:latin typeface="Aptos" pitchFamily="34" charset="0"/>
                <a:ea typeface="Aptos" pitchFamily="34" charset="-122"/>
                <a:cs typeface="Aptos" pitchFamily="34" charset="-120"/>
              </a:rPr>
              <a:t>NEXT 3</a:t>
            </a:r>
            <a:endParaRPr lang="en-US" sz="750" dirty="0"/>
          </a:p>
        </p:txBody>
      </p:sp>
      <p:sp>
        <p:nvSpPr>
          <p:cNvPr id="31" name="Text 29"/>
          <p:cNvSpPr/>
          <p:nvPr/>
        </p:nvSpPr>
        <p:spPr>
          <a:xfrm>
            <a:off x="8796528" y="2075688"/>
            <a:ext cx="256946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Document intelligence</a:t>
            </a:r>
            <a:endParaRPr lang="en-US" sz="1500" dirty="0"/>
          </a:p>
        </p:txBody>
      </p:sp>
      <p:sp>
        <p:nvSpPr>
          <p:cNvPr id="32" name="Text 30"/>
          <p:cNvSpPr/>
          <p:nvPr/>
        </p:nvSpPr>
        <p:spPr>
          <a:xfrm>
            <a:off x="8796528" y="2505456"/>
            <a:ext cx="2551176" cy="18288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OCR, multilingual resumes and better timeline extraction.</a:t>
            </a:r>
            <a:endParaRPr lang="en-US" sz="1050" dirty="0"/>
          </a:p>
        </p:txBody>
      </p:sp>
      <p:sp>
        <p:nvSpPr>
          <p:cNvPr id="33" name="Shape 31"/>
          <p:cNvSpPr/>
          <p:nvPr/>
        </p:nvSpPr>
        <p:spPr>
          <a:xfrm>
            <a:off x="566928" y="3099816"/>
            <a:ext cx="3502152" cy="1170432"/>
          </a:xfrm>
          <a:prstGeom prst="roundRect">
            <a:avLst>
              <a:gd name="adj" fmla="val 9375"/>
            </a:avLst>
          </a:prstGeom>
          <a:solidFill>
            <a:srgbClr val="EEF6F0"/>
          </a:solidFill>
          <a:ln w="12700">
            <a:solidFill>
              <a:srgbClr val="DDE3DD"/>
            </a:solidFill>
            <a:prstDash val="solid"/>
          </a:ln>
        </p:spPr>
      </p:sp>
      <p:sp>
        <p:nvSpPr>
          <p:cNvPr id="34" name="Shape 32"/>
          <p:cNvSpPr/>
          <p:nvPr/>
        </p:nvSpPr>
        <p:spPr>
          <a:xfrm>
            <a:off x="566928" y="3099816"/>
            <a:ext cx="64008" cy="1170432"/>
          </a:xfrm>
          <a:prstGeom prst="rect">
            <a:avLst/>
          </a:prstGeom>
          <a:solidFill>
            <a:srgbClr val="B07B25"/>
          </a:solidFill>
          <a:ln w="12700">
            <a:solidFill>
              <a:srgbClr val="B07B25"/>
            </a:solidFill>
            <a:prstDash val="solid"/>
          </a:ln>
        </p:spPr>
      </p:sp>
      <p:sp>
        <p:nvSpPr>
          <p:cNvPr id="35" name="Shape 33"/>
          <p:cNvSpPr/>
          <p:nvPr/>
        </p:nvSpPr>
        <p:spPr>
          <a:xfrm>
            <a:off x="786384" y="3310128"/>
            <a:ext cx="384048" cy="384048"/>
          </a:xfrm>
          <a:prstGeom prst="ellipse">
            <a:avLst/>
          </a:prstGeom>
          <a:solidFill>
            <a:srgbClr val="B07B25"/>
          </a:solidFill>
          <a:ln w="12700">
            <a:solidFill>
              <a:srgbClr val="B07B25"/>
            </a:solidFill>
            <a:prstDash val="solid"/>
          </a:ln>
        </p:spPr>
      </p:sp>
      <p:sp>
        <p:nvSpPr>
          <p:cNvPr id="36" name="Text 34"/>
          <p:cNvSpPr/>
          <p:nvPr/>
        </p:nvSpPr>
        <p:spPr>
          <a:xfrm>
            <a:off x="786384" y="331012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37" name="Text 35"/>
          <p:cNvSpPr/>
          <p:nvPr/>
        </p:nvSpPr>
        <p:spPr>
          <a:xfrm>
            <a:off x="1298448" y="3264408"/>
            <a:ext cx="258775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B07B25"/>
                </a:solidFill>
                <a:latin typeface="Aptos" pitchFamily="34" charset="0"/>
                <a:ea typeface="Aptos" pitchFamily="34" charset="-122"/>
                <a:cs typeface="Aptos" pitchFamily="34" charset="-120"/>
              </a:rPr>
              <a:t>NEXT 4</a:t>
            </a:r>
            <a:endParaRPr lang="en-US" sz="750" dirty="0"/>
          </a:p>
        </p:txBody>
      </p:sp>
      <p:sp>
        <p:nvSpPr>
          <p:cNvPr id="38" name="Text 36"/>
          <p:cNvSpPr/>
          <p:nvPr/>
        </p:nvSpPr>
        <p:spPr>
          <a:xfrm>
            <a:off x="1298448" y="3493008"/>
            <a:ext cx="256946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Enterprise controls</a:t>
            </a:r>
            <a:endParaRPr lang="en-US" sz="1500" dirty="0"/>
          </a:p>
        </p:txBody>
      </p:sp>
      <p:sp>
        <p:nvSpPr>
          <p:cNvPr id="39" name="Text 37"/>
          <p:cNvSpPr/>
          <p:nvPr/>
        </p:nvSpPr>
        <p:spPr>
          <a:xfrm>
            <a:off x="1298448" y="3922776"/>
            <a:ext cx="2551176" cy="18288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Authentication, database storage, audit logs and ATS connectors.</a:t>
            </a:r>
            <a:endParaRPr lang="en-US" sz="1050" dirty="0"/>
          </a:p>
        </p:txBody>
      </p:sp>
      <p:sp>
        <p:nvSpPr>
          <p:cNvPr id="40" name="Shape 38"/>
          <p:cNvSpPr/>
          <p:nvPr/>
        </p:nvSpPr>
        <p:spPr>
          <a:xfrm>
            <a:off x="4315968" y="3099816"/>
            <a:ext cx="3502152" cy="1170432"/>
          </a:xfrm>
          <a:prstGeom prst="roundRect">
            <a:avLst>
              <a:gd name="adj" fmla="val 9375"/>
            </a:avLst>
          </a:prstGeom>
          <a:solidFill>
            <a:srgbClr val="EEF6F0"/>
          </a:solidFill>
          <a:ln w="12700">
            <a:solidFill>
              <a:srgbClr val="DDE3DD"/>
            </a:solidFill>
            <a:prstDash val="solid"/>
          </a:ln>
        </p:spPr>
      </p:sp>
      <p:sp>
        <p:nvSpPr>
          <p:cNvPr id="41" name="Shape 39"/>
          <p:cNvSpPr/>
          <p:nvPr/>
        </p:nvSpPr>
        <p:spPr>
          <a:xfrm>
            <a:off x="4315968" y="3099816"/>
            <a:ext cx="64008" cy="1170432"/>
          </a:xfrm>
          <a:prstGeom prst="rect">
            <a:avLst/>
          </a:prstGeom>
          <a:solidFill>
            <a:srgbClr val="2E6B4A"/>
          </a:solidFill>
          <a:ln w="12700">
            <a:solidFill>
              <a:srgbClr val="2E6B4A"/>
            </a:solidFill>
            <a:prstDash val="solid"/>
          </a:ln>
        </p:spPr>
      </p:sp>
      <p:sp>
        <p:nvSpPr>
          <p:cNvPr id="42" name="Shape 40"/>
          <p:cNvSpPr/>
          <p:nvPr/>
        </p:nvSpPr>
        <p:spPr>
          <a:xfrm>
            <a:off x="4535424" y="3310128"/>
            <a:ext cx="384048" cy="384048"/>
          </a:xfrm>
          <a:prstGeom prst="ellipse">
            <a:avLst/>
          </a:prstGeom>
          <a:solidFill>
            <a:srgbClr val="2E6B4A"/>
          </a:solidFill>
          <a:ln w="12700">
            <a:solidFill>
              <a:srgbClr val="2E6B4A"/>
            </a:solidFill>
            <a:prstDash val="solid"/>
          </a:ln>
        </p:spPr>
      </p:sp>
      <p:sp>
        <p:nvSpPr>
          <p:cNvPr id="43" name="Text 41"/>
          <p:cNvSpPr/>
          <p:nvPr/>
        </p:nvSpPr>
        <p:spPr>
          <a:xfrm>
            <a:off x="4535424" y="331012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44" name="Text 42"/>
          <p:cNvSpPr/>
          <p:nvPr/>
        </p:nvSpPr>
        <p:spPr>
          <a:xfrm>
            <a:off x="5047488" y="3264408"/>
            <a:ext cx="258775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2E6B4A"/>
                </a:solidFill>
                <a:latin typeface="Aptos" pitchFamily="34" charset="0"/>
                <a:ea typeface="Aptos" pitchFamily="34" charset="-122"/>
                <a:cs typeface="Aptos" pitchFamily="34" charset="-120"/>
              </a:rPr>
              <a:t>NEXT 5</a:t>
            </a:r>
            <a:endParaRPr lang="en-US" sz="750" dirty="0"/>
          </a:p>
        </p:txBody>
      </p:sp>
      <p:sp>
        <p:nvSpPr>
          <p:cNvPr id="45" name="Text 43"/>
          <p:cNvSpPr/>
          <p:nvPr/>
        </p:nvSpPr>
        <p:spPr>
          <a:xfrm>
            <a:off x="5047488" y="3493008"/>
            <a:ext cx="256946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Responsible evaluation</a:t>
            </a:r>
            <a:endParaRPr lang="en-US" sz="1500" dirty="0"/>
          </a:p>
        </p:txBody>
      </p:sp>
      <p:sp>
        <p:nvSpPr>
          <p:cNvPr id="46" name="Text 44"/>
          <p:cNvSpPr/>
          <p:nvPr/>
        </p:nvSpPr>
        <p:spPr>
          <a:xfrm>
            <a:off x="5047488" y="3922776"/>
            <a:ext cx="2551176" cy="18288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Fairness tests, calibration studies and bias monitoring.</a:t>
            </a:r>
            <a:endParaRPr lang="en-US" sz="1050" dirty="0"/>
          </a:p>
        </p:txBody>
      </p:sp>
      <p:sp>
        <p:nvSpPr>
          <p:cNvPr id="47" name="Shape 45"/>
          <p:cNvSpPr/>
          <p:nvPr/>
        </p:nvSpPr>
        <p:spPr>
          <a:xfrm>
            <a:off x="8065008" y="3099816"/>
            <a:ext cx="3502152" cy="1170432"/>
          </a:xfrm>
          <a:prstGeom prst="roundRect">
            <a:avLst>
              <a:gd name="adj" fmla="val 9375"/>
            </a:avLst>
          </a:prstGeom>
          <a:solidFill>
            <a:srgbClr val="EEF6F0"/>
          </a:solidFill>
          <a:ln w="12700">
            <a:solidFill>
              <a:srgbClr val="DDE3DD"/>
            </a:solidFill>
            <a:prstDash val="solid"/>
          </a:ln>
        </p:spPr>
      </p:sp>
      <p:sp>
        <p:nvSpPr>
          <p:cNvPr id="48" name="Shape 46"/>
          <p:cNvSpPr/>
          <p:nvPr/>
        </p:nvSpPr>
        <p:spPr>
          <a:xfrm>
            <a:off x="8065008" y="3099816"/>
            <a:ext cx="64008" cy="1170432"/>
          </a:xfrm>
          <a:prstGeom prst="rect">
            <a:avLst/>
          </a:prstGeom>
          <a:solidFill>
            <a:srgbClr val="426B87"/>
          </a:solidFill>
          <a:ln w="12700">
            <a:solidFill>
              <a:srgbClr val="426B87"/>
            </a:solidFill>
            <a:prstDash val="solid"/>
          </a:ln>
        </p:spPr>
      </p:sp>
      <p:sp>
        <p:nvSpPr>
          <p:cNvPr id="49" name="Shape 47"/>
          <p:cNvSpPr/>
          <p:nvPr/>
        </p:nvSpPr>
        <p:spPr>
          <a:xfrm>
            <a:off x="8284464" y="3310128"/>
            <a:ext cx="384048" cy="384048"/>
          </a:xfrm>
          <a:prstGeom prst="ellipse">
            <a:avLst/>
          </a:prstGeom>
          <a:solidFill>
            <a:srgbClr val="426B87"/>
          </a:solidFill>
          <a:ln w="12700">
            <a:solidFill>
              <a:srgbClr val="426B87"/>
            </a:solidFill>
            <a:prstDash val="solid"/>
          </a:ln>
        </p:spPr>
      </p:sp>
      <p:sp>
        <p:nvSpPr>
          <p:cNvPr id="50" name="Text 48"/>
          <p:cNvSpPr/>
          <p:nvPr/>
        </p:nvSpPr>
        <p:spPr>
          <a:xfrm>
            <a:off x="8284464" y="3310128"/>
            <a:ext cx="384048" cy="384048"/>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51" name="Text 49"/>
          <p:cNvSpPr/>
          <p:nvPr/>
        </p:nvSpPr>
        <p:spPr>
          <a:xfrm>
            <a:off x="8796528" y="3264408"/>
            <a:ext cx="2587752" cy="201168"/>
          </a:xfrm>
          <a:prstGeom prst="rect">
            <a:avLst/>
          </a:prstGeom>
          <a:noFill/>
          <a:ln/>
        </p:spPr>
        <p:txBody>
          <a:bodyPr wrap="square" lIns="0" tIns="0" rIns="0" bIns="0" rtlCol="0" anchor="ctr">
            <a:normAutofit/>
          </a:bodyPr>
          <a:lstStyle/>
          <a:p>
            <a:pPr algn="l" indent="0" marL="0">
              <a:buNone/>
            </a:pPr>
            <a:r>
              <a:rPr lang="en-US" sz="750" b="1" spc="90" kern="0" dirty="0">
                <a:solidFill>
                  <a:srgbClr val="426B87"/>
                </a:solidFill>
                <a:latin typeface="Aptos" pitchFamily="34" charset="0"/>
                <a:ea typeface="Aptos" pitchFamily="34" charset="-122"/>
                <a:cs typeface="Aptos" pitchFamily="34" charset="-120"/>
              </a:rPr>
              <a:t>NEXT 6</a:t>
            </a:r>
            <a:endParaRPr lang="en-US" sz="750" dirty="0"/>
          </a:p>
        </p:txBody>
      </p:sp>
      <p:sp>
        <p:nvSpPr>
          <p:cNvPr id="52" name="Text 50"/>
          <p:cNvSpPr/>
          <p:nvPr/>
        </p:nvSpPr>
        <p:spPr>
          <a:xfrm>
            <a:off x="8796528" y="3493008"/>
            <a:ext cx="2569464" cy="384048"/>
          </a:xfrm>
          <a:prstGeom prst="rect">
            <a:avLst/>
          </a:prstGeom>
          <a:noFill/>
          <a:ln/>
        </p:spPr>
        <p:txBody>
          <a:bodyPr wrap="square" lIns="0" tIns="0" rIns="0" bIns="0" rtlCol="0" anchor="t">
            <a:normAutofit/>
          </a:bodyPr>
          <a:lstStyle/>
          <a:p>
            <a:pPr algn="l" indent="0" marL="0">
              <a:buNone/>
            </a:pPr>
            <a:r>
              <a:rPr lang="en-US" sz="1500" b="1" dirty="0">
                <a:solidFill>
                  <a:srgbClr val="18221C"/>
                </a:solidFill>
                <a:latin typeface="Aptos" pitchFamily="34" charset="0"/>
                <a:ea typeface="Aptos" pitchFamily="34" charset="-122"/>
                <a:cs typeface="Aptos" pitchFamily="34" charset="-120"/>
              </a:rPr>
              <a:t>Approved integrations</a:t>
            </a:r>
            <a:endParaRPr lang="en-US" sz="1500" dirty="0"/>
          </a:p>
        </p:txBody>
      </p:sp>
      <p:sp>
        <p:nvSpPr>
          <p:cNvPr id="53" name="Text 51"/>
          <p:cNvSpPr/>
          <p:nvPr/>
        </p:nvSpPr>
        <p:spPr>
          <a:xfrm>
            <a:off x="8796528" y="3922776"/>
            <a:ext cx="2551176" cy="182880"/>
          </a:xfrm>
          <a:prstGeom prst="rect">
            <a:avLst/>
          </a:prstGeom>
          <a:noFill/>
          <a:ln/>
        </p:spPr>
        <p:txBody>
          <a:bodyPr wrap="square" lIns="0" tIns="0" rIns="0" bIns="0" rtlCol="0" anchor="t">
            <a:normAutofit/>
          </a:bodyPr>
          <a:lstStyle/>
          <a:p>
            <a:pPr algn="l" indent="0" marL="0">
              <a:buNone/>
            </a:pPr>
            <a:r>
              <a:rPr lang="en-US" sz="1050" dirty="0">
                <a:solidFill>
                  <a:srgbClr val="5D6A62"/>
                </a:solidFill>
                <a:latin typeface="Aptos" pitchFamily="34" charset="0"/>
                <a:ea typeface="Aptos" pitchFamily="34" charset="-122"/>
                <a:cs typeface="Aptos" pitchFamily="34" charset="-120"/>
              </a:rPr>
              <a:t>LinkedIn Talent Solutions and organization-authorized tools.</a:t>
            </a:r>
            <a:endParaRPr lang="en-US" sz="1050" dirty="0"/>
          </a:p>
        </p:txBody>
      </p:sp>
      <p:sp>
        <p:nvSpPr>
          <p:cNvPr id="54" name="Shape 52"/>
          <p:cNvSpPr/>
          <p:nvPr/>
        </p:nvSpPr>
        <p:spPr>
          <a:xfrm>
            <a:off x="1060704" y="4736592"/>
            <a:ext cx="10058400" cy="777240"/>
          </a:xfrm>
          <a:prstGeom prst="roundRect">
            <a:avLst>
              <a:gd name="adj" fmla="val 14118"/>
            </a:avLst>
          </a:prstGeom>
          <a:solidFill>
            <a:srgbClr val="18221C"/>
          </a:solidFill>
          <a:ln w="12700">
            <a:solidFill>
              <a:srgbClr val="18221C"/>
            </a:solidFill>
            <a:prstDash val="solid"/>
          </a:ln>
        </p:spPr>
      </p:sp>
      <p:sp>
        <p:nvSpPr>
          <p:cNvPr id="55" name="Text 53"/>
          <p:cNvSpPr/>
          <p:nvPr/>
        </p:nvSpPr>
        <p:spPr>
          <a:xfrm>
            <a:off x="1417320" y="4892040"/>
            <a:ext cx="9345168" cy="402336"/>
          </a:xfrm>
          <a:prstGeom prst="rect">
            <a:avLst/>
          </a:prstGeom>
          <a:noFill/>
          <a:ln/>
        </p:spPr>
        <p:txBody>
          <a:bodyPr wrap="square" lIns="0" tIns="0" rIns="0" bIns="0" rtlCol="0" anchor="ctr">
            <a:normAutofit/>
          </a:bodyPr>
          <a:lstStyle/>
          <a:p>
            <a:pPr algn="ctr" indent="0" marL="0">
              <a:buNone/>
            </a:pPr>
            <a:r>
              <a:rPr lang="en-US" sz="1500" b="1" i="1" dirty="0">
                <a:solidFill>
                  <a:srgbClr val="FFFFFF"/>
                </a:solidFill>
                <a:latin typeface="Aptos Display" pitchFamily="34" charset="0"/>
                <a:ea typeface="Aptos Display" pitchFamily="34" charset="-122"/>
                <a:cs typeface="Aptos Display" pitchFamily="34" charset="-120"/>
              </a:rPr>
              <a:t>“Verity does not ask whether a keyword exists. It asks whether the candidate provided evidence strong enough for a recruiter to trust the claim.”</a:t>
            </a:r>
            <a:endParaRPr lang="en-US" sz="1500" dirty="0"/>
          </a:p>
        </p:txBody>
      </p:sp>
      <p:sp>
        <p:nvSpPr>
          <p:cNvPr id="56" name="Shape 54"/>
          <p:cNvSpPr/>
          <p:nvPr/>
        </p:nvSpPr>
        <p:spPr>
          <a:xfrm>
            <a:off x="530352" y="5925312"/>
            <a:ext cx="11119104" cy="420624"/>
          </a:xfrm>
          <a:prstGeom prst="roundRect">
            <a:avLst>
              <a:gd name="adj" fmla="val 30435"/>
            </a:avLst>
          </a:prstGeom>
          <a:solidFill>
            <a:srgbClr val="FFFFFF"/>
          </a:solidFill>
          <a:ln w="12700">
            <a:solidFill>
              <a:srgbClr val="DDE3DD"/>
            </a:solidFill>
            <a:prstDash val="solid"/>
          </a:ln>
        </p:spPr>
      </p:sp>
      <p:sp>
        <p:nvSpPr>
          <p:cNvPr id="57" name="Shape 55"/>
          <p:cNvSpPr/>
          <p:nvPr/>
        </p:nvSpPr>
        <p:spPr>
          <a:xfrm>
            <a:off x="685800" y="6044184"/>
            <a:ext cx="164592" cy="164592"/>
          </a:xfrm>
          <a:prstGeom prst="ellipse">
            <a:avLst/>
          </a:prstGeom>
          <a:solidFill>
            <a:srgbClr val="CDEB8B"/>
          </a:solidFill>
          <a:ln w="12700">
            <a:solidFill>
              <a:srgbClr val="CDEB8B"/>
            </a:solidFill>
            <a:prstDash val="solid"/>
          </a:ln>
        </p:spPr>
      </p:sp>
      <p:sp>
        <p:nvSpPr>
          <p:cNvPr id="58" name="Text 56"/>
          <p:cNvSpPr/>
          <p:nvPr/>
        </p:nvSpPr>
        <p:spPr>
          <a:xfrm>
            <a:off x="923544" y="5989320"/>
            <a:ext cx="1051560" cy="228600"/>
          </a:xfrm>
          <a:prstGeom prst="rect">
            <a:avLst/>
          </a:prstGeom>
          <a:noFill/>
          <a:ln/>
        </p:spPr>
        <p:txBody>
          <a:bodyPr wrap="square" lIns="0" tIns="0" rIns="0" bIns="0" rtlCol="0" anchor="ctr">
            <a:normAutofit/>
          </a:bodyPr>
          <a:lstStyle/>
          <a:p>
            <a:pPr algn="l" indent="0" marL="0">
              <a:buNone/>
            </a:pPr>
            <a:r>
              <a:rPr lang="en-US" sz="820" b="1" spc="100" kern="0" dirty="0">
                <a:solidFill>
                  <a:srgbClr val="1D5036"/>
                </a:solidFill>
                <a:latin typeface="Aptos" pitchFamily="34" charset="0"/>
                <a:ea typeface="Aptos" pitchFamily="34" charset="-122"/>
                <a:cs typeface="Aptos" pitchFamily="34" charset="-120"/>
              </a:rPr>
              <a:t>SPEAKER CUE</a:t>
            </a:r>
            <a:endParaRPr lang="en-US" sz="820" dirty="0"/>
          </a:p>
        </p:txBody>
      </p:sp>
      <p:sp>
        <p:nvSpPr>
          <p:cNvPr id="59" name="Text 57"/>
          <p:cNvSpPr/>
          <p:nvPr/>
        </p:nvSpPr>
        <p:spPr>
          <a:xfrm>
            <a:off x="1865376" y="5961888"/>
            <a:ext cx="9528048" cy="283464"/>
          </a:xfrm>
          <a:prstGeom prst="rect">
            <a:avLst/>
          </a:prstGeom>
          <a:noFill/>
          <a:ln/>
        </p:spPr>
        <p:txBody>
          <a:bodyPr wrap="square" lIns="0" tIns="0" rIns="0" bIns="0" rtlCol="0" anchor="ctr">
            <a:normAutofit/>
          </a:bodyPr>
          <a:lstStyle/>
          <a:p>
            <a:pPr algn="l" indent="0" marL="0">
              <a:buNone/>
            </a:pPr>
            <a:r>
              <a:rPr lang="en-US" sz="950" i="1" dirty="0">
                <a:solidFill>
                  <a:srgbClr val="5D6A62"/>
                </a:solidFill>
                <a:latin typeface="Aptos" pitchFamily="34" charset="0"/>
                <a:ea typeface="Aptos" pitchFamily="34" charset="-122"/>
                <a:cs typeface="Aptos" pitchFamily="34" charset="-120"/>
              </a:rPr>
              <a:t>Close: “We built a reviewer that can explain itself, admit uncertainty, and say when the job itself is the problem.”</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Team XO09_AG02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Verity — Evidence Before Keywords</dc:title>
  <dc:subject>PS02 Autonomous Talent-Acquisition Screening Agent</dc:subject>
  <dc:creator>Team XO09_AG02</dc:creator>
  <cp:lastModifiedBy>Team XO09_AG02</cp:lastModifiedBy>
  <cp:revision>1</cp:revision>
  <dcterms:created xsi:type="dcterms:W3CDTF">2026-09-10T03:16:57Z</dcterms:created>
  <dcterms:modified xsi:type="dcterms:W3CDTF">2026-09-10T03:16:57Z</dcterms:modified>
</cp:coreProperties>
</file>